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70" r:id="rId21"/>
    <p:sldId id="261" r:id="rId7"/>
    <p:sldId id="262" r:id="rId8"/>
    <p:sldId id="263" r:id="rId9"/>
    <p:sldId id="264" r:id="rId10"/>
    <p:sldId id="265" r:id="rId11"/>
    <p:sldId id="271" r:id="rId22"/>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279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F1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39800" y="1905000"/>
            <a:ext cx="3048000" cy="3048000"/>
          </a:xfrm>
          <a:prstGeom prst="rect">
            <a:avLst/>
          </a:prstGeom>
        </p:spPr>
      </p:pic>
      <p:sp>
        <p:nvSpPr>
          <p:cNvPr id="3" name="Text 0"/>
          <p:cNvSpPr txBox="1"/>
          <p:nvPr/>
        </p:nvSpPr>
        <p:spPr>
          <a:xfrm>
            <a:off x="4699000" y="1905000"/>
            <a:ext cx="6604000" cy="228600"/>
          </a:xfrm>
          <a:prstGeom prst="rect">
            <a:avLst/>
          </a:prstGeom>
          <a:noFill/>
          <a:ln/>
        </p:spPr>
        <p:txBody>
          <a:bodyPr wrap="square" lIns="0" tIns="0" rIns="0" bIns="0" rtlCol="0" anchor="ctr"/>
          <a:lstStyle/>
          <a:p>
            <a:pPr marL="0" indent="0">
              <a:buNone/>
            </a:pPr>
            <a:r>
              <a:rPr lang="en-US" sz="1600" b="1" kern="0" spc="200" dirty="0">
                <a:solidFill>
                  <a:srgbClr val="A9C88C"/>
                </a:solidFill>
                <a:latin typeface="Calibri" pitchFamily="34" charset="0"/>
                <a:ea typeface="Calibri" pitchFamily="34" charset="-122"/>
                <a:cs typeface="Calibri" pitchFamily="34" charset="-120"/>
              </a:rPr>
              <a:t>ADMINISTRACIÓN DE PARQUES NACIONALES</a:t>
            </a:r>
            <a:endParaRPr lang="en-US" sz="1600" dirty="0"/>
          </a:p>
        </p:txBody>
      </p:sp>
      <p:sp>
        <p:nvSpPr>
          <p:cNvPr id="4" name="Text 1"/>
          <p:cNvSpPr txBox="1"/>
          <p:nvPr/>
        </p:nvSpPr>
        <p:spPr>
          <a:xfrm>
            <a:off x="4699000" y="2235200"/>
            <a:ext cx="6604000" cy="508000"/>
          </a:xfrm>
          <a:prstGeom prst="rect">
            <a:avLst/>
          </a:prstGeom>
          <a:noFill/>
          <a:ln/>
        </p:spPr>
        <p:txBody>
          <a:bodyPr wrap="square" lIns="0" tIns="0" rIns="0" bIns="0" rtlCol="0" anchor="ctr"/>
          <a:lstStyle/>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Nacional de Uso Público</a:t>
            </a:r>
            <a:endParaRPr lang="en-US" sz="1400" b="1" dirty="0"/>
          </a:p>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de Concesiones</a:t>
            </a:r>
            <a:endParaRPr lang="en-US" sz="1400" b="1" dirty="0"/>
          </a:p>
        </p:txBody>
      </p:sp>
      <p:sp>
        <p:nvSpPr>
          <p:cNvPr id="5" name="Text 2"/>
          <p:cNvSpPr txBox="1"/>
          <p:nvPr/>
        </p:nvSpPr>
        <p:spPr>
          <a:xfrm>
            <a:off x="4699000" y="2895600"/>
            <a:ext cx="6959600" cy="1600200"/>
          </a:xfrm>
          <a:prstGeom prst="rect">
            <a:avLst/>
          </a:prstGeom>
          <a:noFill/>
          <a:ln/>
        </p:spPr>
        <p:txBody>
          <a:bodyPr wrap="square" lIns="0" tIns="0" rIns="0" bIns="0" rtlCol="0" anchor="ctr"/>
          <a:lstStyle/>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INFORME DE COBRANZAS</a:t>
            </a:r>
            <a:endParaRPr lang="en-US" sz="3400" dirty="0"/>
          </a:p>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EVOLUCIÓN POR PERÍODO OPERATIVO</a:t>
            </a:r>
            <a:endParaRPr lang="en-US" sz="3400" dirty="0"/>
          </a:p>
        </p:txBody>
      </p:sp>
      <p:sp>
        <p:nvSpPr>
          <p:cNvPr id="6" name="Text 3"/>
          <p:cNvSpPr txBox="1"/>
          <p:nvPr/>
        </p:nvSpPr>
        <p:spPr>
          <a:xfrm>
            <a:off x="4699000" y="4648200"/>
            <a:ext cx="6604000" cy="254000"/>
          </a:xfrm>
          <a:prstGeom prst="rect">
            <a:avLst/>
          </a:prstGeom>
          <a:noFill/>
          <a:ln/>
        </p:spPr>
        <p:txBody>
          <a:bodyPr wrap="square" lIns="0" tIns="0" rIns="0" bIns="0" rtlCol="0" anchor="ctr"/>
          <a:lstStyle/>
          <a:p>
            <a:pPr marL="0" indent="0">
              <a:buNone/>
            </a:pPr>
            <a:r>
              <a:rPr lang="en-US" sz="1400" i="1" dirty="0">
                <a:solidFill>
                  <a:srgbClr val="A9C88C"/>
                </a:solidFill>
                <a:latin typeface="Calibri" pitchFamily="34" charset="0"/>
                <a:ea typeface="Calibri" pitchFamily="34" charset="-122"/>
                <a:cs typeface="Calibri" pitchFamily="34" charset="-120"/>
              </a:rPr>
              <a:t>Agosto 2023 – Septiembre 2026</a:t>
            </a:r>
            <a:endParaRPr lang="en-US" sz="1400" dirty="0"/>
          </a:p>
        </p:txBody>
      </p:sp>
      <p:sp>
        <p:nvSpPr>
          <p:cNvPr id="7" name="Text 4"/>
          <p:cNvSpPr txBox="1"/>
          <p:nvPr/>
        </p:nvSpPr>
        <p:spPr>
          <a:xfrm>
            <a:off x="4699000" y="4978400"/>
            <a:ext cx="6604000" cy="228600"/>
          </a:xfrm>
          <a:prstGeom prst="rect">
            <a:avLst/>
          </a:prstGeom>
          <a:noFill/>
          <a:ln/>
        </p:spPr>
        <p:txBody>
          <a:bodyPr wrap="square" lIns="0" tIns="0" rIns="0" bIns="0" rtlCol="0" anchor="ctr"/>
          <a:lstStyle/>
          <a:p>
            <a:pPr marL="0" indent="0">
              <a:buNone/>
            </a:pPr>
            <a:r>
              <a:rPr lang="en-US" sz="1100" dirty="0">
                <a:solidFill>
                  <a:srgbClr val="C6D8B4"/>
                </a:solidFill>
                <a:latin typeface="Calibri" pitchFamily="34" charset="0"/>
                <a:ea typeface="Calibri" pitchFamily="34" charset="-122"/>
                <a:cs typeface="Calibri" pitchFamily="34" charset="-120"/>
              </a:rPr>
              <a:t>Generado por: Fernando Fascie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ALCANCE DEL INFORME</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Universo relevado y criterio de corte</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10223"/>
            <a:ext cx="5969000" cy="3175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Este informe analiza en forma consolidada los datos de cobranzas disponibles en ReNaRI, para todos los pagos registrados por el sistema —excluidos los imputados a medios de pago electrónico— para el universo depurado de prestadores turísticos y para el subconjunto de concesionarios y permisionarios alcanzados por declaración jurada.</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información se organiza en </a:t>
            </a:r>
            <a:r>
              <a:rPr lang="en-US" sz="1400" b="1" dirty="0">
                <a:solidFill>
                  <a:srgbClr val="2B2B24"/>
                </a:solidFill>
                <a:latin typeface="Calibri" pitchFamily="34" charset="0"/>
                <a:ea typeface="Calibri" pitchFamily="34" charset="-122"/>
                <a:cs typeface="Calibri" pitchFamily="34" charset="-120"/>
              </a:rPr>
              <a:t>tres ciclos anuales operativos de octubre a septiembre, contados hacia atrás desde el 30 de septiembre de 2026. Agosto y septiembre de 2023 quedan fuera de los tres ciclos y sólo se computan en las series mensuales.</a:t>
            </a:r>
            <a:r>
              <a:rPr lang="en-US" sz="1400" dirty="0">
                <a:solidFill>
                  <a:srgbClr val="2B2B24"/>
                </a:solidFill>
                <a:latin typeface="Calibri" pitchFamily="34" charset="0"/>
                <a:ea typeface="Calibri" pitchFamily="34" charset="-122"/>
                <a:cs typeface="Calibri" pitchFamily="34" charset="-120"/>
              </a:rPr>
              <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montos se expresan en </a:t>
            </a:r>
            <a:r>
              <a:rPr lang="en-US" sz="1400" b="1" dirty="0">
                <a:solidFill>
                  <a:srgbClr val="2B2B24"/>
                </a:solidFill>
                <a:latin typeface="Calibri" pitchFamily="34" charset="0"/>
                <a:ea typeface="Calibri" pitchFamily="34" charset="-122"/>
                <a:cs typeface="Calibri" pitchFamily="34" charset="-120"/>
              </a:rPr>
              <a:t>pesos constantes ajustados por CER</a:t>
            </a:r>
            <a:r>
              <a:rPr lang="en-US" sz="1400" dirty="0">
                <a:solidFill>
                  <a:srgbClr val="2B2B24"/>
                </a:solidFill>
                <a:latin typeface="Calibri" pitchFamily="34" charset="0"/>
                <a:ea typeface="Calibri" pitchFamily="34" charset="-122"/>
                <a:cs typeface="Calibri" pitchFamily="34" charset="-120"/>
              </a:rPr>
              <a:t>, para reflejar el valor real de los ingresos; en </a:t>
            </a:r>
            <a:r>
              <a:rPr lang="en-US" sz="1400" b="1" dirty="0">
                <a:solidFill>
                  <a:srgbClr val="2B2B24"/>
                </a:solidFill>
                <a:latin typeface="Calibri" pitchFamily="34" charset="0"/>
                <a:ea typeface="Calibri" pitchFamily="34" charset="-122"/>
                <a:cs typeface="Calibri" pitchFamily="34" charset="-120"/>
              </a:rPr>
              <a:t>dólares al tipo de cambio oficial</a:t>
            </a:r>
            <a:r>
              <a:rPr lang="en-US" sz="1400" dirty="0">
                <a:solidFill>
                  <a:srgbClr val="2B2B24"/>
                </a:solidFill>
                <a:latin typeface="Calibri" pitchFamily="34" charset="0"/>
                <a:ea typeface="Calibri" pitchFamily="34" charset="-122"/>
                <a:cs typeface="Calibri" pitchFamily="34" charset="-120"/>
              </a:rPr>
              <a:t>; y en </a:t>
            </a:r>
            <a:r>
              <a:rPr lang="en-US" sz="1400" b="1" dirty="0">
                <a:solidFill>
                  <a:srgbClr val="2B2B24"/>
                </a:solidFill>
                <a:latin typeface="Calibri" pitchFamily="34" charset="0"/>
                <a:ea typeface="Calibri" pitchFamily="34" charset="-122"/>
                <a:cs typeface="Calibri" pitchFamily="34" charset="-120"/>
              </a:rPr>
              <a:t>pesos corrientes</a:t>
            </a:r>
            <a:r>
              <a:rPr lang="en-US" sz="1400" dirty="0">
                <a:solidFill>
                  <a:srgbClr val="2B2B24"/>
                </a:solidFill>
                <a:latin typeface="Calibri" pitchFamily="34" charset="0"/>
                <a:ea typeface="Calibri" pitchFamily="34" charset="-122"/>
                <a:cs typeface="Calibri" pitchFamily="34" charset="-120"/>
              </a:rPr>
              <a:t>, que indica el valor nominal registrado en el insumo estadístico utilizado.</a:t>
            </a:r>
            <a:endParaRPr lang="en-US" sz="1400" dirty="0"/>
          </a:p>
        </p:txBody>
      </p:sp>
      <p:sp>
        <p:nvSpPr>
          <p:cNvPr id="6" name="Text 4"/>
          <p:cNvSpPr txBox="1"/>
          <p:nvPr/>
        </p:nvSpPr>
        <p:spPr>
          <a:xfrm>
            <a:off x="711200" y="5511800"/>
            <a:ext cx="5969000" cy="7620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Desde el 13 de diciembre de 2023 los valores en dólares se computan al tipo de cambio minorista vendedor del BCRA; el período precedente se calculó a la paridad del “dólar blue” vendedor, lo que puede sobreponderar los flujos dolarizados del primer ciclo.</a:t>
            </a:r>
            <a:endParaRPr lang="en-US" sz="900" dirty="0"/>
          </a:p>
        </p:txBody>
      </p:sp>
      <p:sp>
        <p:nvSpPr>
          <p:cNvPr id="7" name="Shape 5"/>
          <p:cNvSpPr/>
          <p:nvPr/>
        </p:nvSpPr>
        <p:spPr>
          <a:xfrm>
            <a:off x="7112000" y="1346200"/>
            <a:ext cx="4470400" cy="1363133"/>
          </a:xfrm>
          <a:prstGeom prst="roundRect">
            <a:avLst>
              <a:gd name="adj" fmla="val 4025"/>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63133"/>
          </a:xfrm>
          <a:prstGeom prst="rect">
            <a:avLst/>
          </a:prstGeom>
          <a:noFill/>
          <a:ln/>
        </p:spPr>
        <p:txBody>
          <a:bodyPr wrap="square" lIns="0" tIns="0" rIns="0" bIns="0" rtlCol="0" anchor="ctr"/>
          <a:lstStyle/>
          <a:p>
            <a:pPr marL="0" indent="0" algn="ctr">
              <a:lnSpc>
                <a:spcPct val="105000"/>
              </a:lnSpc>
              <a:buNone/>
            </a:pPr>
            <a:r>
              <a:rPr lang="en-US" sz="3600" b="1" dirty="0">
                <a:solidFill>
                  <a:srgbClr val="FFFFFF"/>
                </a:solidFill>
                <a:latin typeface="Calibri" pitchFamily="34" charset="0"/>
                <a:ea typeface="Calibri" pitchFamily="34" charset="-122"/>
                <a:cs typeface="Calibri" pitchFamily="34" charset="-120"/>
              </a:rPr>
              <a:t>38</a:t>
            </a:r>
            <a:endParaRPr lang="en-US" sz="3600" dirty="0"/>
          </a:p>
          <a:p>
            <a:pPr marL="0" indent="0" algn="ctr">
              <a:lnSpc>
                <a:spcPct val="105000"/>
              </a:lnSpc>
              <a:buNone/>
            </a:pPr>
            <a:r>
              <a:rPr lang="en-US" sz="1200" dirty="0">
                <a:solidFill>
                  <a:srgbClr val="D8E5CB"/>
                </a:solidFill>
                <a:latin typeface="Calibri" pitchFamily="34" charset="0"/>
                <a:ea typeface="Calibri" pitchFamily="34" charset="-122"/>
                <a:cs typeface="Calibri" pitchFamily="34" charset="-120"/>
              </a:rPr>
              <a:t>meses relevados, de agosto 2023 a septiembre 2026</a:t>
            </a:r>
            <a:endParaRPr lang="en-US" sz="1200" dirty="0"/>
          </a:p>
        </p:txBody>
      </p:sp>
      <p:sp>
        <p:nvSpPr>
          <p:cNvPr id="9" name="Shape 7"/>
          <p:cNvSpPr/>
          <p:nvPr/>
        </p:nvSpPr>
        <p:spPr>
          <a:xfrm>
            <a:off x="7112000" y="2861733"/>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61733"/>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3</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ciclos anuales de octubre a septiembre</a:t>
            </a:r>
            <a:endParaRPr lang="en-US" sz="1200" dirty="0"/>
          </a:p>
        </p:txBody>
      </p:sp>
      <p:sp>
        <p:nvSpPr>
          <p:cNvPr id="11" name="Shape 9"/>
          <p:cNvSpPr/>
          <p:nvPr/>
        </p:nvSpPr>
        <p:spPr>
          <a:xfrm>
            <a:off x="7112000" y="4377267"/>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77267"/>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3</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universos anidados, del más amplio al más acotado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RESUMEN EJECUTIVO</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Contracción real sostenida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por período anual a pesos constantes</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Shape 4"/>
          <p:cNvSpPr/>
          <p:nvPr/>
        </p:nvSpPr>
        <p:spPr>
          <a:xfrm>
            <a:off x="609600" y="1422400"/>
            <a:ext cx="2628900" cy="1168400"/>
          </a:xfrm>
          <a:prstGeom prst="roundRect">
            <a:avLst>
              <a:gd name="adj" fmla="val 4696"/>
            </a:avLst>
          </a:prstGeom>
          <a:solidFill>
            <a:srgbClr val="2C5F2D"/>
          </a:solidFill>
          <a:ln w="9525">
            <a:solidFill>
              <a:srgbClr val="2C5F2D"/>
            </a:solidFill>
            <a:prstDash val="solid"/>
          </a:ln>
        </p:spPr>
        <p:txBody>
          <a:bodyPr/>
          <a:lstStyle/>
          <a:p>
            <a:pPr/>
            <a:endParaRPr lang="es-AR"/>
          </a:p>
        </p:txBody>
      </p:sp>
      <p:sp>
        <p:nvSpPr>
          <p:cNvPr id="7" name="Text 5"/>
          <p:cNvSpPr txBox="1"/>
          <p:nvPr/>
        </p:nvSpPr>
        <p:spPr>
          <a:xfrm>
            <a:off x="7112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FFFFFF"/>
                </a:solidFill>
                <a:latin typeface="Calibri" pitchFamily="34" charset="0"/>
                <a:ea typeface="Calibri" pitchFamily="34" charset="-122"/>
                <a:cs typeface="Calibri" pitchFamily="34" charset="-120"/>
              </a:rPr>
              <a:t>−24%</a:t>
            </a:r>
            <a:endParaRPr lang="en-US" sz="24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caída real de los pagos totales en la serie</a:t>
            </a:r>
            <a:endParaRPr lang="en-US" sz="1100" dirty="0"/>
          </a:p>
        </p:txBody>
      </p:sp>
      <p:sp>
        <p:nvSpPr>
          <p:cNvPr id="8" name="Shape 6"/>
          <p:cNvSpPr/>
          <p:nvPr/>
        </p:nvSpPr>
        <p:spPr>
          <a:xfrm>
            <a:off x="33909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9" name="Text 7"/>
          <p:cNvSpPr txBox="1"/>
          <p:nvPr/>
        </p:nvSpPr>
        <p:spPr>
          <a:xfrm>
            <a:off x="34925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−19%</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caída real entre prestadores turísticos</a:t>
            </a:r>
            <a:endParaRPr lang="en-US" sz="1100" dirty="0"/>
          </a:p>
        </p:txBody>
      </p:sp>
      <p:sp>
        <p:nvSpPr>
          <p:cNvPr id="10" name="Shape 8"/>
          <p:cNvSpPr/>
          <p:nvPr/>
        </p:nvSpPr>
        <p:spPr>
          <a:xfrm>
            <a:off x="61722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1" name="Text 9"/>
          <p:cNvSpPr txBox="1"/>
          <p:nvPr/>
        </p:nvSpPr>
        <p:spPr>
          <a:xfrm>
            <a:off x="62738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$ 44,0 M</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cobranza del último ciclo, a pesos constantes</a:t>
            </a:r>
            <a:endParaRPr lang="en-US" sz="1100" dirty="0"/>
          </a:p>
        </p:txBody>
      </p:sp>
      <p:sp>
        <p:nvSpPr>
          <p:cNvPr id="12" name="Shape 10"/>
          <p:cNvSpPr/>
          <p:nvPr/>
        </p:nvSpPr>
        <p:spPr>
          <a:xfrm>
            <a:off x="89535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3" name="Text 11"/>
          <p:cNvSpPr txBox="1"/>
          <p:nvPr/>
        </p:nvSpPr>
        <p:spPr>
          <a:xfrm>
            <a:off x="90551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72%</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depurada es de prestadores turísticos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2552663543"/>
              </p:ext>
            </p:extLst>
          </p:nvPr>
        </p:nvGraphicFramePr>
        <p:xfrm>
          <a:off x="609600" y="3301754"/>
          <a:ext cx="10972800" cy="1082040"/>
        </p:xfrm>
        <a:graphic>
          <a:graphicData uri="http://schemas.openxmlformats.org/drawingml/2006/table">
            <a:tbl>
              <a:tblPr/>
              <a:tblGrid>
                <a:gridCol w="2692400">
                  <a:extLst>
                    <a:ext uri="{9D8B030D-6E8A-4147-A177-3AD203B41FA5}">
                      <a16:colId xmlns:a16="http://schemas.microsoft.com/office/drawing/2014/main" val="20000"/>
                    </a:ext>
                  </a:extLst>
                </a:gridCol>
                <a:gridCol w="14986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498600">
                  <a:extLst>
                    <a:ext uri="{9D8B030D-6E8A-4147-A177-3AD203B41FA5}">
                      <a16:colId xmlns:a16="http://schemas.microsoft.com/office/drawing/2014/main" val="20003"/>
                    </a:ext>
                  </a:extLst>
                </a:gridCol>
                <a:gridCol w="1892300">
                  <a:extLst>
                    <a:ext uri="{9D8B030D-6E8A-4147-A177-3AD203B41FA5}">
                      <a16:colId xmlns:a16="http://schemas.microsoft.com/office/drawing/2014/main" val="20004"/>
                    </a:ext>
                  </a:extLst>
                </a:gridCol>
                <a:gridCol w="1892300">
                  <a:extLst>
                    <a:ext uri="{9D8B030D-6E8A-4147-A177-3AD203B41FA5}">
                      <a16:colId xmlns:a16="http://schemas.microsoft.com/office/drawing/2014/main" val="20005"/>
                    </a:ext>
                  </a:extLst>
                </a:gridCol>
              </a:tblGrid>
              <a:tr h="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Universo</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Pagos totales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Prestadores turísticos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Concesionarios y permisionarios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37,7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33,2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29,4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12"/>
          <p:cNvSpPr/>
          <p:nvPr/>
        </p:nvSpPr>
        <p:spPr>
          <a:xfrm>
            <a:off x="533400" y="5041900"/>
            <a:ext cx="10972800" cy="711200"/>
          </a:xfrm>
          <a:prstGeom prst="roundRect">
            <a:avLst>
              <a:gd name="adj" fmla="val 6429"/>
            </a:avLst>
          </a:prstGeom>
          <a:solidFill>
            <a:srgbClr val="F6F9F1"/>
          </a:solidFill>
          <a:ln w="9525">
            <a:solidFill>
              <a:srgbClr val="E1EBD6"/>
            </a:solidFill>
            <a:prstDash val="solid"/>
          </a:ln>
        </p:spPr>
        <p:txBody>
          <a:bodyPr/>
          <a:lstStyle/>
          <a:p>
            <a:pPr/>
            <a:endParaRPr lang="es-AR"/>
          </a:p>
        </p:txBody>
      </p:sp>
      <p:sp>
        <p:nvSpPr>
          <p:cNvPr id="16" name="Text 13"/>
          <p:cNvSpPr txBox="1"/>
          <p:nvPr/>
        </p:nvSpPr>
        <p:spPr>
          <a:xfrm>
            <a:off x="685800" y="5118100"/>
            <a:ext cx="10668000" cy="558800"/>
          </a:xfrm>
          <a:prstGeom prst="rect">
            <a:avLst/>
          </a:prstGeom>
          <a:noFill/>
          <a:ln/>
        </p:spPr>
        <p:txBody>
          <a:bodyPr wrap="square" lIns="0" tIns="0" rIns="0" bIns="0" rtlCol="0" anchor="ctr"/>
          <a:lstStyle/>
          <a:p>
            <a:pPr marL="0" indent="0">
              <a:lnSpc>
                <a:spcPct val="120000"/>
              </a:lnSpc>
              <a:buNone/>
            </a:pPr>
            <a:r>
              <a:rPr lang="en-US" sz="1200" b="1" dirty="0">
                <a:solidFill>
                  <a:srgbClr val="2B2B24"/>
                </a:solidFill>
                <a:latin typeface="Calibri" pitchFamily="34" charset="0"/>
                <a:ea typeface="Calibri" pitchFamily="34" charset="-122"/>
                <a:cs typeface="Calibri" pitchFamily="34" charset="-120"/>
              </a:rPr>
              <a:t>Ingresos totales por período anual</a:t>
            </a:r>
            <a:r>
              <a:rPr lang="en-US" sz="1200" dirty="0">
                <a:solidFill>
                  <a:srgbClr val="2B2B24"/>
                </a:solidFill>
                <a:latin typeface="Calibri" pitchFamily="34" charset="0"/>
                <a:ea typeface="Calibri" pitchFamily="34" charset="-122"/>
                <a:cs typeface="Calibri" pitchFamily="34" charset="-120"/>
              </a:rPr>
              <a:t>, en millones de pesos ajustados por CER. La caída se acelera en el último ciclo para el universo depurado y se modera entre prestadores turísticos; dentro de ellos, los concesionarios y permisionarios con declaración jurada —93% de la cobranza— retroceden al mismo ritmo.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 — excluye medios de pago electrónico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487464549"/>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16.288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27.801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32.585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8.170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7.662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8.425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incremento a valores corrientes refleja el impacto de la inflación sobre los flujos nominales. El contraste entre los ingresos a valores reales y en dólares permite observar la revaluación del peso en términos de tipo de cambio. Los registros de medios de pago electrónicos sólo figuran en el sistema hasta julio de 2025, de modo que su depuración es condición para comparar los tres ciclos.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por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559121886"/>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19.610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23.203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5.684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Los prestadores turísticos aportan 72% de la cobranza depurada del último ciclo. La cantidad de transacciones crece 10% entre extremos de la serie, mientras el monto real cae 19%: operaciones más numerosas y de menor valor real.</a:t>
            </a:r>
            <a:endParaRPr lang="en-US" sz="11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por concesionarios y permisionarios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alcanzado por declaración jurada — ingresos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559121886"/>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33,2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10.890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18.297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21.520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+98%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Las 42 razones sociales con declaración jurada de concesión o permiso explican 93% de la cobranza de prestadores turísticos del último ciclo y caen 22% en pesos constantes a lo largo de la serie. Es el recorte más acotado del informe y el que concentra la relación contractual con la Administración.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en millones de pesos ajustados por CER · los once son concesionarios o permisionarios con DDJJ y reúnen 96% de ese universo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7" name="Table 0"/>
          <p:cNvGraphicFramePr>
            <a:graphicFrameLocks noGrp="1"/>
          </p:cNvGraphicFramePr>
          <p:nvPr>
            <p:extLst>
              <p:ext uri="{D42A27DB-BD31-4B8C-83A1-F6EECF244321}">
                <p14:modId xmlns:p14="http://schemas.microsoft.com/office/powerpoint/2010/main" val="3332301186"/>
              </p:ext>
            </p:extLst>
          </p:nvPr>
        </p:nvGraphicFramePr>
        <p:xfrm>
          <a:off x="609600" y="1444752"/>
          <a:ext cx="10972800" cy="460857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8404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5,80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 en dólares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en millones de dólares · los once son concesionarios o permisionarios con DDJJ</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8" name="Table 0"/>
          <p:cNvGraphicFramePr>
            <a:graphicFrameLocks noGrp="1"/>
          </p:cNvGraphicFramePr>
          <p:nvPr>
            <p:extLst>
              <p:ext uri="{D42A27DB-BD31-4B8C-83A1-F6EECF244321}">
                <p14:modId xmlns:p14="http://schemas.microsoft.com/office/powerpoint/2010/main" val="1946523683"/>
              </p:ext>
            </p:extLst>
          </p:nvPr>
        </p:nvGraphicFramePr>
        <p:xfrm>
          <a:off x="609600" y="1444752"/>
          <a:ext cx="10972800" cy="378561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1546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609600" y="5522976"/>
            <a:ext cx="10972800" cy="762000"/>
          </a:xfrm>
          <a:prstGeom prst="roundRect">
            <a:avLst>
              <a:gd name="adj" fmla="val 6000"/>
            </a:avLst>
          </a:prstGeom>
          <a:solidFill>
            <a:srgbClr val="F6F9F1"/>
          </a:solidFill>
          <a:ln w="9525">
            <a:solidFill>
              <a:srgbClr val="E1EBD6"/>
            </a:solidFill>
            <a:prstDash val="solid"/>
          </a:ln>
        </p:spPr>
        <p:txBody>
          <a:bodyPr/>
          <a:lstStyle/>
          <a:p>
            <a:pPr/>
            <a:endParaRPr lang="es-AR"/>
          </a:p>
        </p:txBody>
      </p:sp>
      <p:sp>
        <p:nvSpPr>
          <p:cNvPr id="6" name="Text 5"/>
          <p:cNvSpPr txBox="1"/>
          <p:nvPr/>
        </p:nvSpPr>
        <p:spPr>
          <a:xfrm>
            <a:off x="762000" y="5605272"/>
            <a:ext cx="10668000" cy="6096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Las lecturas positivas reflejan principalmente la incorporación de nuevas prestaciones para operadores ya activos, como en los casos de Espacio SA y Estancia Cristina. En contraste, </a:t>
            </a:r>
            <a:r>
              <a:rPr lang="en-US" sz="1100" b="1" dirty="0">
                <a:solidFill>
                  <a:srgbClr val="2B2B24"/>
                </a:solidFill>
                <a:latin typeface="Calibri" pitchFamily="34" charset="0"/>
                <a:ea typeface="Calibri" pitchFamily="34" charset="-122"/>
                <a:cs typeface="Calibri" pitchFamily="34" charset="-120"/>
              </a:rPr>
              <a:t>Tranex Turismo</a:t>
            </a:r>
            <a:r>
              <a:rPr lang="en-US" sz="1100" dirty="0">
                <a:solidFill>
                  <a:srgbClr val="2B2B24"/>
                </a:solidFill>
                <a:latin typeface="Calibri" pitchFamily="34" charset="0"/>
                <a:ea typeface="Calibri" pitchFamily="34" charset="-122"/>
                <a:cs typeface="Calibri" pitchFamily="34" charset="-120"/>
              </a:rPr>
              <a:t> y </a:t>
            </a:r>
            <a:r>
              <a:rPr lang="en-US" sz="1100" b="1" dirty="0">
                <a:solidFill>
                  <a:srgbClr val="2B2B24"/>
                </a:solidFill>
                <a:latin typeface="Calibri" pitchFamily="34" charset="0"/>
                <a:ea typeface="Calibri" pitchFamily="34" charset="-122"/>
                <a:cs typeface="Calibri" pitchFamily="34" charset="-120"/>
              </a:rPr>
              <a:t>Marpatag</a:t>
            </a:r>
            <a:r>
              <a:rPr lang="en-US" sz="1100" dirty="0">
                <a:solidFill>
                  <a:srgbClr val="2B2B24"/>
                </a:solidFill>
                <a:latin typeface="Calibri" pitchFamily="34" charset="0"/>
                <a:ea typeface="Calibri" pitchFamily="34" charset="-122"/>
                <a:cs typeface="Calibri" pitchFamily="34" charset="-120"/>
              </a:rPr>
              <a:t> reportan los peores deterioros operativos de la serie.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EVOLUCIÓN MENSUAL</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Estacionalidad y tendencia de la serie</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Total de ingresos mensuales a valor constante (CER) · agosto 2023 a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7" name="Shape 4"/>
          <p:cNvSpPr/>
          <p:nvPr/>
        </p:nvSpPr>
        <p:spPr>
          <a:xfrm>
            <a:off x="609600" y="4953000"/>
            <a:ext cx="10972800" cy="787400"/>
          </a:xfrm>
          <a:prstGeom prst="roundRect">
            <a:avLst>
              <a:gd name="adj" fmla="val 5806"/>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029200"/>
            <a:ext cx="10668000" cy="6350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gráfico denota la </a:t>
            </a:r>
            <a:r>
              <a:rPr lang="en-US" sz="1100" b="1" dirty="0">
                <a:solidFill>
                  <a:srgbClr val="2B2B24"/>
                </a:solidFill>
                <a:latin typeface="Calibri" pitchFamily="34" charset="0"/>
                <a:ea typeface="Calibri" pitchFamily="34" charset="-122"/>
                <a:cs typeface="Calibri" pitchFamily="34" charset="-120"/>
              </a:rPr>
              <a:t>marcada estacionalidad</a:t>
            </a:r>
            <a:r>
              <a:rPr lang="en-US" sz="1100" dirty="0">
                <a:solidFill>
                  <a:srgbClr val="2B2B24"/>
                </a:solidFill>
                <a:latin typeface="Calibri" pitchFamily="34" charset="0"/>
                <a:ea typeface="Calibri" pitchFamily="34" charset="-122"/>
                <a:cs typeface="Calibri" pitchFamily="34" charset="-120"/>
              </a:rPr>
              <a:t>, con picos que replican la mayor operación turística en temporada estival (diciembre-marzo). Las medias móviles y la regresión lineal exponen una notoria </a:t>
            </a:r>
            <a:r>
              <a:rPr lang="en-US" sz="1100" b="1" dirty="0">
                <a:solidFill>
                  <a:srgbClr val="2B2B24"/>
                </a:solidFill>
                <a:latin typeface="Calibri" pitchFamily="34" charset="0"/>
                <a:ea typeface="Calibri" pitchFamily="34" charset="-122"/>
                <a:cs typeface="Calibri" pitchFamily="34" charset="-120"/>
              </a:rPr>
              <a:t>tendencia declinante</a:t>
            </a:r>
            <a:r>
              <a:rPr lang="en-US" sz="1100" dirty="0">
                <a:solidFill>
                  <a:srgbClr val="2B2B24"/>
                </a:solidFill>
                <a:latin typeface="Calibri" pitchFamily="34" charset="0"/>
                <a:ea typeface="Calibri" pitchFamily="34" charset="-122"/>
                <a:cs typeface="Calibri" pitchFamily="34" charset="-120"/>
              </a:rPr>
              <a:t>: la recta pierde 36% entre los extremos de la serie.</a:t>
            </a:r>
            <a:endParaRPr lang="en-US" sz="1100" dirty="0"/>
          </a:p>
        </p:txBody>
      </p:sp>
      <p:pic>
        <p:nvPicPr>
          <p:cNvPr id="9" name="Picture 8" descr="fig1.png"/>
          <p:cNvPicPr>
            <a:picLocks noChangeAspect="1"/>
          </p:cNvPicPr>
          <p:nvPr/>
        </p:nvPicPr>
        <p:blipFill>
          <a:blip r:embed="rId4"/>
          <a:stretch>
            <a:fillRect/>
          </a:stretch>
        </p:blipFill>
        <p:spPr>
          <a:xfrm>
            <a:off x="457200" y="1298448"/>
            <a:ext cx="11274552" cy="3520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por dependencia administrativa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depurado de medios de pago electrónicos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345476103"/>
              </p:ext>
            </p:extLst>
          </p:nvPr>
        </p:nvGraphicFramePr>
        <p:xfrm>
          <a:off x="609600" y="1554480"/>
          <a:ext cx="10972800" cy="4754880"/>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6576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18,82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7,78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Casa Central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6576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44,03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50,98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57,67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de prestadores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Prestadores turísticos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2424234006"/>
              </p:ext>
            </p:extLst>
          </p:nvPr>
        </p:nvGraphicFramePr>
        <p:xfrm>
          <a:off x="609600" y="1572768"/>
          <a:ext cx="10972800" cy="4828032"/>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402336">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+979%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402336">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35,65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39,09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Concesionarios y permisionarios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alcanzado por declaración jurada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 El salto de El Palmar responde a la regularización de pagos adeudados por Julio Roberto Edelcopp.</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2424234006"/>
              </p:ext>
            </p:extLst>
          </p:nvPr>
        </p:nvGraphicFramePr>
        <p:xfrm>
          <a:off x="609600" y="1572768"/>
          <a:ext cx="10972800" cy="4828032"/>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402336">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13,01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8,99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12,89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+1.537%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 DDJJ</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29,36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33,24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37,66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CONCENTRACIÓN</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cobranza depende de pocos actores</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06435"/>
            <a:ext cx="5969000" cy="1651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10 principales prestadores explican en torno a </a:t>
            </a:r>
            <a:r>
              <a:rPr lang="en-US" sz="1400" b="1" dirty="0">
                <a:solidFill>
                  <a:srgbClr val="2B2B24"/>
                </a:solidFill>
                <a:latin typeface="Calibri" pitchFamily="34" charset="0"/>
                <a:ea typeface="Calibri" pitchFamily="34" charset="-122"/>
                <a:cs typeface="Calibri" pitchFamily="34" charset="-120"/>
              </a:rPr>
              <a:t>nueve décimas partes</a:t>
            </a:r>
            <a:r>
              <a:rPr lang="en-US" sz="1400" dirty="0">
                <a:solidFill>
                  <a:srgbClr val="2B2B24"/>
                </a:solidFill>
                <a:latin typeface="Calibri" pitchFamily="34" charset="0"/>
                <a:ea typeface="Calibri" pitchFamily="34" charset="-122"/>
                <a:cs typeface="Calibri" pitchFamily="34" charset="-120"/>
              </a:rPr>
              <a:t> de la cobranza turística, con una leve desconcentración a lo largo de la serie (90% a 87%).</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parques nacionales Iguazú, Glaciares y Nahuel Huapi presentan una concentración semejante. La Administración se encuentra fuertemente expuesta a las variaciones de estos actores.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790025939"/>
              </p:ext>
            </p:extLst>
          </p:nvPr>
        </p:nvGraphicFramePr>
        <p:xfrm>
          <a:off x="609600" y="3749039"/>
          <a:ext cx="5969000" cy="877824"/>
        </p:xfrm>
        <a:graphic>
          <a:graphicData uri="http://schemas.openxmlformats.org/drawingml/2006/table">
            <a:tbl>
              <a:tblPr/>
              <a:tblGrid>
                <a:gridCol w="2692400">
                  <a:extLst>
                    <a:ext uri="{9D8B030D-6E8A-4147-A177-3AD203B41FA5}">
                      <a16:colId xmlns:a16="http://schemas.microsoft.com/office/drawing/2014/main" val="20000"/>
                    </a:ext>
                  </a:extLst>
                </a:gridCol>
                <a:gridCol w="1092200">
                  <a:extLst>
                    <a:ext uri="{9D8B030D-6E8A-4147-A177-3AD203B41FA5}">
                      <a16:colId xmlns:a16="http://schemas.microsoft.com/office/drawing/2014/main" val="20001"/>
                    </a:ext>
                  </a:extLst>
                </a:gridCol>
                <a:gridCol w="1092200">
                  <a:extLst>
                    <a:ext uri="{9D8B030D-6E8A-4147-A177-3AD203B41FA5}">
                      <a16:colId xmlns:a16="http://schemas.microsoft.com/office/drawing/2014/main" val="20002"/>
                    </a:ext>
                  </a:extLst>
                </a:gridCol>
                <a:gridCol w="1092200">
                  <a:extLst>
                    <a:ext uri="{9D8B030D-6E8A-4147-A177-3AD203B41FA5}">
                      <a16:colId xmlns:a16="http://schemas.microsoft.com/office/drawing/2014/main" val="20003"/>
                    </a:ext>
                  </a:extLst>
                </a:gridCol>
              </a:tblGrid>
              <a:tr h="29260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Indicador de concentración</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10 prestadores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3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bl>
          </a:graphicData>
        </a:graphic>
      </p:graphicFrame>
      <p:sp>
        <p:nvSpPr>
          <p:cNvPr id="7" name="Shape 4"/>
          <p:cNvSpPr/>
          <p:nvPr/>
        </p:nvSpPr>
        <p:spPr>
          <a:xfrm>
            <a:off x="7112000" y="1397000"/>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8" name="Text 5"/>
          <p:cNvSpPr txBox="1"/>
          <p:nvPr/>
        </p:nvSpPr>
        <p:spPr>
          <a:xfrm>
            <a:off x="7213600" y="1397000"/>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87%</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turística, en 10 prestadores</a:t>
            </a:r>
            <a:endParaRPr lang="en-US" sz="1100" dirty="0"/>
          </a:p>
        </p:txBody>
      </p:sp>
      <p:sp>
        <p:nvSpPr>
          <p:cNvPr id="9" name="Shape 6"/>
          <p:cNvSpPr/>
          <p:nvPr/>
        </p:nvSpPr>
        <p:spPr>
          <a:xfrm>
            <a:off x="7112000" y="2887133"/>
            <a:ext cx="4470400" cy="1337733"/>
          </a:xfrm>
          <a:prstGeom prst="roundRect">
            <a:avLst>
              <a:gd name="adj" fmla="val 4101"/>
            </a:avLst>
          </a:prstGeom>
          <a:solidFill>
            <a:srgbClr val="2C5F2D"/>
          </a:solidFill>
          <a:ln w="9525">
            <a:solidFill>
              <a:srgbClr val="2C5F2D"/>
            </a:solidFill>
            <a:prstDash val="solid"/>
          </a:ln>
        </p:spPr>
        <p:txBody>
          <a:bodyPr/>
          <a:lstStyle/>
          <a:p>
            <a:pPr/>
            <a:endParaRPr lang="es-AR"/>
          </a:p>
        </p:txBody>
      </p:sp>
      <p:sp>
        <p:nvSpPr>
          <p:cNvPr id="10" name="Text 7"/>
          <p:cNvSpPr txBox="1"/>
          <p:nvPr/>
        </p:nvSpPr>
        <p:spPr>
          <a:xfrm>
            <a:off x="7213600" y="2887133"/>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75%</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en los tres parques de mayores ingresos</a:t>
            </a:r>
            <a:endParaRPr lang="en-US" sz="1100" dirty="0"/>
          </a:p>
        </p:txBody>
      </p:sp>
      <p:sp>
        <p:nvSpPr>
          <p:cNvPr id="11" name="Shape 8"/>
          <p:cNvSpPr/>
          <p:nvPr/>
        </p:nvSpPr>
        <p:spPr>
          <a:xfrm>
            <a:off x="7112000" y="4377267"/>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6" name="Text 9"/>
          <p:cNvSpPr txBox="1"/>
          <p:nvPr/>
        </p:nvSpPr>
        <p:spPr>
          <a:xfrm>
            <a:off x="7213600" y="4377267"/>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72%</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del universo depurado son prestadores turísticos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RELACIÓN CON EL INFORME DE DEUDA</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deuda frente a la cobranza anual</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30/09/2026 y datos de ReNaRI.</a:t>
            </a:r>
            <a:endParaRPr lang="en-US" sz="800" dirty="0"/>
          </a:p>
        </p:txBody>
      </p:sp>
      <p:sp>
        <p:nvSpPr>
          <p:cNvPr id="5" name="Text 3"/>
          <p:cNvSpPr txBox="1"/>
          <p:nvPr/>
        </p:nvSpPr>
        <p:spPr>
          <a:xfrm>
            <a:off x="609600" y="1728338"/>
            <a:ext cx="5969000" cy="3556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El “Informe de deudas — Relevamiento general” con datos al 30 de septiembre de 2026 releva 11.271 obligaciones documentadas, consolidadas en 3.931 razones sociales y 34 dependencias con acreencias.</a:t>
            </a:r>
            <a:r>
              <a:rPr lang="en-US" sz="1400" b="1" dirty="0">
                <a:solidFill>
                  <a:srgbClr val="2B2B24"/>
                </a:solidFill>
                <a:latin typeface="Calibri" pitchFamily="34" charset="0"/>
                <a:ea typeface="Calibri" pitchFamily="34" charset="-122"/>
                <a:cs typeface="Calibri" pitchFamily="34" charset="-120"/>
              </a:rPr>
              <a:t/>
            </a:r>
            <a:r>
              <a:rPr lang="en-US" sz="1400" dirty="0">
                <a:solidFill>
                  <a:srgbClr val="2B2B24"/>
                </a:solidFill>
                <a:latin typeface="Calibri" pitchFamily="34" charset="0"/>
                <a:ea typeface="Calibri" pitchFamily="34" charset="-122"/>
                <a:cs typeface="Calibri" pitchFamily="34" charset="-120"/>
              </a:rPr>
              <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deuda bruta asciende a $ 1.545,9 millones, de los cuales $ 474,89 millones (30,72%) son intereses; imputados $ 166,91 millones de saldos a favor, el saldo exigible baja a $ 1.379,0 millones.</a:t>
            </a:r>
            <a:r>
              <a:rPr lang="en-US" sz="1400" b="1" dirty="0">
                <a:solidFill>
                  <a:srgbClr val="2B2B24"/>
                </a:solidFill>
                <a:latin typeface="Calibri" pitchFamily="34" charset="0"/>
                <a:ea typeface="Calibri" pitchFamily="34" charset="-122"/>
                <a:cs typeface="Calibri" pitchFamily="34" charset="-120"/>
              </a:rPr>
              <a:t/>
            </a:r>
            <a:r>
              <a:rPr lang="en-US" sz="1400" dirty="0">
                <a:solidFill>
                  <a:srgbClr val="2B2B24"/>
                </a:solidFill>
                <a:latin typeface="Calibri" pitchFamily="34" charset="0"/>
                <a:ea typeface="Calibri" pitchFamily="34" charset="-122"/>
                <a:cs typeface="Calibri" pitchFamily="34" charset="-120"/>
              </a:rPr>
              <a:t/>
            </a:r>
            <a:r>
              <a:rPr lang="en-US" sz="1400" b="1" dirty="0">
                <a:solidFill>
                  <a:srgbClr val="2B2B24"/>
                </a:solidFill>
                <a:latin typeface="Calibri" pitchFamily="34" charset="0"/>
                <a:ea typeface="Calibri" pitchFamily="34" charset="-122"/>
                <a:cs typeface="Calibri" pitchFamily="34" charset="-120"/>
              </a:rPr>
              <a:t/>
            </a:r>
            <a:r>
              <a:rPr lang="en-US" sz="1400" dirty="0">
                <a:solidFill>
                  <a:srgbClr val="2B2B24"/>
                </a:solidFill>
                <a:latin typeface="Calibri" pitchFamily="34" charset="0"/>
                <a:ea typeface="Calibri" pitchFamily="34" charset="-122"/>
                <a:cs typeface="Calibri" pitchFamily="34" charset="-120"/>
              </a:rPr>
              <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Frente al cierre de agosto la deuda neta exigible retrocede 10,5% —de $ 1.540,0 a $ 1.379,0 millones—, por la regularización de un caso singular: la salida de Iguazú Argentina S.A. del listado explica $ 170,8 de los $ 194,1 millones en que cae el capital adeudado. La incidencia de intereses, en cambio, sube de 29,55% a 33,25% de la deuda neta: al cancelarse cartera reciente gana peso relativo la más antigua.*</a:t>
            </a:r>
            <a:endParaRPr lang="en-US" sz="1400" dirty="0"/>
          </a:p>
        </p:txBody>
      </p:sp>
      <p:sp>
        <p:nvSpPr>
          <p:cNvPr id="6" name="Text 4"/>
          <p:cNvSpPr txBox="1"/>
          <p:nvPr/>
        </p:nvSpPr>
        <p:spPr>
          <a:xfrm>
            <a:off x="609600" y="5540236"/>
            <a:ext cx="5969000" cy="5842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 El </a:t>
            </a:r>
            <a:r>
              <a:rPr lang="en-US" sz="900" dirty="0" err="1">
                <a:solidFill>
                  <a:srgbClr val="6E6B5E"/>
                </a:solidFill>
                <a:latin typeface="Calibri" pitchFamily="34" charset="0"/>
                <a:ea typeface="Calibri" pitchFamily="34" charset="-122"/>
                <a:cs typeface="Calibri" pitchFamily="34" charset="-120"/>
              </a:rPr>
              <a:t>relevamiento</a:t>
            </a:r>
            <a:r>
              <a:rPr lang="en-US" sz="900" dirty="0">
                <a:solidFill>
                  <a:srgbClr val="6E6B5E"/>
                </a:solidFill>
                <a:latin typeface="Calibri" pitchFamily="34" charset="0"/>
                <a:ea typeface="Calibri" pitchFamily="34" charset="-122"/>
                <a:cs typeface="Calibri" pitchFamily="34" charset="-120"/>
              </a:rPr>
              <a:t> de deudas advierte sobre inconsistencias en los reportes de ReNaRI que exigieron revisiones heurísticas, de modo que las cifras deben leerse con esa reserva.</a:t>
            </a:r>
            <a:endParaRPr lang="en-US" sz="900" dirty="0"/>
          </a:p>
        </p:txBody>
      </p:sp>
      <p:sp>
        <p:nvSpPr>
          <p:cNvPr id="7" name="Shape 5"/>
          <p:cNvSpPr/>
          <p:nvPr/>
        </p:nvSpPr>
        <p:spPr>
          <a:xfrm>
            <a:off x="7112000" y="1346200"/>
            <a:ext cx="4470400" cy="1354667"/>
          </a:xfrm>
          <a:prstGeom prst="roundRect">
            <a:avLst>
              <a:gd name="adj" fmla="val 4050"/>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4,7%</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representa la deuda bruta sobre la cobranza anual depurada</a:t>
            </a:r>
            <a:endParaRPr lang="en-US" sz="1100" dirty="0"/>
          </a:p>
        </p:txBody>
      </p:sp>
      <p:sp>
        <p:nvSpPr>
          <p:cNvPr id="9" name="Shape 7"/>
          <p:cNvSpPr/>
          <p:nvPr/>
        </p:nvSpPr>
        <p:spPr>
          <a:xfrm>
            <a:off x="7112000" y="2853267"/>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53267"/>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$ 422,5 M</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deuda de prestadores turísticos activos</a:t>
            </a:r>
            <a:endParaRPr lang="en-US" sz="1100" dirty="0"/>
          </a:p>
        </p:txBody>
      </p:sp>
      <p:sp>
        <p:nvSpPr>
          <p:cNvPr id="11" name="Shape 9"/>
          <p:cNvSpPr/>
          <p:nvPr/>
        </p:nvSpPr>
        <p:spPr>
          <a:xfrm>
            <a:off x="7112000" y="4360333"/>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60333"/>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1,8%</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los ingresos anuales de prestadores turísticos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IX</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Deuda de prestadores activos e ingresos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En pesos corrientes, sobre el ciclo octubre 2025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30/09/2026 (Tabla III) y datos de ReNaRI.</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4047759359"/>
              </p:ext>
            </p:extLst>
          </p:nvPr>
        </p:nvGraphicFramePr>
        <p:xfrm>
          <a:off x="609600" y="1397000"/>
          <a:ext cx="10972800" cy="3886200"/>
        </p:xfrm>
        <a:graphic>
          <a:graphicData uri="http://schemas.openxmlformats.org/drawingml/2006/table">
            <a:tbl>
              <a:tblPr/>
              <a:tblGrid>
                <a:gridCol w="2387600">
                  <a:extLst>
                    <a:ext uri="{9D8B030D-6E8A-4147-A177-3AD203B41FA5}">
                      <a16:colId xmlns:a16="http://schemas.microsoft.com/office/drawing/2014/main" val="20000"/>
                    </a:ext>
                  </a:extLst>
                </a:gridCol>
                <a:gridCol w="16764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133600">
                  <a:extLst>
                    <a:ext uri="{9D8B030D-6E8A-4147-A177-3AD203B41FA5}">
                      <a16:colId xmlns:a16="http://schemas.microsoft.com/office/drawing/2014/main" val="20004"/>
                    </a:ext>
                  </a:extLst>
                </a:gridCol>
                <a:gridCol w="1524000">
                  <a:extLst>
                    <a:ext uri="{9D8B030D-6E8A-4147-A177-3AD203B41FA5}">
                      <a16:colId xmlns:a16="http://schemas.microsoft.com/office/drawing/2014/main" val="20005"/>
                    </a:ext>
                  </a:extLst>
                </a:gridCol>
              </a:tblGrid>
              <a:tr h="0">
                <a:tc>
                  <a:txBody>
                    <a:bodyPr/>
                    <a:lstStyle/>
                    <a:p>
                      <a:pPr marL="0" indent="0" algn="l">
                        <a:buNone/>
                      </a:pPr>
                      <a:r>
                        <a:rPr lang="en-US" sz="1200" b="1" kern="0" spc="40" dirty="0">
                          <a:solidFill>
                            <a:srgbClr val="FFFFFF"/>
                          </a:solidFill>
                          <a:latin typeface="Calibri" pitchFamily="34" charset="0"/>
                          <a:ea typeface="Calibri" pitchFamily="34" charset="-122"/>
                          <a:cs typeface="Calibri" pitchFamily="34" charset="-120"/>
                        </a:rPr>
                        <a:t>Dependencia</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Capital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Interés</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 total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Ingresos 25/26</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Deuda/Ingr.</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Nahuel Huapi</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$ 184.049.070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$ 47.811.327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$ 231.860.396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$ 4.187.192.718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Glaciares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$ 84.706.533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$ 7.088.259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$ 91.794.792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$ 6.824.863.627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Iguazú</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$ 28.898.561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$ 5.205.025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$ 34.103.586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$ 9.213.002.159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Lanín</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$ 27.263.194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$ 3.117.011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$ 30.380.205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$ 752.337.021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Alerces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$ 7.260.031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$ 1.331.173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$ 8.591.204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$ 116.253.096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Tierra del Fuego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$ 5.156.318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$ 2.514.250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$ 7.670.568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$ 1.692.957.246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El Palmar</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$ 4.901.754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$ 832.440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$ 5.734.194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$ 37.213.862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Cardones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$ 4.120.582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$ 1.092.884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$ 5.213.466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$ 9.011.975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57,9%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Lago Puelo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$ 2.677.391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$ 388.543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$ 3.065.934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$ 39.154.804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Talampaya</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$ 1.445.250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$ 130.473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$ 1.575.723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$ 307.855.921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El Leoncito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$ 1.068.420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$ 52.459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$ 1.120.879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$ 469.323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238,8%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Condorito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$ 645.163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$ 216.067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$ 861.230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$ 2.556.869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Otras dependencias (8)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$ 451.264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$ 122.644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$ 573.908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$ 13.038.846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0">
                <a:tc>
                  <a:txBody>
                    <a:bodyPr/>
                    <a:lstStyle/>
                    <a:p>
                      <a:pPr marL="0" indent="0" algn="l">
                        <a:buNone/>
                      </a:pPr>
                      <a:r>
                        <a:rPr lang="en-US" sz="1200" b="1" dirty="0">
                          <a:solidFill>
                            <a:srgbClr val="2B2B24"/>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$ 352.643.531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$ 69.902.554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$ 422.546.085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$ 23.195.907.466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4"/>
                  </a:ext>
                </a:extLst>
              </a:tr>
            </a:tbl>
          </a:graphicData>
        </a:graphic>
      </p:graphicFrame>
      <p:sp>
        <p:nvSpPr>
          <p:cNvPr id="7" name="Shape 4"/>
          <p:cNvSpPr/>
          <p:nvPr/>
        </p:nvSpPr>
        <p:spPr>
          <a:xfrm>
            <a:off x="609600" y="5399966"/>
            <a:ext cx="10972800" cy="939800"/>
          </a:xfrm>
          <a:prstGeom prst="roundRect">
            <a:avLst>
              <a:gd name="adj" fmla="val 486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489813"/>
            <a:ext cx="10668000" cy="787400"/>
          </a:xfrm>
          <a:prstGeom prst="rect">
            <a:avLst/>
          </a:prstGeom>
          <a:noFill/>
          <a:ln/>
        </p:spPr>
        <p:txBody>
          <a:bodyPr wrap="square" lIns="0" tIns="0" rIns="0" bIns="0" rtlCol="0" anchor="ctr"/>
          <a:lstStyle/>
          <a:p>
            <a:pPr marL="0" indent="0" algn="l">
              <a:lnSpc>
                <a:spcPct val="120000"/>
              </a:lnSpc>
              <a:buNone/>
            </a:pPr>
            <a:r>
              <a:rPr lang="en-US" sz="1100" dirty="0">
                <a:solidFill>
                  <a:srgbClr val="2B2B24"/>
                </a:solidFill>
                <a:latin typeface="Calibri" pitchFamily="34" charset="0"/>
                <a:ea typeface="Calibri" pitchFamily="34" charset="-122"/>
                <a:cs typeface="Calibri" pitchFamily="34" charset="-120"/>
              </a:rPr>
              <a:t>Entre las dependencias más intensivas en generación de ingresos la proporción es baja —Iguazú 0,4%, Tierra del Fuego 0,5%, Los Glaciares 1,3%—, y la relación se invierte en dependencias con prestadores de menor peso: El Palmar llega a 15,4%, Los Cardones a 57,9% y El Leoncito a 238,8%, con una deuda que más que duplica su cobranza anual. Nahuel Huapi, con 5,5% de ratio, concentra 54,9% de la deuda de prestadores activos del sistema.</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9" name="Shape 7">
            <a:extLst>
              <a:ext uri="{FF2B5EF4-FFF2-40B4-BE49-F238E27FC236}">
                <a16:creationId xmlns:a16="http://schemas.microsoft.com/office/drawing/2014/main" id="{F8CC0C63-B4CA-C735-4C2D-AF4FC78C3334}"/>
              </a:ext>
            </a:extLst>
          </p:cNvPr>
          <p:cNvSpPr/>
          <p:nvPr/>
        </p:nvSpPr>
        <p:spPr>
          <a:xfrm>
            <a:off x="6218832" y="4237535"/>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7" name="Shape 7">
            <a:extLst>
              <a:ext uri="{FF2B5EF4-FFF2-40B4-BE49-F238E27FC236}">
                <a16:creationId xmlns:a16="http://schemas.microsoft.com/office/drawing/2014/main" id="{AB083EE7-5689-2C12-7FB1-0EDB35E29D5D}"/>
              </a:ext>
            </a:extLst>
          </p:cNvPr>
          <p:cNvSpPr/>
          <p:nvPr/>
        </p:nvSpPr>
        <p:spPr>
          <a:xfrm>
            <a:off x="6218832" y="2904412"/>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5" name="Shape 7">
            <a:extLst>
              <a:ext uri="{FF2B5EF4-FFF2-40B4-BE49-F238E27FC236}">
                <a16:creationId xmlns:a16="http://schemas.microsoft.com/office/drawing/2014/main" id="{1BD7A922-6BE1-3016-9092-EFD97CCC726B}"/>
              </a:ext>
            </a:extLst>
          </p:cNvPr>
          <p:cNvSpPr/>
          <p:nvPr/>
        </p:nvSpPr>
        <p:spPr>
          <a:xfrm>
            <a:off x="6218832"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3" name="Shape 7">
            <a:extLst>
              <a:ext uri="{FF2B5EF4-FFF2-40B4-BE49-F238E27FC236}">
                <a16:creationId xmlns:a16="http://schemas.microsoft.com/office/drawing/2014/main" id="{544C8316-CA3C-0276-B3F9-897164676AFC}"/>
              </a:ext>
            </a:extLst>
          </p:cNvPr>
          <p:cNvSpPr/>
          <p:nvPr/>
        </p:nvSpPr>
        <p:spPr>
          <a:xfrm>
            <a:off x="547428" y="4242619"/>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1" name="Shape 7">
            <a:extLst>
              <a:ext uri="{FF2B5EF4-FFF2-40B4-BE49-F238E27FC236}">
                <a16:creationId xmlns:a16="http://schemas.microsoft.com/office/drawing/2014/main" id="{56DDE26A-ACD6-83A9-218D-3F43D825DDCD}"/>
              </a:ext>
            </a:extLst>
          </p:cNvPr>
          <p:cNvSpPr/>
          <p:nvPr/>
        </p:nvSpPr>
        <p:spPr>
          <a:xfrm>
            <a:off x="547428" y="2908316"/>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9" name="Shape 7">
            <a:extLst>
              <a:ext uri="{FF2B5EF4-FFF2-40B4-BE49-F238E27FC236}">
                <a16:creationId xmlns:a16="http://schemas.microsoft.com/office/drawing/2014/main" id="{9604CF3B-A799-B753-7EDD-E864CD976C7E}"/>
              </a:ext>
            </a:extLst>
          </p:cNvPr>
          <p:cNvSpPr/>
          <p:nvPr/>
        </p:nvSpPr>
        <p:spPr>
          <a:xfrm>
            <a:off x="547428"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SÍNTESIS</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err="1">
                <a:solidFill>
                  <a:srgbClr val="2C5F2D"/>
                </a:solidFill>
                <a:latin typeface="Calibri" pitchFamily="34" charset="0"/>
                <a:ea typeface="Calibri" pitchFamily="34" charset="-122"/>
                <a:cs typeface="Calibri" pitchFamily="34" charset="-120"/>
              </a:rPr>
              <a:t>Conclusiones</a:t>
            </a:r>
            <a:r>
              <a:rPr lang="en-US" sz="3200" b="1" dirty="0">
                <a:solidFill>
                  <a:srgbClr val="2C5F2D"/>
                </a:solidFill>
                <a:latin typeface="Calibri" pitchFamily="34" charset="0"/>
                <a:ea typeface="Calibri" pitchFamily="34" charset="-122"/>
                <a:cs typeface="Calibri" pitchFamily="34" charset="-120"/>
              </a:rPr>
              <a:t> del período</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Agosto 2023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Text 4"/>
          <p:cNvSpPr txBox="1"/>
          <p:nvPr/>
        </p:nvSpPr>
        <p:spPr>
          <a:xfrm>
            <a:off x="6096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01</a:t>
            </a:r>
            <a:endParaRPr lang="en-US" sz="2400" b="1" dirty="0"/>
          </a:p>
        </p:txBody>
      </p:sp>
      <p:sp>
        <p:nvSpPr>
          <p:cNvPr id="7" name="Text 5"/>
          <p:cNvSpPr txBox="1"/>
          <p:nvPr/>
        </p:nvSpPr>
        <p:spPr>
          <a:xfrm>
            <a:off x="10668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Contracción real en los tres universos. </a:t>
            </a:r>
            <a:r>
              <a:rPr lang="en-US" sz="1400" b="1" dirty="0">
                <a:solidFill>
                  <a:srgbClr val="2B2B24"/>
                </a:solidFill>
                <a:latin typeface="Calibri" pitchFamily="34" charset="0"/>
                <a:ea typeface="Calibri" pitchFamily="34" charset="-122"/>
                <a:cs typeface="Calibri" pitchFamily="34" charset="-120"/>
              </a:rPr>
              <a:t>La cobranza de prestadores cae 19% en pesos constantes entre el primer y el último ciclo, y 24% en el universo depurado; entre concesionarios y permisionarios con DDJJ, 22%.</a:t>
            </a:r>
            <a:endParaRPr lang="en-US" sz="1400" b="1" dirty="0"/>
          </a:p>
        </p:txBody>
      </p:sp>
      <p:sp>
        <p:nvSpPr>
          <p:cNvPr id="8" name="Text 6"/>
          <p:cNvSpPr txBox="1"/>
          <p:nvPr/>
        </p:nvSpPr>
        <p:spPr>
          <a:xfrm>
            <a:off x="62992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02</a:t>
            </a:r>
            <a:endParaRPr lang="en-US" sz="2400" b="1" dirty="0"/>
          </a:p>
        </p:txBody>
      </p:sp>
      <p:sp>
        <p:nvSpPr>
          <p:cNvPr id="9" name="Text 7"/>
          <p:cNvSpPr txBox="1"/>
          <p:nvPr/>
        </p:nvSpPr>
        <p:spPr>
          <a:xfrm>
            <a:off x="67564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Ilusión de los ingresos corrientes. </a:t>
            </a:r>
            <a:r>
              <a:rPr lang="en-US" sz="1400" b="1" dirty="0">
                <a:solidFill>
                  <a:srgbClr val="2B2B24"/>
                </a:solidFill>
                <a:latin typeface="Calibri" pitchFamily="34" charset="0"/>
                <a:ea typeface="Calibri" pitchFamily="34" charset="-122"/>
                <a:cs typeface="Calibri" pitchFamily="34" charset="-120"/>
              </a:rPr>
              <a:t>El valor nominal sube por inflación y oculta la pérdida de valor real, que debe ser tomada como factor de comparación.</a:t>
            </a:r>
            <a:endParaRPr lang="en-US" sz="1400" b="1" dirty="0"/>
          </a:p>
        </p:txBody>
      </p:sp>
      <p:sp>
        <p:nvSpPr>
          <p:cNvPr id="10" name="Text 8"/>
          <p:cNvSpPr txBox="1"/>
          <p:nvPr/>
        </p:nvSpPr>
        <p:spPr>
          <a:xfrm>
            <a:off x="6096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03</a:t>
            </a:r>
            <a:endParaRPr lang="en-US" sz="2400" b="1" dirty="0"/>
          </a:p>
        </p:txBody>
      </p:sp>
      <p:sp>
        <p:nvSpPr>
          <p:cNvPr id="11" name="Text 9"/>
          <p:cNvSpPr txBox="1"/>
          <p:nvPr/>
        </p:nvSpPr>
        <p:spPr>
          <a:xfrm>
            <a:off x="10668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La evolución en dólares no indica mejora. </a:t>
            </a:r>
            <a:r>
              <a:rPr lang="en-US" sz="1400" b="1" dirty="0">
                <a:solidFill>
                  <a:srgbClr val="2B2B24"/>
                </a:solidFill>
                <a:latin typeface="Calibri" pitchFamily="34" charset="0"/>
                <a:ea typeface="Calibri" pitchFamily="34" charset="-122"/>
                <a:cs typeface="Calibri" pitchFamily="34" charset="-120"/>
              </a:rPr>
              <a:t>Responde a la apreciación real del peso, en especial cuando se comparan los extremos de la serie temporal.</a:t>
            </a:r>
            <a:endParaRPr lang="en-US" sz="1400" b="1" dirty="0"/>
          </a:p>
        </p:txBody>
      </p:sp>
      <p:sp>
        <p:nvSpPr>
          <p:cNvPr id="12" name="Text 10"/>
          <p:cNvSpPr txBox="1"/>
          <p:nvPr/>
        </p:nvSpPr>
        <p:spPr>
          <a:xfrm>
            <a:off x="62992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04</a:t>
            </a:r>
            <a:endParaRPr lang="en-US" sz="2400" b="1" dirty="0"/>
          </a:p>
        </p:txBody>
      </p:sp>
      <p:sp>
        <p:nvSpPr>
          <p:cNvPr id="13" name="Text 11"/>
          <p:cNvSpPr txBox="1"/>
          <p:nvPr/>
        </p:nvSpPr>
        <p:spPr>
          <a:xfrm>
            <a:off x="67564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Alta exposición a jugadores concentrados. </a:t>
            </a:r>
            <a:r>
              <a:rPr lang="en-US" sz="1400" b="1" dirty="0">
                <a:solidFill>
                  <a:srgbClr val="2B2B24"/>
                </a:solidFill>
                <a:latin typeface="Calibri" pitchFamily="34" charset="0"/>
                <a:ea typeface="Calibri" pitchFamily="34" charset="-122"/>
                <a:cs typeface="Calibri" pitchFamily="34" charset="-120"/>
              </a:rPr>
              <a:t>Casi 9 de cada 10 pesos provienen de </a:t>
            </a:r>
            <a:r>
              <a:rPr lang="en-US" sz="1400" b="1" dirty="0" err="1">
                <a:solidFill>
                  <a:srgbClr val="2B2B24"/>
                </a:solidFill>
                <a:latin typeface="Calibri" pitchFamily="34" charset="0"/>
                <a:ea typeface="Calibri" pitchFamily="34" charset="-122"/>
                <a:cs typeface="Calibri" pitchFamily="34" charset="-120"/>
              </a:rPr>
              <a:t>los</a:t>
            </a:r>
            <a:r>
              <a:rPr lang="en-US" sz="1400" b="1" dirty="0">
                <a:solidFill>
                  <a:srgbClr val="2B2B24"/>
                </a:solidFill>
                <a:latin typeface="Calibri" pitchFamily="34" charset="0"/>
                <a:ea typeface="Calibri" pitchFamily="34" charset="-122"/>
                <a:cs typeface="Calibri" pitchFamily="34" charset="-120"/>
              </a:rPr>
              <a:t> diez principales prestadores; la </a:t>
            </a:r>
            <a:r>
              <a:rPr lang="en-US" sz="1400" b="1" dirty="0" err="1">
                <a:solidFill>
                  <a:srgbClr val="2B2B24"/>
                </a:solidFill>
                <a:latin typeface="Calibri" pitchFamily="34" charset="0"/>
                <a:ea typeface="Calibri" pitchFamily="34" charset="-122"/>
                <a:cs typeface="Calibri" pitchFamily="34" charset="-120"/>
              </a:rPr>
              <a:t>misma</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concentración</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existe</a:t>
            </a:r>
            <a:r>
              <a:rPr lang="en-US" sz="1400" b="1" dirty="0">
                <a:solidFill>
                  <a:srgbClr val="2B2B24"/>
                </a:solidFill>
                <a:latin typeface="Calibri" pitchFamily="34" charset="0"/>
                <a:ea typeface="Calibri" pitchFamily="34" charset="-122"/>
                <a:cs typeface="Calibri" pitchFamily="34" charset="-120"/>
              </a:rPr>
              <a:t> entre los tres parques de mayores ingresos.</a:t>
            </a:r>
            <a:endParaRPr lang="en-US" sz="1400" b="1" dirty="0"/>
          </a:p>
        </p:txBody>
      </p:sp>
      <p:sp>
        <p:nvSpPr>
          <p:cNvPr id="14" name="Text 12"/>
          <p:cNvSpPr txBox="1"/>
          <p:nvPr/>
        </p:nvSpPr>
        <p:spPr>
          <a:xfrm>
            <a:off x="6096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05</a:t>
            </a:r>
            <a:endParaRPr lang="en-US" sz="2400" b="1" dirty="0"/>
          </a:p>
        </p:txBody>
      </p:sp>
      <p:sp>
        <p:nvSpPr>
          <p:cNvPr id="15" name="Text 13"/>
          <p:cNvSpPr txBox="1"/>
          <p:nvPr/>
        </p:nvSpPr>
        <p:spPr>
          <a:xfrm>
            <a:off x="10668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Correlación negativa entre ingresos y deuda. </a:t>
            </a:r>
            <a:r>
              <a:rPr lang="en-US" sz="1400" b="1" dirty="0">
                <a:solidFill>
                  <a:srgbClr val="2B2B24"/>
                </a:solidFill>
                <a:latin typeface="Calibri" pitchFamily="34" charset="0"/>
                <a:ea typeface="Calibri" pitchFamily="34" charset="-122"/>
                <a:cs typeface="Calibri" pitchFamily="34" charset="-120"/>
              </a:rPr>
              <a:t>La deuda de prestadores activos equivale a 1,8% de la cobranza anual, pero se concentra en Nahuel Huapi, que reúne 54,9% de ese pasivo.</a:t>
            </a:r>
            <a:endParaRPr lang="en-US" sz="1400" b="1" dirty="0"/>
          </a:p>
        </p:txBody>
      </p:sp>
      <p:sp>
        <p:nvSpPr>
          <p:cNvPr id="16" name="Text 14"/>
          <p:cNvSpPr txBox="1"/>
          <p:nvPr/>
        </p:nvSpPr>
        <p:spPr>
          <a:xfrm>
            <a:off x="62992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06</a:t>
            </a:r>
            <a:endParaRPr lang="en-US" sz="2400" b="1" dirty="0"/>
          </a:p>
        </p:txBody>
      </p:sp>
      <p:sp>
        <p:nvSpPr>
          <p:cNvPr id="17" name="Text 15"/>
          <p:cNvSpPr txBox="1"/>
          <p:nvPr/>
        </p:nvSpPr>
        <p:spPr>
          <a:xfrm>
            <a:off x="67564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Foco de atención. </a:t>
            </a:r>
            <a:r>
              <a:rPr lang="en-US" sz="1400" b="1" dirty="0">
                <a:solidFill>
                  <a:srgbClr val="2B2B24"/>
                </a:solidFill>
                <a:latin typeface="Calibri" pitchFamily="34" charset="0"/>
                <a:ea typeface="Calibri" pitchFamily="34" charset="-122"/>
                <a:cs typeface="Calibri" pitchFamily="34" charset="-120"/>
              </a:rPr>
              <a:t>Tranex Turismo se destaca negativamente entre los principales operadores —cae 39% en el último ciclo— e impacta sobre la performance del PN Tierra del Fuego.</a:t>
            </a:r>
            <a:endParaRPr lang="en-US" sz="14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2381</Words>
  <Application>Microsoft Office PowerPoint</Application>
  <PresentationFormat>Panorámica</PresentationFormat>
  <Paragraphs>597</Paragraphs>
  <Slides>14</Slides>
  <Notes>14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14</vt:i4>
      </vt:variant>
    </vt:vector>
  </HeadingPairs>
  <TitlesOfParts>
    <vt:vector size="1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Informe de cobranzas — agosto 2023 a septiembre 2026</dc:title>
  <dc:subject>PptxGenJS Presentation</dc:subject>
  <dc:creator>Fernando Fascie</dc:creator>
  <cp:lastModifiedBy>Fernando Fascie</cp:lastModifiedBy>
  <cp:revision>8</cp:revision>
  <dcterms:created xsi:type="dcterms:W3CDTF">2026-09-10T18:07:47Z</dcterms:created>
  <dcterms:modified xsi:type="dcterms:W3CDTF">2026-09-10T19:05:41Z</dcterms:modified>
</cp:coreProperties>
</file>