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279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F1D"/>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39800" y="1905000"/>
            <a:ext cx="3048000" cy="3048000"/>
          </a:xfrm>
          <a:prstGeom prst="rect">
            <a:avLst/>
          </a:prstGeom>
        </p:spPr>
      </p:pic>
      <p:sp>
        <p:nvSpPr>
          <p:cNvPr id="3" name="Text 0"/>
          <p:cNvSpPr txBox="1"/>
          <p:nvPr/>
        </p:nvSpPr>
        <p:spPr>
          <a:xfrm>
            <a:off x="4699000" y="1905000"/>
            <a:ext cx="6604000" cy="228600"/>
          </a:xfrm>
          <a:prstGeom prst="rect">
            <a:avLst/>
          </a:prstGeom>
          <a:noFill/>
          <a:ln/>
        </p:spPr>
        <p:txBody>
          <a:bodyPr wrap="square" lIns="0" tIns="0" rIns="0" bIns="0" rtlCol="0" anchor="ctr"/>
          <a:lstStyle/>
          <a:p>
            <a:pPr marL="0" indent="0">
              <a:buNone/>
            </a:pPr>
            <a:r>
              <a:rPr lang="en-US" sz="1600" b="1" kern="0" spc="200" dirty="0">
                <a:solidFill>
                  <a:srgbClr val="A9C88C"/>
                </a:solidFill>
                <a:latin typeface="Calibri" pitchFamily="34" charset="0"/>
                <a:ea typeface="Calibri" pitchFamily="34" charset="-122"/>
                <a:cs typeface="Calibri" pitchFamily="34" charset="-120"/>
              </a:rPr>
              <a:t>ADMINISTRACIÓN DE PARQUES NACIONALES</a:t>
            </a:r>
            <a:endParaRPr lang="en-US" sz="1600" dirty="0"/>
          </a:p>
        </p:txBody>
      </p:sp>
      <p:sp>
        <p:nvSpPr>
          <p:cNvPr id="4" name="Text 1"/>
          <p:cNvSpPr txBox="1"/>
          <p:nvPr/>
        </p:nvSpPr>
        <p:spPr>
          <a:xfrm>
            <a:off x="4699000" y="2235200"/>
            <a:ext cx="6604000" cy="508000"/>
          </a:xfrm>
          <a:prstGeom prst="rect">
            <a:avLst/>
          </a:prstGeom>
          <a:noFill/>
          <a:ln/>
        </p:spPr>
        <p:txBody>
          <a:bodyPr wrap="square" lIns="0" tIns="0" rIns="0" bIns="0" rtlCol="0" anchor="ctr"/>
          <a:lstStyle/>
          <a:p>
            <a:pPr marL="0" indent="0">
              <a:lnSpc>
                <a:spcPct val="130000"/>
              </a:lnSpc>
              <a:buNone/>
            </a:pPr>
            <a:r>
              <a:rPr lang="en-US" sz="1400" b="1" dirty="0">
                <a:solidFill>
                  <a:srgbClr val="E8EFE0"/>
                </a:solidFill>
                <a:latin typeface="Calibri" pitchFamily="34" charset="0"/>
                <a:ea typeface="Calibri" pitchFamily="34" charset="-122"/>
                <a:cs typeface="Calibri" pitchFamily="34" charset="-120"/>
              </a:rPr>
              <a:t>Dirección Nacional de Uso Público</a:t>
            </a:r>
            <a:endParaRPr lang="en-US" sz="1400" b="1" dirty="0"/>
          </a:p>
          <a:p>
            <a:pPr marL="0" indent="0">
              <a:lnSpc>
                <a:spcPct val="130000"/>
              </a:lnSpc>
              <a:buNone/>
            </a:pPr>
            <a:r>
              <a:rPr lang="en-US" sz="1400" b="1" dirty="0">
                <a:solidFill>
                  <a:srgbClr val="E8EFE0"/>
                </a:solidFill>
                <a:latin typeface="Calibri" pitchFamily="34" charset="0"/>
                <a:ea typeface="Calibri" pitchFamily="34" charset="-122"/>
                <a:cs typeface="Calibri" pitchFamily="34" charset="-120"/>
              </a:rPr>
              <a:t>Dirección de Concesiones</a:t>
            </a:r>
            <a:endParaRPr lang="en-US" sz="1400" b="1" dirty="0"/>
          </a:p>
        </p:txBody>
      </p:sp>
      <p:sp>
        <p:nvSpPr>
          <p:cNvPr id="5" name="Text 2"/>
          <p:cNvSpPr txBox="1"/>
          <p:nvPr/>
        </p:nvSpPr>
        <p:spPr>
          <a:xfrm>
            <a:off x="4699000" y="2895600"/>
            <a:ext cx="6959600" cy="1600200"/>
          </a:xfrm>
          <a:prstGeom prst="rect">
            <a:avLst/>
          </a:prstGeom>
          <a:noFill/>
          <a:ln/>
        </p:spPr>
        <p:txBody>
          <a:bodyPr wrap="square" lIns="0" tIns="0" rIns="0" bIns="0" rtlCol="0" anchor="ctr"/>
          <a:lstStyle/>
          <a:p>
            <a:pPr marL="0" indent="0">
              <a:lnSpc>
                <a:spcPct val="115000"/>
              </a:lnSpc>
              <a:buNone/>
            </a:pPr>
            <a:r>
              <a:rPr lang="en-US" sz="3400" b="1" dirty="0">
                <a:solidFill>
                  <a:srgbClr val="FFFFFF"/>
                </a:solidFill>
                <a:latin typeface="Calibri" pitchFamily="34" charset="0"/>
                <a:ea typeface="Calibri" pitchFamily="34" charset="-122"/>
                <a:cs typeface="Calibri" pitchFamily="34" charset="-120"/>
              </a:rPr>
              <a:t>INFORME DE COBRANZAS</a:t>
            </a:r>
            <a:endParaRPr lang="en-US" sz="3400" dirty="0"/>
          </a:p>
          <a:p>
            <a:pPr marL="0" indent="0">
              <a:lnSpc>
                <a:spcPct val="115000"/>
              </a:lnSpc>
              <a:buNone/>
            </a:pPr>
            <a:r>
              <a:rPr lang="en-US" sz="3400" b="1" dirty="0">
                <a:solidFill>
                  <a:srgbClr val="FFFFFF"/>
                </a:solidFill>
                <a:latin typeface="Calibri" pitchFamily="34" charset="0"/>
                <a:ea typeface="Calibri" pitchFamily="34" charset="-122"/>
                <a:cs typeface="Calibri" pitchFamily="34" charset="-120"/>
              </a:rPr>
              <a:t>EVOLUCIÓN POR PERÍODO OPERATIVO</a:t>
            </a:r>
            <a:endParaRPr lang="en-US" sz="3400" dirty="0"/>
          </a:p>
        </p:txBody>
      </p:sp>
      <p:sp>
        <p:nvSpPr>
          <p:cNvPr id="6" name="Text 3"/>
          <p:cNvSpPr txBox="1"/>
          <p:nvPr/>
        </p:nvSpPr>
        <p:spPr>
          <a:xfrm>
            <a:off x="4699000" y="4648200"/>
            <a:ext cx="6604000" cy="254000"/>
          </a:xfrm>
          <a:prstGeom prst="rect">
            <a:avLst/>
          </a:prstGeom>
          <a:noFill/>
          <a:ln/>
        </p:spPr>
        <p:txBody>
          <a:bodyPr wrap="square" lIns="0" tIns="0" rIns="0" bIns="0" rtlCol="0" anchor="ctr"/>
          <a:lstStyle/>
          <a:p>
            <a:pPr marL="0" indent="0">
              <a:buNone/>
            </a:pPr>
            <a:r>
              <a:rPr lang="en-US" sz="1400" i="1" dirty="0">
                <a:solidFill>
                  <a:srgbClr val="A9C88C"/>
                </a:solidFill>
                <a:latin typeface="Calibri" pitchFamily="34" charset="0"/>
                <a:ea typeface="Calibri" pitchFamily="34" charset="-122"/>
                <a:cs typeface="Calibri" pitchFamily="34" charset="-120"/>
              </a:rPr>
              <a:t>Agosto 2023 – Septiembre 2026</a:t>
            </a:r>
            <a:endParaRPr lang="en-US" sz="1400" dirty="0"/>
          </a:p>
        </p:txBody>
      </p:sp>
      <p:sp>
        <p:nvSpPr>
          <p:cNvPr id="7" name="Text 4"/>
          <p:cNvSpPr txBox="1"/>
          <p:nvPr/>
        </p:nvSpPr>
        <p:spPr>
          <a:xfrm>
            <a:off x="4699000" y="4978400"/>
            <a:ext cx="6604000" cy="228600"/>
          </a:xfrm>
          <a:prstGeom prst="rect">
            <a:avLst/>
          </a:prstGeom>
          <a:noFill/>
          <a:ln/>
        </p:spPr>
        <p:txBody>
          <a:bodyPr wrap="square" lIns="0" tIns="0" rIns="0" bIns="0" rtlCol="0" anchor="ctr"/>
          <a:lstStyle/>
          <a:p>
            <a:pPr marL="0" indent="0">
              <a:buNone/>
            </a:pPr>
            <a:r>
              <a:rPr lang="en-US" sz="1100" dirty="0">
                <a:solidFill>
                  <a:srgbClr val="C6D8B4"/>
                </a:solidFill>
                <a:latin typeface="Calibri" pitchFamily="34" charset="0"/>
                <a:ea typeface="Calibri" pitchFamily="34" charset="-122"/>
                <a:cs typeface="Calibri" pitchFamily="34" charset="-120"/>
              </a:rPr>
              <a:t>Generado por: Fernando Fascie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ALCANCE DEL INFORME</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Universo relevado y criterio de corte</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5" name="Text 3"/>
          <p:cNvSpPr txBox="1"/>
          <p:nvPr/>
        </p:nvSpPr>
        <p:spPr>
          <a:xfrm>
            <a:off x="609600" y="1810223"/>
            <a:ext cx="5969000" cy="3175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Este informe analiza en forma consolidada los datos de cobranzas disponibles en ReNaRI, para todos los pagos registrados por el sistema —excluidos los imputados a medios de pago electrónico— y para el universo depurado de prestadores turísticos.</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La información se organiza en </a:t>
            </a:r>
            <a:r>
              <a:rPr lang="en-US" sz="1400" b="1" dirty="0">
                <a:solidFill>
                  <a:srgbClr val="2B2B24"/>
                </a:solidFill>
                <a:latin typeface="Calibri" pitchFamily="34" charset="0"/>
                <a:ea typeface="Calibri" pitchFamily="34" charset="-122"/>
                <a:cs typeface="Calibri" pitchFamily="34" charset="-120"/>
              </a:rPr>
              <a:t>tres ciclos anuales operativos de octubre a septiembre, contados hacia atrás desde el 30 de septiembre de 2026. Agosto y septiembre de 2023 quedan fuera de los tres ciclos y sólo se computan en las series mensuales.</a:t>
            </a:r>
            <a:r>
              <a:rPr lang="en-US" sz="1400" dirty="0">
                <a:solidFill>
                  <a:srgbClr val="2B2B24"/>
                </a:solidFill>
                <a:latin typeface="Calibri" pitchFamily="34" charset="0"/>
                <a:ea typeface="Calibri" pitchFamily="34" charset="-122"/>
                <a:cs typeface="Calibri" pitchFamily="34" charset="-120"/>
              </a:rPr>
              <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montos se expresan en </a:t>
            </a:r>
            <a:r>
              <a:rPr lang="en-US" sz="1400" b="1" dirty="0">
                <a:solidFill>
                  <a:srgbClr val="2B2B24"/>
                </a:solidFill>
                <a:latin typeface="Calibri" pitchFamily="34" charset="0"/>
                <a:ea typeface="Calibri" pitchFamily="34" charset="-122"/>
                <a:cs typeface="Calibri" pitchFamily="34" charset="-120"/>
              </a:rPr>
              <a:t>pesos constantes ajustados por CER</a:t>
            </a:r>
            <a:r>
              <a:rPr lang="en-US" sz="1400" dirty="0">
                <a:solidFill>
                  <a:srgbClr val="2B2B24"/>
                </a:solidFill>
                <a:latin typeface="Calibri" pitchFamily="34" charset="0"/>
                <a:ea typeface="Calibri" pitchFamily="34" charset="-122"/>
                <a:cs typeface="Calibri" pitchFamily="34" charset="-120"/>
              </a:rPr>
              <a:t>, para reflejar el valor real de los ingresos; en </a:t>
            </a:r>
            <a:r>
              <a:rPr lang="en-US" sz="1400" b="1" dirty="0">
                <a:solidFill>
                  <a:srgbClr val="2B2B24"/>
                </a:solidFill>
                <a:latin typeface="Calibri" pitchFamily="34" charset="0"/>
                <a:ea typeface="Calibri" pitchFamily="34" charset="-122"/>
                <a:cs typeface="Calibri" pitchFamily="34" charset="-120"/>
              </a:rPr>
              <a:t>dólares al tipo de cambio oficial</a:t>
            </a:r>
            <a:r>
              <a:rPr lang="en-US" sz="1400" dirty="0">
                <a:solidFill>
                  <a:srgbClr val="2B2B24"/>
                </a:solidFill>
                <a:latin typeface="Calibri" pitchFamily="34" charset="0"/>
                <a:ea typeface="Calibri" pitchFamily="34" charset="-122"/>
                <a:cs typeface="Calibri" pitchFamily="34" charset="-120"/>
              </a:rPr>
              <a:t>; y en </a:t>
            </a:r>
            <a:r>
              <a:rPr lang="en-US" sz="1400" b="1" dirty="0">
                <a:solidFill>
                  <a:srgbClr val="2B2B24"/>
                </a:solidFill>
                <a:latin typeface="Calibri" pitchFamily="34" charset="0"/>
                <a:ea typeface="Calibri" pitchFamily="34" charset="-122"/>
                <a:cs typeface="Calibri" pitchFamily="34" charset="-120"/>
              </a:rPr>
              <a:t>pesos corrientes</a:t>
            </a:r>
            <a:r>
              <a:rPr lang="en-US" sz="1400" dirty="0">
                <a:solidFill>
                  <a:srgbClr val="2B2B24"/>
                </a:solidFill>
                <a:latin typeface="Calibri" pitchFamily="34" charset="0"/>
                <a:ea typeface="Calibri" pitchFamily="34" charset="-122"/>
                <a:cs typeface="Calibri" pitchFamily="34" charset="-120"/>
              </a:rPr>
              <a:t>, que indica el valor nominal registrado en el insumo estadístico utilizado.</a:t>
            </a:r>
            <a:endParaRPr lang="en-US" sz="1400" dirty="0"/>
          </a:p>
        </p:txBody>
      </p:sp>
      <p:sp>
        <p:nvSpPr>
          <p:cNvPr id="6" name="Text 4"/>
          <p:cNvSpPr txBox="1"/>
          <p:nvPr/>
        </p:nvSpPr>
        <p:spPr>
          <a:xfrm>
            <a:off x="711200" y="5511800"/>
            <a:ext cx="5969000" cy="762000"/>
          </a:xfrm>
          <a:prstGeom prst="rect">
            <a:avLst/>
          </a:prstGeom>
          <a:noFill/>
          <a:ln/>
        </p:spPr>
        <p:txBody>
          <a:bodyPr wrap="square" lIns="0" tIns="0" rIns="0" bIns="0" rtlCol="0" anchor="ctr"/>
          <a:lstStyle/>
          <a:p>
            <a:pPr marL="0" indent="0">
              <a:lnSpc>
                <a:spcPct val="120000"/>
              </a:lnSpc>
              <a:buNone/>
            </a:pPr>
            <a:r>
              <a:rPr lang="en-US" sz="900" dirty="0">
                <a:solidFill>
                  <a:srgbClr val="6E6B5E"/>
                </a:solidFill>
                <a:latin typeface="Calibri" pitchFamily="34" charset="0"/>
                <a:ea typeface="Calibri" pitchFamily="34" charset="-122"/>
                <a:cs typeface="Calibri" pitchFamily="34" charset="-120"/>
              </a:rPr>
              <a:t>Desde el 13 de diciembre de 2023 los valores en dólares se computan al tipo de cambio minorista vendedor del BCRA; el período precedente se calculó a la paridad del “dólar blue” vendedor, lo que puede sobreponderar los flujos dolarizados del primer ciclo.</a:t>
            </a:r>
            <a:endParaRPr lang="en-US" sz="900" dirty="0"/>
          </a:p>
        </p:txBody>
      </p:sp>
      <p:sp>
        <p:nvSpPr>
          <p:cNvPr id="7" name="Shape 5"/>
          <p:cNvSpPr/>
          <p:nvPr/>
        </p:nvSpPr>
        <p:spPr>
          <a:xfrm>
            <a:off x="7112000" y="1346200"/>
            <a:ext cx="4470400" cy="1363133"/>
          </a:xfrm>
          <a:prstGeom prst="roundRect">
            <a:avLst>
              <a:gd name="adj" fmla="val 4025"/>
            </a:avLst>
          </a:prstGeom>
          <a:solidFill>
            <a:srgbClr val="2C5F2D"/>
          </a:solidFill>
          <a:ln w="9525">
            <a:solidFill>
              <a:srgbClr val="2C5F2D"/>
            </a:solidFill>
            <a:prstDash val="solid"/>
          </a:ln>
        </p:spPr>
        <p:txBody>
          <a:bodyPr/>
          <a:lstStyle/>
          <a:p>
            <a:pPr/>
            <a:endParaRPr lang="es-AR"/>
          </a:p>
        </p:txBody>
      </p:sp>
      <p:sp>
        <p:nvSpPr>
          <p:cNvPr id="8" name="Text 6"/>
          <p:cNvSpPr txBox="1"/>
          <p:nvPr/>
        </p:nvSpPr>
        <p:spPr>
          <a:xfrm>
            <a:off x="7213600" y="1346200"/>
            <a:ext cx="4267200" cy="1363133"/>
          </a:xfrm>
          <a:prstGeom prst="rect">
            <a:avLst/>
          </a:prstGeom>
          <a:noFill/>
          <a:ln/>
        </p:spPr>
        <p:txBody>
          <a:bodyPr wrap="square" lIns="0" tIns="0" rIns="0" bIns="0" rtlCol="0" anchor="ctr"/>
          <a:lstStyle/>
          <a:p>
            <a:pPr marL="0" indent="0" algn="ctr">
              <a:lnSpc>
                <a:spcPct val="105000"/>
              </a:lnSpc>
              <a:buNone/>
            </a:pPr>
            <a:r>
              <a:rPr lang="en-US" sz="3600" b="1" dirty="0">
                <a:solidFill>
                  <a:srgbClr val="FFFFFF"/>
                </a:solidFill>
                <a:latin typeface="Calibri" pitchFamily="34" charset="0"/>
                <a:ea typeface="Calibri" pitchFamily="34" charset="-122"/>
                <a:cs typeface="Calibri" pitchFamily="34" charset="-120"/>
              </a:rPr>
              <a:t>38</a:t>
            </a:r>
            <a:endParaRPr lang="en-US" sz="3600" dirty="0"/>
          </a:p>
          <a:p>
            <a:pPr marL="0" indent="0" algn="ctr">
              <a:lnSpc>
                <a:spcPct val="105000"/>
              </a:lnSpc>
              <a:buNone/>
            </a:pPr>
            <a:r>
              <a:rPr lang="en-US" sz="1200" dirty="0">
                <a:solidFill>
                  <a:srgbClr val="D8E5CB"/>
                </a:solidFill>
                <a:latin typeface="Calibri" pitchFamily="34" charset="0"/>
                <a:ea typeface="Calibri" pitchFamily="34" charset="-122"/>
                <a:cs typeface="Calibri" pitchFamily="34" charset="-120"/>
              </a:rPr>
              <a:t>meses relevados, de agosto 2023 a septiembre 2026</a:t>
            </a:r>
            <a:endParaRPr lang="en-US" sz="1200" dirty="0"/>
          </a:p>
        </p:txBody>
      </p:sp>
      <p:sp>
        <p:nvSpPr>
          <p:cNvPr id="9" name="Shape 7"/>
          <p:cNvSpPr/>
          <p:nvPr/>
        </p:nvSpPr>
        <p:spPr>
          <a:xfrm>
            <a:off x="7112000" y="2861733"/>
            <a:ext cx="4470400" cy="1363133"/>
          </a:xfrm>
          <a:prstGeom prst="roundRect">
            <a:avLst>
              <a:gd name="adj" fmla="val 4025"/>
            </a:avLst>
          </a:prstGeom>
          <a:solidFill>
            <a:srgbClr val="F0F5E9"/>
          </a:solidFill>
          <a:ln w="9525">
            <a:solidFill>
              <a:srgbClr val="DCE6D0"/>
            </a:solidFill>
            <a:prstDash val="solid"/>
          </a:ln>
        </p:spPr>
        <p:txBody>
          <a:bodyPr/>
          <a:lstStyle/>
          <a:p>
            <a:pPr/>
            <a:endParaRPr lang="es-AR"/>
          </a:p>
        </p:txBody>
      </p:sp>
      <p:sp>
        <p:nvSpPr>
          <p:cNvPr id="10" name="Text 8"/>
          <p:cNvSpPr txBox="1"/>
          <p:nvPr/>
        </p:nvSpPr>
        <p:spPr>
          <a:xfrm>
            <a:off x="7213600" y="2861733"/>
            <a:ext cx="4267200" cy="13631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3</a:t>
            </a:r>
            <a:endParaRPr lang="en-US" sz="3200" dirty="0"/>
          </a:p>
          <a:p>
            <a:pPr marL="0" indent="0" algn="ctr">
              <a:lnSpc>
                <a:spcPct val="105000"/>
              </a:lnSpc>
              <a:buNone/>
            </a:pPr>
            <a:r>
              <a:rPr lang="en-US" sz="1200" dirty="0">
                <a:solidFill>
                  <a:srgbClr val="5C6B52"/>
                </a:solidFill>
                <a:latin typeface="Calibri" pitchFamily="34" charset="0"/>
                <a:ea typeface="Calibri" pitchFamily="34" charset="-122"/>
                <a:cs typeface="Calibri" pitchFamily="34" charset="-120"/>
              </a:rPr>
              <a:t>ciclos anuales de octubre a septiembre</a:t>
            </a:r>
            <a:endParaRPr lang="en-US" sz="1200" dirty="0"/>
          </a:p>
        </p:txBody>
      </p:sp>
      <p:sp>
        <p:nvSpPr>
          <p:cNvPr id="11" name="Shape 9"/>
          <p:cNvSpPr/>
          <p:nvPr/>
        </p:nvSpPr>
        <p:spPr>
          <a:xfrm>
            <a:off x="7112000" y="4377267"/>
            <a:ext cx="4470400" cy="1363133"/>
          </a:xfrm>
          <a:prstGeom prst="roundRect">
            <a:avLst>
              <a:gd name="adj" fmla="val 4025"/>
            </a:avLst>
          </a:prstGeom>
          <a:solidFill>
            <a:srgbClr val="F0F5E9"/>
          </a:solidFill>
          <a:ln w="9525">
            <a:solidFill>
              <a:srgbClr val="DCE6D0"/>
            </a:solidFill>
            <a:prstDash val="solid"/>
          </a:ln>
        </p:spPr>
        <p:txBody>
          <a:bodyPr/>
          <a:lstStyle/>
          <a:p>
            <a:pPr/>
            <a:endParaRPr lang="es-AR"/>
          </a:p>
        </p:txBody>
      </p:sp>
      <p:sp>
        <p:nvSpPr>
          <p:cNvPr id="12" name="Text 10"/>
          <p:cNvSpPr txBox="1"/>
          <p:nvPr/>
        </p:nvSpPr>
        <p:spPr>
          <a:xfrm>
            <a:off x="7213600" y="4377267"/>
            <a:ext cx="4267200" cy="13631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2</a:t>
            </a:r>
            <a:endParaRPr lang="en-US" sz="3200" dirty="0"/>
          </a:p>
          <a:p>
            <a:pPr marL="0" indent="0" algn="ctr">
              <a:lnSpc>
                <a:spcPct val="105000"/>
              </a:lnSpc>
              <a:buNone/>
            </a:pPr>
            <a:r>
              <a:rPr lang="en-US" sz="1200" dirty="0">
                <a:solidFill>
                  <a:srgbClr val="5C6B52"/>
                </a:solidFill>
                <a:latin typeface="Calibri" pitchFamily="34" charset="0"/>
                <a:ea typeface="Calibri" pitchFamily="34" charset="-122"/>
                <a:cs typeface="Calibri" pitchFamily="34" charset="-120"/>
              </a:rPr>
              <a:t>universos: pagos totales y prestadores turísticos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RESUMEN EJECUTIVO</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Contracción real sostenida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por período anual a pesos constantes</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6" name="Shape 4"/>
          <p:cNvSpPr/>
          <p:nvPr/>
        </p:nvSpPr>
        <p:spPr>
          <a:xfrm>
            <a:off x="609600" y="1422400"/>
            <a:ext cx="2628900" cy="1168400"/>
          </a:xfrm>
          <a:prstGeom prst="roundRect">
            <a:avLst>
              <a:gd name="adj" fmla="val 4696"/>
            </a:avLst>
          </a:prstGeom>
          <a:solidFill>
            <a:srgbClr val="2C5F2D"/>
          </a:solidFill>
          <a:ln w="9525">
            <a:solidFill>
              <a:srgbClr val="2C5F2D"/>
            </a:solidFill>
            <a:prstDash val="solid"/>
          </a:ln>
        </p:spPr>
        <p:txBody>
          <a:bodyPr/>
          <a:lstStyle/>
          <a:p>
            <a:pPr/>
            <a:endParaRPr lang="es-AR"/>
          </a:p>
        </p:txBody>
      </p:sp>
      <p:sp>
        <p:nvSpPr>
          <p:cNvPr id="7" name="Text 5"/>
          <p:cNvSpPr txBox="1"/>
          <p:nvPr/>
        </p:nvSpPr>
        <p:spPr>
          <a:xfrm>
            <a:off x="7112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FFFFFF"/>
                </a:solidFill>
                <a:latin typeface="Calibri" pitchFamily="34" charset="0"/>
                <a:ea typeface="Calibri" pitchFamily="34" charset="-122"/>
                <a:cs typeface="Calibri" pitchFamily="34" charset="-120"/>
              </a:rPr>
              <a:t>−24%</a:t>
            </a:r>
            <a:endParaRPr lang="en-US" sz="24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caída real de los pagos totales en la serie</a:t>
            </a:r>
            <a:endParaRPr lang="en-US" sz="1100" dirty="0"/>
          </a:p>
        </p:txBody>
      </p:sp>
      <p:sp>
        <p:nvSpPr>
          <p:cNvPr id="8" name="Shape 6"/>
          <p:cNvSpPr/>
          <p:nvPr/>
        </p:nvSpPr>
        <p:spPr>
          <a:xfrm>
            <a:off x="33909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9" name="Text 7"/>
          <p:cNvSpPr txBox="1"/>
          <p:nvPr/>
        </p:nvSpPr>
        <p:spPr>
          <a:xfrm>
            <a:off x="34925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−19%</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caída real entre prestadores turísticos</a:t>
            </a:r>
            <a:endParaRPr lang="en-US" sz="1100" dirty="0"/>
          </a:p>
        </p:txBody>
      </p:sp>
      <p:sp>
        <p:nvSpPr>
          <p:cNvPr id="10" name="Shape 8"/>
          <p:cNvSpPr/>
          <p:nvPr/>
        </p:nvSpPr>
        <p:spPr>
          <a:xfrm>
            <a:off x="61722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11" name="Text 9"/>
          <p:cNvSpPr txBox="1"/>
          <p:nvPr/>
        </p:nvSpPr>
        <p:spPr>
          <a:xfrm>
            <a:off x="62738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$ 44,0 M</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cobranza del último ciclo, a pesos constantes</a:t>
            </a:r>
            <a:endParaRPr lang="en-US" sz="1100" dirty="0"/>
          </a:p>
        </p:txBody>
      </p:sp>
      <p:sp>
        <p:nvSpPr>
          <p:cNvPr id="12" name="Shape 10"/>
          <p:cNvSpPr/>
          <p:nvPr/>
        </p:nvSpPr>
        <p:spPr>
          <a:xfrm>
            <a:off x="8953500" y="1422400"/>
            <a:ext cx="2628900" cy="1168400"/>
          </a:xfrm>
          <a:prstGeom prst="roundRect">
            <a:avLst>
              <a:gd name="adj" fmla="val 4696"/>
            </a:avLst>
          </a:prstGeom>
          <a:solidFill>
            <a:srgbClr val="F0F5E9"/>
          </a:solidFill>
          <a:ln w="9525">
            <a:solidFill>
              <a:srgbClr val="DCE6D0"/>
            </a:solidFill>
            <a:prstDash val="solid"/>
          </a:ln>
        </p:spPr>
        <p:txBody>
          <a:bodyPr/>
          <a:lstStyle/>
          <a:p>
            <a:pPr/>
            <a:endParaRPr lang="es-AR"/>
          </a:p>
        </p:txBody>
      </p:sp>
      <p:sp>
        <p:nvSpPr>
          <p:cNvPr id="13" name="Text 11"/>
          <p:cNvSpPr txBox="1"/>
          <p:nvPr/>
        </p:nvSpPr>
        <p:spPr>
          <a:xfrm>
            <a:off x="9055100" y="1422400"/>
            <a:ext cx="2425700" cy="1168400"/>
          </a:xfrm>
          <a:prstGeom prst="rect">
            <a:avLst/>
          </a:prstGeom>
          <a:noFill/>
          <a:ln/>
        </p:spPr>
        <p:txBody>
          <a:bodyPr wrap="square" lIns="0" tIns="0" rIns="0" bIns="0" rtlCol="0" anchor="ctr"/>
          <a:lstStyle/>
          <a:p>
            <a:pPr marL="0" indent="0" algn="ctr">
              <a:lnSpc>
                <a:spcPct val="105000"/>
              </a:lnSpc>
              <a:buNone/>
            </a:pPr>
            <a:r>
              <a:rPr lang="en-US" sz="2400" b="1" dirty="0">
                <a:solidFill>
                  <a:srgbClr val="2C5F2D"/>
                </a:solidFill>
                <a:latin typeface="Calibri" pitchFamily="34" charset="0"/>
                <a:ea typeface="Calibri" pitchFamily="34" charset="-122"/>
                <a:cs typeface="Calibri" pitchFamily="34" charset="-120"/>
              </a:rPr>
              <a:t>72%</a:t>
            </a:r>
            <a:endParaRPr lang="en-US" sz="24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la cobranza depurada es de prestadores turísticos</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2552663543"/>
              </p:ext>
            </p:extLst>
          </p:nvPr>
        </p:nvGraphicFramePr>
        <p:xfrm>
          <a:off x="609600" y="3301754"/>
          <a:ext cx="10972800" cy="1082040"/>
        </p:xfrm>
        <a:graphic>
          <a:graphicData uri="http://schemas.openxmlformats.org/drawingml/2006/table">
            <a:tbl>
              <a:tblPr/>
              <a:tblGrid>
                <a:gridCol w="2692400">
                  <a:extLst>
                    <a:ext uri="{9D8B030D-6E8A-4147-A177-3AD203B41FA5}">
                      <a16:colId xmlns:a16="http://schemas.microsoft.com/office/drawing/2014/main" val="20000"/>
                    </a:ext>
                  </a:extLst>
                </a:gridCol>
                <a:gridCol w="1498600">
                  <a:extLst>
                    <a:ext uri="{9D8B030D-6E8A-4147-A177-3AD203B41FA5}">
                      <a16:colId xmlns:a16="http://schemas.microsoft.com/office/drawing/2014/main" val="20001"/>
                    </a:ext>
                  </a:extLst>
                </a:gridCol>
                <a:gridCol w="1498600">
                  <a:extLst>
                    <a:ext uri="{9D8B030D-6E8A-4147-A177-3AD203B41FA5}">
                      <a16:colId xmlns:a16="http://schemas.microsoft.com/office/drawing/2014/main" val="20002"/>
                    </a:ext>
                  </a:extLst>
                </a:gridCol>
                <a:gridCol w="1498600">
                  <a:extLst>
                    <a:ext uri="{9D8B030D-6E8A-4147-A177-3AD203B41FA5}">
                      <a16:colId xmlns:a16="http://schemas.microsoft.com/office/drawing/2014/main" val="20003"/>
                    </a:ext>
                  </a:extLst>
                </a:gridCol>
                <a:gridCol w="1892300">
                  <a:extLst>
                    <a:ext uri="{9D8B030D-6E8A-4147-A177-3AD203B41FA5}">
                      <a16:colId xmlns:a16="http://schemas.microsoft.com/office/drawing/2014/main" val="20004"/>
                    </a:ext>
                  </a:extLst>
                </a:gridCol>
                <a:gridCol w="1892300">
                  <a:extLst>
                    <a:ext uri="{9D8B030D-6E8A-4147-A177-3AD203B41FA5}">
                      <a16:colId xmlns:a16="http://schemas.microsoft.com/office/drawing/2014/main" val="20005"/>
                    </a:ext>
                  </a:extLst>
                </a:gridCol>
              </a:tblGrid>
              <a:tr h="0">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Universo</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i.a. 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i.a. 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Pagos totales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51,0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44,0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Prestadores turísticos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39,1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35,6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31,7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bl>
          </a:graphicData>
        </a:graphic>
      </p:graphicFrame>
      <p:sp>
        <p:nvSpPr>
          <p:cNvPr id="15" name="Shape 12"/>
          <p:cNvSpPr/>
          <p:nvPr/>
        </p:nvSpPr>
        <p:spPr>
          <a:xfrm>
            <a:off x="533400" y="5041900"/>
            <a:ext cx="10972800" cy="711200"/>
          </a:xfrm>
          <a:prstGeom prst="roundRect">
            <a:avLst>
              <a:gd name="adj" fmla="val 6429"/>
            </a:avLst>
          </a:prstGeom>
          <a:solidFill>
            <a:srgbClr val="F6F9F1"/>
          </a:solidFill>
          <a:ln w="9525">
            <a:solidFill>
              <a:srgbClr val="E1EBD6"/>
            </a:solidFill>
            <a:prstDash val="solid"/>
          </a:ln>
        </p:spPr>
        <p:txBody>
          <a:bodyPr/>
          <a:lstStyle/>
          <a:p>
            <a:pPr/>
            <a:endParaRPr lang="es-AR"/>
          </a:p>
        </p:txBody>
      </p:sp>
      <p:sp>
        <p:nvSpPr>
          <p:cNvPr id="16" name="Text 13"/>
          <p:cNvSpPr txBox="1"/>
          <p:nvPr/>
        </p:nvSpPr>
        <p:spPr>
          <a:xfrm>
            <a:off x="685800" y="5118100"/>
            <a:ext cx="10668000" cy="558800"/>
          </a:xfrm>
          <a:prstGeom prst="rect">
            <a:avLst/>
          </a:prstGeom>
          <a:noFill/>
          <a:ln/>
        </p:spPr>
        <p:txBody>
          <a:bodyPr wrap="square" lIns="0" tIns="0" rIns="0" bIns="0" rtlCol="0" anchor="ctr"/>
          <a:lstStyle/>
          <a:p>
            <a:pPr marL="0" indent="0">
              <a:lnSpc>
                <a:spcPct val="120000"/>
              </a:lnSpc>
              <a:buNone/>
            </a:pPr>
            <a:r>
              <a:rPr lang="en-US" sz="1200" b="1" dirty="0">
                <a:solidFill>
                  <a:srgbClr val="2B2B24"/>
                </a:solidFill>
                <a:latin typeface="Calibri" pitchFamily="34" charset="0"/>
                <a:ea typeface="Calibri" pitchFamily="34" charset="-122"/>
                <a:cs typeface="Calibri" pitchFamily="34" charset="-120"/>
              </a:rPr>
              <a:t>Ingresos totales por período anual</a:t>
            </a:r>
            <a:r>
              <a:rPr lang="en-US" sz="1200" dirty="0">
                <a:solidFill>
                  <a:srgbClr val="2B2B24"/>
                </a:solidFill>
                <a:latin typeface="Calibri" pitchFamily="34" charset="0"/>
                <a:ea typeface="Calibri" pitchFamily="34" charset="-122"/>
                <a:cs typeface="Calibri" pitchFamily="34" charset="-120"/>
              </a:rPr>
              <a:t>, en millones de pesos ajustados por CER. La caída se acelera en el último ciclo para el universo depurado y se modera entre prestadores turísticos.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sin medios de pago electrónicos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totales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487464549"/>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16.288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27.801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32.585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8.170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7.662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8.425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El incremento a valores corrientes refleja el impacto de la inflación sobre los flujos nominales. El contraste entre los ingresos a valores reales y en dólares permite observar la revaluación del peso en términos de tipo de cambio. Los registros de medios de pago electrónicos sólo figuran en el sistema hasta julio de 2025, de modo que su depuración es condición para comparar los tres ciclos.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Totales por prestadores turísticos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Ingresos totales por período y unidad de cálculo</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2559121886"/>
              </p:ext>
            </p:extLst>
          </p:nvPr>
        </p:nvGraphicFramePr>
        <p:xfrm>
          <a:off x="609600" y="1572768"/>
          <a:ext cx="10972800" cy="2377440"/>
        </p:xfrm>
        <a:graphic>
          <a:graphicData uri="http://schemas.openxmlformats.org/drawingml/2006/table">
            <a:tbl>
              <a:tblPr/>
              <a:tblGrid>
                <a:gridCol w="3200400">
                  <a:extLst>
                    <a:ext uri="{9D8B030D-6E8A-4147-A177-3AD203B41FA5}">
                      <a16:colId xmlns:a16="http://schemas.microsoft.com/office/drawing/2014/main" val="20000"/>
                    </a:ext>
                  </a:extLst>
                </a:gridCol>
                <a:gridCol w="1752600">
                  <a:extLst>
                    <a:ext uri="{9D8B030D-6E8A-4147-A177-3AD203B41FA5}">
                      <a16:colId xmlns:a16="http://schemas.microsoft.com/office/drawing/2014/main" val="20001"/>
                    </a:ext>
                  </a:extLst>
                </a:gridCol>
                <a:gridCol w="1752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tblGrid>
              <a:tr h="47548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Unidad</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23 – sep 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24 – sep 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p>
                      <a:pPr marL="0" indent="0" algn="r">
                        <a:buNone/>
                      </a:pPr>
                      <a:r>
                        <a:rPr lang="en-US" sz="1400" b="1" kern="0" spc="40" dirty="0">
                          <a:solidFill>
                            <a:srgbClr val="FFFFFF"/>
                          </a:solidFill>
                          <a:latin typeface="Calibri" pitchFamily="34" charset="0"/>
                          <a:ea typeface="Calibri" pitchFamily="34" charset="-122"/>
                          <a:cs typeface="Calibri" pitchFamily="34" charset="-120"/>
                        </a:rPr>
                        <a:t>oct 25 – sep 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M ajustados por CER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35,6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USD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En $ corrientes (M)</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11.312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19.610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23.203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Transacciones procesadas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5.684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bl>
          </a:graphicData>
        </a:graphic>
      </p:graphicFrame>
      <p:sp>
        <p:nvSpPr>
          <p:cNvPr id="7" name="Shape 4"/>
          <p:cNvSpPr/>
          <p:nvPr/>
        </p:nvSpPr>
        <p:spPr>
          <a:xfrm>
            <a:off x="609600" y="4224528"/>
            <a:ext cx="10972800" cy="990600"/>
          </a:xfrm>
          <a:prstGeom prst="roundRect">
            <a:avLst>
              <a:gd name="adj" fmla="val 461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4306824"/>
            <a:ext cx="10668000" cy="8382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Los prestadores turísticos aportan 72% de la cobranza depurada del último ciclo. La cantidad de transacciones crece 10% entre extremos de la serie, mientras el monto real cae 19%: operaciones más numerosas y de menor valor real.</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Principales prestadores turísticos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Muestra del último período — ingresos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7" name="Table 0"/>
          <p:cNvGraphicFramePr>
            <a:graphicFrameLocks noGrp="1"/>
          </p:cNvGraphicFramePr>
          <p:nvPr>
            <p:extLst>
              <p:ext uri="{D42A27DB-BD31-4B8C-83A1-F6EECF244321}">
                <p14:modId xmlns:p14="http://schemas.microsoft.com/office/powerpoint/2010/main" val="3332301186"/>
              </p:ext>
            </p:extLst>
          </p:nvPr>
        </p:nvGraphicFramePr>
        <p:xfrm>
          <a:off x="609600" y="1444752"/>
          <a:ext cx="10972800" cy="4608576"/>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8404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Prestador</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Iguazu Argentina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Hielo Y Aventura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5,80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 Gran Aventura </a:t>
                      </a:r>
                      <a:r>
                        <a:rPr lang="en-US" sz="1400" dirty="0" err="1">
                          <a:solidFill>
                            <a:srgbClr val="2B2B24"/>
                          </a:solidFill>
                          <a:latin typeface="Calibri" pitchFamily="34" charset="0"/>
                          <a:ea typeface="Calibri" pitchFamily="34" charset="-122"/>
                          <a:cs typeface="Calibri" pitchFamily="34" charset="-120"/>
                        </a:rPr>
                        <a:t>Náutica</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Solo Patagonia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3,64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London Supply SACIFI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Tranex Turismo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4,35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8404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Turisur</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2,08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Espacio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8404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Marpatag</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Estancia Cristina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8404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Southern Spirit Lago Argentino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IV</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Principales prestadores turísticos en dólares</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Muestra del último período — ingresos en millones de dólares</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8" name="Table 0"/>
          <p:cNvGraphicFramePr>
            <a:graphicFrameLocks noGrp="1"/>
          </p:cNvGraphicFramePr>
          <p:nvPr>
            <p:extLst>
              <p:ext uri="{D42A27DB-BD31-4B8C-83A1-F6EECF244321}">
                <p14:modId xmlns:p14="http://schemas.microsoft.com/office/powerpoint/2010/main" val="1946523683"/>
              </p:ext>
            </p:extLst>
          </p:nvPr>
        </p:nvGraphicFramePr>
        <p:xfrm>
          <a:off x="609600" y="1444752"/>
          <a:ext cx="10972800" cy="3785616"/>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1546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Prestador</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Iguazu Argentina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4,63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Hielo Y Aventura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2,63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 Gran Aventura </a:t>
                      </a:r>
                      <a:r>
                        <a:rPr lang="en-US" sz="1400" dirty="0" err="1">
                          <a:solidFill>
                            <a:srgbClr val="2B2B24"/>
                          </a:solidFill>
                          <a:latin typeface="Calibri" pitchFamily="34" charset="0"/>
                          <a:ea typeface="Calibri" pitchFamily="34" charset="-122"/>
                          <a:cs typeface="Calibri" pitchFamily="34" charset="-120"/>
                        </a:rPr>
                        <a:t>Náutica</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Solo Patagonia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London Supply SACIFI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Tranex Turismo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1546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Turisur</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0,65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Espacio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15468">
                <a:tc>
                  <a:txBody>
                    <a:bodyPr/>
                    <a:lstStyle/>
                    <a:p>
                      <a:pPr marL="0" indent="0" algn="l">
                        <a:buNone/>
                      </a:pPr>
                      <a:r>
                        <a:rPr lang="en-US" sz="1400" dirty="0" err="1">
                          <a:solidFill>
                            <a:srgbClr val="2B2B24"/>
                          </a:solidFill>
                          <a:latin typeface="Calibri" pitchFamily="34" charset="0"/>
                          <a:ea typeface="Calibri" pitchFamily="34" charset="-122"/>
                          <a:cs typeface="Calibri" pitchFamily="34" charset="-120"/>
                        </a:rPr>
                        <a:t>Marpatag</a:t>
                      </a:r>
                      <a:r>
                        <a:rPr lang="en-US" sz="1400" dirty="0">
                          <a:solidFill>
                            <a:srgbClr val="2B2B24"/>
                          </a:solidFill>
                          <a:latin typeface="Calibri" pitchFamily="34" charset="0"/>
                          <a:ea typeface="Calibri" pitchFamily="34" charset="-122"/>
                          <a:cs typeface="Calibri" pitchFamily="34" charset="-120"/>
                        </a:rPr>
                        <a:t> SRL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Estancia Cristina SA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1546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Southern Spirit Lago Argentino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7" name="Shape 4"/>
          <p:cNvSpPr/>
          <p:nvPr/>
        </p:nvSpPr>
        <p:spPr>
          <a:xfrm>
            <a:off x="609600" y="5522976"/>
            <a:ext cx="10972800" cy="762000"/>
          </a:xfrm>
          <a:prstGeom prst="roundRect">
            <a:avLst>
              <a:gd name="adj" fmla="val 6000"/>
            </a:avLst>
          </a:prstGeom>
          <a:solidFill>
            <a:srgbClr val="F6F9F1"/>
          </a:solidFill>
          <a:ln w="9525">
            <a:solidFill>
              <a:srgbClr val="E1EBD6"/>
            </a:solidFill>
            <a:prstDash val="solid"/>
          </a:ln>
        </p:spPr>
        <p:txBody>
          <a:bodyPr/>
          <a:lstStyle/>
          <a:p>
            <a:pPr/>
            <a:endParaRPr lang="es-AR"/>
          </a:p>
        </p:txBody>
      </p:sp>
      <p:sp>
        <p:nvSpPr>
          <p:cNvPr id="6" name="Text 5"/>
          <p:cNvSpPr txBox="1"/>
          <p:nvPr/>
        </p:nvSpPr>
        <p:spPr>
          <a:xfrm>
            <a:off x="762000" y="5605272"/>
            <a:ext cx="10668000" cy="6096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Las lecturas positivas reflejan principalmente la incorporación de nuevas prestaciones para operadores ya activos, como en los casos de Espacio SA y Estancia Cristina. En contraste, </a:t>
            </a:r>
            <a:r>
              <a:rPr lang="en-US" sz="1100" b="1" dirty="0">
                <a:solidFill>
                  <a:srgbClr val="2B2B24"/>
                </a:solidFill>
                <a:latin typeface="Calibri" pitchFamily="34" charset="0"/>
                <a:ea typeface="Calibri" pitchFamily="34" charset="-122"/>
                <a:cs typeface="Calibri" pitchFamily="34" charset="-120"/>
              </a:rPr>
              <a:t>Tranex Turismo</a:t>
            </a:r>
            <a:r>
              <a:rPr lang="en-US" sz="1100" dirty="0">
                <a:solidFill>
                  <a:srgbClr val="2B2B24"/>
                </a:solidFill>
                <a:latin typeface="Calibri" pitchFamily="34" charset="0"/>
                <a:ea typeface="Calibri" pitchFamily="34" charset="-122"/>
                <a:cs typeface="Calibri" pitchFamily="34" charset="-120"/>
              </a:rPr>
              <a:t> y </a:t>
            </a:r>
            <a:r>
              <a:rPr lang="en-US" sz="1100" b="1" dirty="0">
                <a:solidFill>
                  <a:srgbClr val="2B2B24"/>
                </a:solidFill>
                <a:latin typeface="Calibri" pitchFamily="34" charset="0"/>
                <a:ea typeface="Calibri" pitchFamily="34" charset="-122"/>
                <a:cs typeface="Calibri" pitchFamily="34" charset="-120"/>
              </a:rPr>
              <a:t>Marpatag</a:t>
            </a:r>
            <a:r>
              <a:rPr lang="en-US" sz="1100" dirty="0">
                <a:solidFill>
                  <a:srgbClr val="2B2B24"/>
                </a:solidFill>
                <a:latin typeface="Calibri" pitchFamily="34" charset="0"/>
                <a:ea typeface="Calibri" pitchFamily="34" charset="-122"/>
                <a:cs typeface="Calibri" pitchFamily="34" charset="-120"/>
              </a:rPr>
              <a:t> reportan los peores deterioros operativos de la serie.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EVOLUCIÓN MENSUAL</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Estacionalidad y tendencia de la serie</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Total de ingresos mensuales a valor constante (CER) · agosto 2023 a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7" name="Shape 4"/>
          <p:cNvSpPr/>
          <p:nvPr/>
        </p:nvSpPr>
        <p:spPr>
          <a:xfrm>
            <a:off x="609600" y="4953000"/>
            <a:ext cx="10972800" cy="787400"/>
          </a:xfrm>
          <a:prstGeom prst="roundRect">
            <a:avLst>
              <a:gd name="adj" fmla="val 5806"/>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5029200"/>
            <a:ext cx="10668000" cy="635000"/>
          </a:xfrm>
          <a:prstGeom prst="rect">
            <a:avLst/>
          </a:prstGeom>
          <a:noFill/>
          <a:ln/>
        </p:spPr>
        <p:txBody>
          <a:bodyPr wrap="square" lIns="0" tIns="0" rIns="0" bIns="0" rtlCol="0" anchor="ctr"/>
          <a:lstStyle/>
          <a:p>
            <a:pPr marL="0" indent="0">
              <a:lnSpc>
                <a:spcPct val="120000"/>
              </a:lnSpc>
              <a:buNone/>
            </a:pPr>
            <a:r>
              <a:rPr lang="en-US" sz="1100" dirty="0">
                <a:solidFill>
                  <a:srgbClr val="2B2B24"/>
                </a:solidFill>
                <a:latin typeface="Calibri" pitchFamily="34" charset="0"/>
                <a:ea typeface="Calibri" pitchFamily="34" charset="-122"/>
                <a:cs typeface="Calibri" pitchFamily="34" charset="-120"/>
              </a:rPr>
              <a:t>El gráfico denota la </a:t>
            </a:r>
            <a:r>
              <a:rPr lang="en-US" sz="1100" b="1" dirty="0">
                <a:solidFill>
                  <a:srgbClr val="2B2B24"/>
                </a:solidFill>
                <a:latin typeface="Calibri" pitchFamily="34" charset="0"/>
                <a:ea typeface="Calibri" pitchFamily="34" charset="-122"/>
                <a:cs typeface="Calibri" pitchFamily="34" charset="-120"/>
              </a:rPr>
              <a:t>marcada estacionalidad</a:t>
            </a:r>
            <a:r>
              <a:rPr lang="en-US" sz="1100" dirty="0">
                <a:solidFill>
                  <a:srgbClr val="2B2B24"/>
                </a:solidFill>
                <a:latin typeface="Calibri" pitchFamily="34" charset="0"/>
                <a:ea typeface="Calibri" pitchFamily="34" charset="-122"/>
                <a:cs typeface="Calibri" pitchFamily="34" charset="-120"/>
              </a:rPr>
              <a:t>, con picos que replican la mayor operación turística en temporada estival (diciembre-marzo). Las medias móviles y la regresión lineal exponen una notoria </a:t>
            </a:r>
            <a:r>
              <a:rPr lang="en-US" sz="1100" b="1" dirty="0">
                <a:solidFill>
                  <a:srgbClr val="2B2B24"/>
                </a:solidFill>
                <a:latin typeface="Calibri" pitchFamily="34" charset="0"/>
                <a:ea typeface="Calibri" pitchFamily="34" charset="-122"/>
                <a:cs typeface="Calibri" pitchFamily="34" charset="-120"/>
              </a:rPr>
              <a:t>tendencia declinante</a:t>
            </a:r>
            <a:r>
              <a:rPr lang="en-US" sz="1100" dirty="0">
                <a:solidFill>
                  <a:srgbClr val="2B2B24"/>
                </a:solidFill>
                <a:latin typeface="Calibri" pitchFamily="34" charset="0"/>
                <a:ea typeface="Calibri" pitchFamily="34" charset="-122"/>
                <a:cs typeface="Calibri" pitchFamily="34" charset="-120"/>
              </a:rPr>
              <a:t>: la recta pierde 36% entre los extremos de la serie.</a:t>
            </a:r>
            <a:endParaRPr lang="en-US" sz="1100" dirty="0"/>
          </a:p>
        </p:txBody>
      </p:sp>
      <p:pic>
        <p:nvPicPr>
          <p:cNvPr id="9" name="Picture 8" descr="fig1.png"/>
          <p:cNvPicPr>
            <a:picLocks noChangeAspect="1"/>
          </p:cNvPicPr>
          <p:nvPr/>
        </p:nvPicPr>
        <p:blipFill>
          <a:blip r:embed="rId4"/>
          <a:stretch>
            <a:fillRect/>
          </a:stretch>
        </p:blipFill>
        <p:spPr>
          <a:xfrm>
            <a:off x="457200" y="1298448"/>
            <a:ext cx="11274552" cy="35204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Ingresos por dependencia administrativa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Universo depurado de medios de pago electrónicos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10" name="Table 0"/>
          <p:cNvGraphicFramePr>
            <a:graphicFrameLocks noGrp="1"/>
          </p:cNvGraphicFramePr>
          <p:nvPr>
            <p:extLst>
              <p:ext uri="{D42A27DB-BD31-4B8C-83A1-F6EECF244321}">
                <p14:modId xmlns:p14="http://schemas.microsoft.com/office/powerpoint/2010/main" val="1345476103"/>
              </p:ext>
            </p:extLst>
          </p:nvPr>
        </p:nvGraphicFramePr>
        <p:xfrm>
          <a:off x="609600" y="1554480"/>
          <a:ext cx="10972800" cy="4754880"/>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365760">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12,91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18,82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24,50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13,46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7,94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7,78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7,18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1,69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1,76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0,74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Casa Central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365760">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Otras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+77%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65760">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44,03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50,98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57,67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Ingresos de prestadores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Prestadores turísticos — en millones de pesos ajustados por CER</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2424234006"/>
              </p:ext>
            </p:extLst>
          </p:nvPr>
        </p:nvGraphicFramePr>
        <p:xfrm>
          <a:off x="609600" y="1572768"/>
          <a:ext cx="10972800" cy="4828032"/>
        </p:xfrm>
        <a:graphic>
          <a:graphicData uri="http://schemas.openxmlformats.org/drawingml/2006/table">
            <a:tbl>
              <a:tblPr/>
              <a:tblGrid>
                <a:gridCol w="3403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727200">
                  <a:extLst>
                    <a:ext uri="{9D8B030D-6E8A-4147-A177-3AD203B41FA5}">
                      <a16:colId xmlns:a16="http://schemas.microsoft.com/office/drawing/2014/main" val="20004"/>
                    </a:ext>
                  </a:extLst>
                </a:gridCol>
                <a:gridCol w="1727200">
                  <a:extLst>
                    <a:ext uri="{9D8B030D-6E8A-4147-A177-3AD203B41FA5}">
                      <a16:colId xmlns:a16="http://schemas.microsoft.com/office/drawing/2014/main" val="20005"/>
                    </a:ext>
                  </a:extLst>
                </a:gridCol>
              </a:tblGrid>
              <a:tr h="402336">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Dependencia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Última var. i.a.</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Var. total</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Iguazú</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12,61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13,33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13,32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Glaciares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9,31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13,02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Nahuel Huapi</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5,73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6,44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Tierra del Fuego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2,29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−38%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Lanín</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1,13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Talampaya</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0,45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0,55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Los Alerces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0,23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El Palmar</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−51%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+979%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Lago Puelo</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Otras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b="1" dirty="0">
                          <a:solidFill>
                            <a:srgbClr val="2C5F2D"/>
                          </a:solidFill>
                          <a:latin typeface="Calibri" pitchFamily="34" charset="0"/>
                          <a:ea typeface="Calibri" pitchFamily="34" charset="-122"/>
                          <a:cs typeface="Calibri" pitchFamily="34" charset="-120"/>
                        </a:rPr>
                        <a:t>+105%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402336">
                <a:tc>
                  <a:txBody>
                    <a:bodyPr/>
                    <a:lstStyle/>
                    <a:p>
                      <a:pPr marL="0" indent="0" algn="l">
                        <a:buNone/>
                      </a:pPr>
                      <a:r>
                        <a:rPr lang="en-US" sz="1400" b="1" dirty="0">
                          <a:solidFill>
                            <a:srgbClr val="2B2B24"/>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31,73</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35,65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2B2B24"/>
                          </a:solidFill>
                          <a:latin typeface="Calibri" pitchFamily="34" charset="0"/>
                          <a:ea typeface="Calibri" pitchFamily="34" charset="-122"/>
                          <a:cs typeface="Calibri" pitchFamily="34" charset="-120"/>
                        </a:rPr>
                        <a:t>39,09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400" b="1" dirty="0">
                          <a:solidFill>
                            <a:srgbClr val="A6472B"/>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CONCENTRACIÓN</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La cobranza depende de pocos actores</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5" name="Text 3"/>
          <p:cNvSpPr txBox="1"/>
          <p:nvPr/>
        </p:nvSpPr>
        <p:spPr>
          <a:xfrm>
            <a:off x="609600" y="1806435"/>
            <a:ext cx="5969000" cy="1651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10 principales prestadores explican en torno a </a:t>
            </a:r>
            <a:r>
              <a:rPr lang="en-US" sz="1400" b="1" dirty="0">
                <a:solidFill>
                  <a:srgbClr val="2B2B24"/>
                </a:solidFill>
                <a:latin typeface="Calibri" pitchFamily="34" charset="0"/>
                <a:ea typeface="Calibri" pitchFamily="34" charset="-122"/>
                <a:cs typeface="Calibri" pitchFamily="34" charset="-120"/>
              </a:rPr>
              <a:t>nueve décimas partes</a:t>
            </a:r>
            <a:r>
              <a:rPr lang="en-US" sz="1400" dirty="0">
                <a:solidFill>
                  <a:srgbClr val="2B2B24"/>
                </a:solidFill>
                <a:latin typeface="Calibri" pitchFamily="34" charset="0"/>
                <a:ea typeface="Calibri" pitchFamily="34" charset="-122"/>
                <a:cs typeface="Calibri" pitchFamily="34" charset="-120"/>
              </a:rPr>
              <a:t> de la cobranza turística, con una leve desconcentración a lo largo de la serie (90% a 87%).</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Los parques nacionales Iguazú, Glaciares y Nahuel Huapi presentan una concentración semejante. La Administración se encuentra fuertemente expuesta a las variaciones de estos actores.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790025939"/>
              </p:ext>
            </p:extLst>
          </p:nvPr>
        </p:nvGraphicFramePr>
        <p:xfrm>
          <a:off x="609600" y="3749039"/>
          <a:ext cx="5969000" cy="877824"/>
        </p:xfrm>
        <a:graphic>
          <a:graphicData uri="http://schemas.openxmlformats.org/drawingml/2006/table">
            <a:tbl>
              <a:tblPr/>
              <a:tblGrid>
                <a:gridCol w="2692400">
                  <a:extLst>
                    <a:ext uri="{9D8B030D-6E8A-4147-A177-3AD203B41FA5}">
                      <a16:colId xmlns:a16="http://schemas.microsoft.com/office/drawing/2014/main" val="20000"/>
                    </a:ext>
                  </a:extLst>
                </a:gridCol>
                <a:gridCol w="1092200">
                  <a:extLst>
                    <a:ext uri="{9D8B030D-6E8A-4147-A177-3AD203B41FA5}">
                      <a16:colId xmlns:a16="http://schemas.microsoft.com/office/drawing/2014/main" val="20001"/>
                    </a:ext>
                  </a:extLst>
                </a:gridCol>
                <a:gridCol w="1092200">
                  <a:extLst>
                    <a:ext uri="{9D8B030D-6E8A-4147-A177-3AD203B41FA5}">
                      <a16:colId xmlns:a16="http://schemas.microsoft.com/office/drawing/2014/main" val="20002"/>
                    </a:ext>
                  </a:extLst>
                </a:gridCol>
                <a:gridCol w="1092200">
                  <a:extLst>
                    <a:ext uri="{9D8B030D-6E8A-4147-A177-3AD203B41FA5}">
                      <a16:colId xmlns:a16="http://schemas.microsoft.com/office/drawing/2014/main" val="20003"/>
                    </a:ext>
                  </a:extLst>
                </a:gridCol>
              </a:tblGrid>
              <a:tr h="292608">
                <a:tc>
                  <a:txBody>
                    <a:bodyPr/>
                    <a:lstStyle/>
                    <a:p>
                      <a:pPr marL="0" indent="0" algn="l">
                        <a:buNone/>
                      </a:pPr>
                      <a:r>
                        <a:rPr lang="en-US" sz="1400" b="1" kern="0" spc="40" dirty="0">
                          <a:solidFill>
                            <a:srgbClr val="FFFFFF"/>
                          </a:solidFill>
                          <a:latin typeface="Calibri" pitchFamily="34" charset="0"/>
                          <a:ea typeface="Calibri" pitchFamily="34" charset="-122"/>
                          <a:cs typeface="Calibri" pitchFamily="34" charset="-120"/>
                        </a:rPr>
                        <a:t>Indicador de concentración</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2023/24</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2024/25</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400" b="1" kern="0" spc="40" dirty="0">
                          <a:solidFill>
                            <a:srgbClr val="FFFFFF"/>
                          </a:solidFill>
                          <a:latin typeface="Calibri" pitchFamily="34" charset="0"/>
                          <a:ea typeface="Calibri" pitchFamily="34" charset="-122"/>
                          <a:cs typeface="Calibri" pitchFamily="34" charset="-120"/>
                        </a:rPr>
                        <a:t>2025/26</a:t>
                      </a:r>
                      <a:endParaRPr lang="en-US" sz="14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29260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Principales 10 prestadores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90%</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87%</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400" dirty="0">
                          <a:solidFill>
                            <a:srgbClr val="2B2B24"/>
                          </a:solidFill>
                          <a:latin typeface="Calibri" pitchFamily="34" charset="0"/>
                          <a:ea typeface="Calibri" pitchFamily="34" charset="-122"/>
                          <a:cs typeface="Calibri" pitchFamily="34" charset="-120"/>
                        </a:rPr>
                        <a:t>Principales 3 dependencias</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81%</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79%</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400" dirty="0">
                          <a:solidFill>
                            <a:srgbClr val="2B2B24"/>
                          </a:solidFill>
                          <a:latin typeface="Calibri" pitchFamily="34" charset="0"/>
                          <a:ea typeface="Calibri" pitchFamily="34" charset="-122"/>
                          <a:cs typeface="Calibri" pitchFamily="34" charset="-120"/>
                        </a:rPr>
                        <a:t>75%</a:t>
                      </a:r>
                      <a:endParaRPr lang="en-US" sz="14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bl>
          </a:graphicData>
        </a:graphic>
      </p:graphicFrame>
      <p:sp>
        <p:nvSpPr>
          <p:cNvPr id="7" name="Shape 4"/>
          <p:cNvSpPr/>
          <p:nvPr/>
        </p:nvSpPr>
        <p:spPr>
          <a:xfrm>
            <a:off x="7112000" y="1397000"/>
            <a:ext cx="4470400" cy="1337733"/>
          </a:xfrm>
          <a:prstGeom prst="roundRect">
            <a:avLst>
              <a:gd name="adj" fmla="val 4101"/>
            </a:avLst>
          </a:prstGeom>
          <a:solidFill>
            <a:srgbClr val="F0F5E9"/>
          </a:solidFill>
          <a:ln w="9525">
            <a:solidFill>
              <a:srgbClr val="DCE6D0"/>
            </a:solidFill>
            <a:prstDash val="solid"/>
          </a:ln>
        </p:spPr>
        <p:txBody>
          <a:bodyPr/>
          <a:lstStyle/>
          <a:p>
            <a:pPr/>
            <a:endParaRPr lang="es-AR"/>
          </a:p>
        </p:txBody>
      </p:sp>
      <p:sp>
        <p:nvSpPr>
          <p:cNvPr id="8" name="Text 5"/>
          <p:cNvSpPr txBox="1"/>
          <p:nvPr/>
        </p:nvSpPr>
        <p:spPr>
          <a:xfrm>
            <a:off x="7213600" y="1397000"/>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87%</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la cobranza turística, en 10 prestadores</a:t>
            </a:r>
            <a:endParaRPr lang="en-US" sz="1100" dirty="0"/>
          </a:p>
        </p:txBody>
      </p:sp>
      <p:sp>
        <p:nvSpPr>
          <p:cNvPr id="9" name="Shape 6"/>
          <p:cNvSpPr/>
          <p:nvPr/>
        </p:nvSpPr>
        <p:spPr>
          <a:xfrm>
            <a:off x="7112000" y="2887133"/>
            <a:ext cx="4470400" cy="1337733"/>
          </a:xfrm>
          <a:prstGeom prst="roundRect">
            <a:avLst>
              <a:gd name="adj" fmla="val 4101"/>
            </a:avLst>
          </a:prstGeom>
          <a:solidFill>
            <a:srgbClr val="2C5F2D"/>
          </a:solidFill>
          <a:ln w="9525">
            <a:solidFill>
              <a:srgbClr val="2C5F2D"/>
            </a:solidFill>
            <a:prstDash val="solid"/>
          </a:ln>
        </p:spPr>
        <p:txBody>
          <a:bodyPr/>
          <a:lstStyle/>
          <a:p>
            <a:pPr/>
            <a:endParaRPr lang="es-AR"/>
          </a:p>
        </p:txBody>
      </p:sp>
      <p:sp>
        <p:nvSpPr>
          <p:cNvPr id="10" name="Text 7"/>
          <p:cNvSpPr txBox="1"/>
          <p:nvPr/>
        </p:nvSpPr>
        <p:spPr>
          <a:xfrm>
            <a:off x="7213600" y="2887133"/>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FFFFFF"/>
                </a:solidFill>
                <a:latin typeface="Calibri" pitchFamily="34" charset="0"/>
                <a:ea typeface="Calibri" pitchFamily="34" charset="-122"/>
                <a:cs typeface="Calibri" pitchFamily="34" charset="-120"/>
              </a:rPr>
              <a:t>75%</a:t>
            </a:r>
            <a:endParaRPr lang="en-US" sz="32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en los tres parques de mayores ingresos</a:t>
            </a:r>
            <a:endParaRPr lang="en-US" sz="1100" dirty="0"/>
          </a:p>
        </p:txBody>
      </p:sp>
      <p:sp>
        <p:nvSpPr>
          <p:cNvPr id="11" name="Shape 8"/>
          <p:cNvSpPr/>
          <p:nvPr/>
        </p:nvSpPr>
        <p:spPr>
          <a:xfrm>
            <a:off x="7112000" y="4377267"/>
            <a:ext cx="4470400" cy="1337733"/>
          </a:xfrm>
          <a:prstGeom prst="roundRect">
            <a:avLst>
              <a:gd name="adj" fmla="val 4101"/>
            </a:avLst>
          </a:prstGeom>
          <a:solidFill>
            <a:srgbClr val="F0F5E9"/>
          </a:solidFill>
          <a:ln w="9525">
            <a:solidFill>
              <a:srgbClr val="DCE6D0"/>
            </a:solidFill>
            <a:prstDash val="solid"/>
          </a:ln>
        </p:spPr>
        <p:txBody>
          <a:bodyPr/>
          <a:lstStyle/>
          <a:p>
            <a:pPr/>
            <a:endParaRPr lang="es-AR"/>
          </a:p>
        </p:txBody>
      </p:sp>
      <p:sp>
        <p:nvSpPr>
          <p:cNvPr id="6" name="Text 9"/>
          <p:cNvSpPr txBox="1"/>
          <p:nvPr/>
        </p:nvSpPr>
        <p:spPr>
          <a:xfrm>
            <a:off x="7213600" y="4377267"/>
            <a:ext cx="4267200" cy="1337733"/>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72%</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del universo depurado son prestadores turísticos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RELACIÓN CON EL INFORME DE DEUDA</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La deuda frente a la cobranza anual</a:t>
            </a:r>
            <a:endParaRPr lang="en-US" sz="3200" dirty="0"/>
          </a:p>
        </p:txBody>
      </p:sp>
      <p:sp>
        <p:nvSpPr>
          <p:cNvPr id="4" name="Text 2"/>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el Informe de deudas al 31/08/2026 y datos de ReNaRI.</a:t>
            </a:r>
            <a:endParaRPr lang="en-US" sz="800" dirty="0"/>
          </a:p>
        </p:txBody>
      </p:sp>
      <p:sp>
        <p:nvSpPr>
          <p:cNvPr id="5" name="Text 3"/>
          <p:cNvSpPr txBox="1"/>
          <p:nvPr/>
        </p:nvSpPr>
        <p:spPr>
          <a:xfrm>
            <a:off x="609600" y="1728338"/>
            <a:ext cx="5969000" cy="3556000"/>
          </a:xfrm>
          <a:prstGeom prst="rect">
            <a:avLst/>
          </a:prstGeom>
          <a:noFill/>
          <a:ln/>
        </p:spPr>
        <p:txBody>
          <a:bodyPr wrap="square" lIns="0" tIns="0" rIns="0" bIns="0" rtlCol="0" anchor="t"/>
          <a:lstStyle/>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El “Informe de deudas — Relevamiento general” con datos al </a:t>
            </a:r>
            <a:r>
              <a:rPr lang="en-US" sz="1400" b="1" dirty="0">
                <a:solidFill>
                  <a:srgbClr val="2B2B24"/>
                </a:solidFill>
                <a:latin typeface="Calibri" pitchFamily="34" charset="0"/>
                <a:ea typeface="Calibri" pitchFamily="34" charset="-122"/>
                <a:cs typeface="Calibri" pitchFamily="34" charset="-120"/>
              </a:rPr>
              <a:t>31 de agosto de 2026</a:t>
            </a:r>
            <a:r>
              <a:rPr lang="en-US" sz="1400" dirty="0">
                <a:solidFill>
                  <a:srgbClr val="2B2B24"/>
                </a:solidFill>
                <a:latin typeface="Calibri" pitchFamily="34" charset="0"/>
                <a:ea typeface="Calibri" pitchFamily="34" charset="-122"/>
                <a:cs typeface="Calibri" pitchFamily="34" charset="-120"/>
              </a:rPr>
              <a:t> releva 11.149 obligaciones documentadas, consolidadas en 3.913 razones sociales y 32 dependencias con acreencias.</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La deuda bruta asciende a </a:t>
            </a:r>
            <a:r>
              <a:rPr lang="en-US" sz="1400" b="1" dirty="0">
                <a:solidFill>
                  <a:srgbClr val="2B2B24"/>
                </a:solidFill>
                <a:latin typeface="Calibri" pitchFamily="34" charset="0"/>
                <a:ea typeface="Calibri" pitchFamily="34" charset="-122"/>
                <a:cs typeface="Calibri" pitchFamily="34" charset="-120"/>
              </a:rPr>
              <a:t>$ 1.721,0 millones</a:t>
            </a:r>
            <a:r>
              <a:rPr lang="en-US" sz="1400" dirty="0">
                <a:solidFill>
                  <a:srgbClr val="2B2B24"/>
                </a:solidFill>
                <a:latin typeface="Calibri" pitchFamily="34" charset="0"/>
                <a:ea typeface="Calibri" pitchFamily="34" charset="-122"/>
                <a:cs typeface="Calibri" pitchFamily="34" charset="-120"/>
              </a:rPr>
              <a:t>, de los cuales $ 455,91 millones (26,49%) son intereses; imputados $ 180,97 millones de saldos a favor, el saldo exigible baja a </a:t>
            </a:r>
            <a:r>
              <a:rPr lang="en-US" sz="1400" b="1" dirty="0">
                <a:solidFill>
                  <a:srgbClr val="2B2B24"/>
                </a:solidFill>
                <a:latin typeface="Calibri" pitchFamily="34" charset="0"/>
                <a:ea typeface="Calibri" pitchFamily="34" charset="-122"/>
                <a:cs typeface="Calibri" pitchFamily="34" charset="-120"/>
              </a:rPr>
              <a:t>$ 1.540,0 millones</a:t>
            </a:r>
            <a:r>
              <a:rPr lang="en-US" sz="1400" dirty="0">
                <a:solidFill>
                  <a:srgbClr val="2B2B24"/>
                </a:solidFill>
                <a:latin typeface="Calibri" pitchFamily="34" charset="0"/>
                <a:ea typeface="Calibri" pitchFamily="34" charset="-122"/>
                <a:cs typeface="Calibri" pitchFamily="34" charset="-120"/>
              </a:rPr>
              <a:t>.</a:t>
            </a:r>
            <a:endParaRPr lang="en-US" sz="1400" dirty="0"/>
          </a:p>
          <a:p>
            <a:pPr marL="0" indent="0" algn="l">
              <a:lnSpc>
                <a:spcPct val="128000"/>
              </a:lnSpc>
              <a:spcAft>
                <a:spcPts val="800"/>
              </a:spcAft>
              <a:buNone/>
            </a:pPr>
            <a:r>
              <a:rPr lang="en-US" sz="1400" dirty="0">
                <a:solidFill>
                  <a:srgbClr val="2B2B24"/>
                </a:solidFill>
                <a:latin typeface="Calibri" pitchFamily="34" charset="0"/>
                <a:ea typeface="Calibri" pitchFamily="34" charset="-122"/>
                <a:cs typeface="Calibri" pitchFamily="34" charset="-120"/>
              </a:rPr>
              <a:t>El corte de agosto comparte el criterio de depuración de medios electrónicos de este informe e incorpora la cartera en gestión judicial. Sobre esa base comparable, la deuda pasa de $ 1.050,8 a $ 1.721,0 millones (+63,8%) y las razones sociales con deuda de 2.569 a 3.913 (+52,3%), en buena medida por obligaciones omitidas en el reporte anterior.*</a:t>
            </a:r>
            <a:endParaRPr lang="en-US" sz="1400" dirty="0"/>
          </a:p>
        </p:txBody>
      </p:sp>
      <p:sp>
        <p:nvSpPr>
          <p:cNvPr id="6" name="Text 4"/>
          <p:cNvSpPr txBox="1"/>
          <p:nvPr/>
        </p:nvSpPr>
        <p:spPr>
          <a:xfrm>
            <a:off x="609600" y="5540236"/>
            <a:ext cx="5969000" cy="584200"/>
          </a:xfrm>
          <a:prstGeom prst="rect">
            <a:avLst/>
          </a:prstGeom>
          <a:noFill/>
          <a:ln/>
        </p:spPr>
        <p:txBody>
          <a:bodyPr wrap="square" lIns="0" tIns="0" rIns="0" bIns="0" rtlCol="0" anchor="ctr"/>
          <a:lstStyle/>
          <a:p>
            <a:pPr marL="0" indent="0">
              <a:lnSpc>
                <a:spcPct val="120000"/>
              </a:lnSpc>
              <a:buNone/>
            </a:pPr>
            <a:r>
              <a:rPr lang="en-US" sz="900" dirty="0">
                <a:solidFill>
                  <a:srgbClr val="6E6B5E"/>
                </a:solidFill>
                <a:latin typeface="Calibri" pitchFamily="34" charset="0"/>
                <a:ea typeface="Calibri" pitchFamily="34" charset="-122"/>
                <a:cs typeface="Calibri" pitchFamily="34" charset="-120"/>
              </a:rPr>
              <a:t>* El </a:t>
            </a:r>
            <a:r>
              <a:rPr lang="en-US" sz="900" dirty="0" err="1">
                <a:solidFill>
                  <a:srgbClr val="6E6B5E"/>
                </a:solidFill>
                <a:latin typeface="Calibri" pitchFamily="34" charset="0"/>
                <a:ea typeface="Calibri" pitchFamily="34" charset="-122"/>
                <a:cs typeface="Calibri" pitchFamily="34" charset="-120"/>
              </a:rPr>
              <a:t>relevamiento</a:t>
            </a:r>
            <a:r>
              <a:rPr lang="en-US" sz="900" dirty="0">
                <a:solidFill>
                  <a:srgbClr val="6E6B5E"/>
                </a:solidFill>
                <a:latin typeface="Calibri" pitchFamily="34" charset="0"/>
                <a:ea typeface="Calibri" pitchFamily="34" charset="-122"/>
                <a:cs typeface="Calibri" pitchFamily="34" charset="-120"/>
              </a:rPr>
              <a:t> de deudas advierte sobre inconsistencias en los reportes de ReNaRI que exigieron revisiones heurísticas, de modo que las cifras deben leerse con esa reserva.</a:t>
            </a:r>
            <a:endParaRPr lang="en-US" sz="900" dirty="0"/>
          </a:p>
        </p:txBody>
      </p:sp>
      <p:sp>
        <p:nvSpPr>
          <p:cNvPr id="7" name="Shape 5"/>
          <p:cNvSpPr/>
          <p:nvPr/>
        </p:nvSpPr>
        <p:spPr>
          <a:xfrm>
            <a:off x="7112000" y="1346200"/>
            <a:ext cx="4470400" cy="1354667"/>
          </a:xfrm>
          <a:prstGeom prst="roundRect">
            <a:avLst>
              <a:gd name="adj" fmla="val 4050"/>
            </a:avLst>
          </a:prstGeom>
          <a:solidFill>
            <a:srgbClr val="2C5F2D"/>
          </a:solidFill>
          <a:ln w="9525">
            <a:solidFill>
              <a:srgbClr val="2C5F2D"/>
            </a:solidFill>
            <a:prstDash val="solid"/>
          </a:ln>
        </p:spPr>
        <p:txBody>
          <a:bodyPr/>
          <a:lstStyle/>
          <a:p>
            <a:pPr/>
            <a:endParaRPr lang="es-AR"/>
          </a:p>
        </p:txBody>
      </p:sp>
      <p:sp>
        <p:nvSpPr>
          <p:cNvPr id="8" name="Text 6"/>
          <p:cNvSpPr txBox="1"/>
          <p:nvPr/>
        </p:nvSpPr>
        <p:spPr>
          <a:xfrm>
            <a:off x="7213600" y="1346200"/>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FFFFFF"/>
                </a:solidFill>
                <a:latin typeface="Calibri" pitchFamily="34" charset="0"/>
                <a:ea typeface="Calibri" pitchFamily="34" charset="-122"/>
                <a:cs typeface="Calibri" pitchFamily="34" charset="-120"/>
              </a:rPr>
              <a:t>5,3%</a:t>
            </a:r>
            <a:endParaRPr lang="en-US" sz="3200" dirty="0"/>
          </a:p>
          <a:p>
            <a:pPr marL="0" indent="0" algn="ctr">
              <a:lnSpc>
                <a:spcPct val="105000"/>
              </a:lnSpc>
              <a:buNone/>
            </a:pPr>
            <a:r>
              <a:rPr lang="en-US" sz="1100" dirty="0">
                <a:solidFill>
                  <a:srgbClr val="D8E5CB"/>
                </a:solidFill>
                <a:latin typeface="Calibri" pitchFamily="34" charset="0"/>
                <a:ea typeface="Calibri" pitchFamily="34" charset="-122"/>
                <a:cs typeface="Calibri" pitchFamily="34" charset="-120"/>
              </a:rPr>
              <a:t>representa la deuda bruta sobre la cobranza anual depurada</a:t>
            </a:r>
            <a:endParaRPr lang="en-US" sz="1100" dirty="0"/>
          </a:p>
        </p:txBody>
      </p:sp>
      <p:sp>
        <p:nvSpPr>
          <p:cNvPr id="9" name="Shape 7"/>
          <p:cNvSpPr/>
          <p:nvPr/>
        </p:nvSpPr>
        <p:spPr>
          <a:xfrm>
            <a:off x="7112000" y="2853267"/>
            <a:ext cx="4470400" cy="1354667"/>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0" name="Text 8"/>
          <p:cNvSpPr txBox="1"/>
          <p:nvPr/>
        </p:nvSpPr>
        <p:spPr>
          <a:xfrm>
            <a:off x="7213600" y="2853267"/>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$ 628,5 M</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deuda de prestadores turísticos activos</a:t>
            </a:r>
            <a:endParaRPr lang="en-US" sz="1100" dirty="0"/>
          </a:p>
        </p:txBody>
      </p:sp>
      <p:sp>
        <p:nvSpPr>
          <p:cNvPr id="11" name="Shape 9"/>
          <p:cNvSpPr/>
          <p:nvPr/>
        </p:nvSpPr>
        <p:spPr>
          <a:xfrm>
            <a:off x="7112000" y="4360333"/>
            <a:ext cx="4470400" cy="1354667"/>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2" name="Text 10"/>
          <p:cNvSpPr txBox="1"/>
          <p:nvPr/>
        </p:nvSpPr>
        <p:spPr>
          <a:xfrm>
            <a:off x="7213600" y="4360333"/>
            <a:ext cx="4267200" cy="1354667"/>
          </a:xfrm>
          <a:prstGeom prst="rect">
            <a:avLst/>
          </a:prstGeom>
          <a:noFill/>
          <a:ln/>
        </p:spPr>
        <p:txBody>
          <a:bodyPr wrap="square" lIns="0" tIns="0" rIns="0" bIns="0" rtlCol="0" anchor="ctr"/>
          <a:lstStyle/>
          <a:p>
            <a:pPr marL="0" indent="0" algn="ctr">
              <a:lnSpc>
                <a:spcPct val="105000"/>
              </a:lnSpc>
              <a:buNone/>
            </a:pPr>
            <a:r>
              <a:rPr lang="en-US" sz="3200" b="1" dirty="0">
                <a:solidFill>
                  <a:srgbClr val="2C5F2D"/>
                </a:solidFill>
                <a:latin typeface="Calibri" pitchFamily="34" charset="0"/>
                <a:ea typeface="Calibri" pitchFamily="34" charset="-122"/>
                <a:cs typeface="Calibri" pitchFamily="34" charset="-120"/>
              </a:rPr>
              <a:t>2,7%</a:t>
            </a:r>
            <a:endParaRPr lang="en-US" sz="3200" dirty="0"/>
          </a:p>
          <a:p>
            <a:pPr marL="0" indent="0" algn="ctr">
              <a:lnSpc>
                <a:spcPct val="105000"/>
              </a:lnSpc>
              <a:buNone/>
            </a:pPr>
            <a:r>
              <a:rPr lang="en-US" sz="1100" dirty="0">
                <a:solidFill>
                  <a:srgbClr val="5C6B52"/>
                </a:solidFill>
                <a:latin typeface="Calibri" pitchFamily="34" charset="0"/>
                <a:ea typeface="Calibri" pitchFamily="34" charset="-122"/>
                <a:cs typeface="Calibri" pitchFamily="34" charset="-120"/>
              </a:rPr>
              <a:t>de los ingresos anuales de prestadores turísticos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TABLA VII</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a:solidFill>
                  <a:srgbClr val="2C5F2D"/>
                </a:solidFill>
                <a:latin typeface="Calibri" pitchFamily="34" charset="0"/>
                <a:ea typeface="Calibri" pitchFamily="34" charset="-122"/>
                <a:cs typeface="Calibri" pitchFamily="34" charset="-120"/>
              </a:rPr>
              <a:t>Deuda de prestadores activos e ingresos por dependencia</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En pesos corrientes, sobre el ciclo octubre 2025 –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el Informe de deudas al 31/08/2026 (Tabla III) y datos de ReNaRI.</a:t>
            </a:r>
            <a:endParaRPr lang="en-US" sz="800" dirty="0"/>
          </a:p>
        </p:txBody>
      </p:sp>
      <p:graphicFrame>
        <p:nvGraphicFramePr>
          <p:cNvPr id="14" name="Table 0"/>
          <p:cNvGraphicFramePr>
            <a:graphicFrameLocks noGrp="1"/>
          </p:cNvGraphicFramePr>
          <p:nvPr>
            <p:extLst>
              <p:ext uri="{D42A27DB-BD31-4B8C-83A1-F6EECF244321}">
                <p14:modId xmlns:p14="http://schemas.microsoft.com/office/powerpoint/2010/main" val="4047759359"/>
              </p:ext>
            </p:extLst>
          </p:nvPr>
        </p:nvGraphicFramePr>
        <p:xfrm>
          <a:off x="609600" y="1397000"/>
          <a:ext cx="10972800" cy="3886200"/>
        </p:xfrm>
        <a:graphic>
          <a:graphicData uri="http://schemas.openxmlformats.org/drawingml/2006/table">
            <a:tbl>
              <a:tblPr/>
              <a:tblGrid>
                <a:gridCol w="2387600">
                  <a:extLst>
                    <a:ext uri="{9D8B030D-6E8A-4147-A177-3AD203B41FA5}">
                      <a16:colId xmlns:a16="http://schemas.microsoft.com/office/drawing/2014/main" val="20000"/>
                    </a:ext>
                  </a:extLst>
                </a:gridCol>
                <a:gridCol w="1676400">
                  <a:extLst>
                    <a:ext uri="{9D8B030D-6E8A-4147-A177-3AD203B41FA5}">
                      <a16:colId xmlns:a16="http://schemas.microsoft.com/office/drawing/2014/main" val="20001"/>
                    </a:ext>
                  </a:extLst>
                </a:gridCol>
                <a:gridCol w="1498600">
                  <a:extLst>
                    <a:ext uri="{9D8B030D-6E8A-4147-A177-3AD203B41FA5}">
                      <a16:colId xmlns:a16="http://schemas.microsoft.com/office/drawing/2014/main" val="20002"/>
                    </a:ext>
                  </a:extLst>
                </a:gridCol>
                <a:gridCol w="1752600">
                  <a:extLst>
                    <a:ext uri="{9D8B030D-6E8A-4147-A177-3AD203B41FA5}">
                      <a16:colId xmlns:a16="http://schemas.microsoft.com/office/drawing/2014/main" val="20003"/>
                    </a:ext>
                  </a:extLst>
                </a:gridCol>
                <a:gridCol w="2133600">
                  <a:extLst>
                    <a:ext uri="{9D8B030D-6E8A-4147-A177-3AD203B41FA5}">
                      <a16:colId xmlns:a16="http://schemas.microsoft.com/office/drawing/2014/main" val="20004"/>
                    </a:ext>
                  </a:extLst>
                </a:gridCol>
                <a:gridCol w="1524000">
                  <a:extLst>
                    <a:ext uri="{9D8B030D-6E8A-4147-A177-3AD203B41FA5}">
                      <a16:colId xmlns:a16="http://schemas.microsoft.com/office/drawing/2014/main" val="20005"/>
                    </a:ext>
                  </a:extLst>
                </a:gridCol>
              </a:tblGrid>
              <a:tr h="0">
                <a:tc>
                  <a:txBody>
                    <a:bodyPr/>
                    <a:lstStyle/>
                    <a:p>
                      <a:pPr marL="0" indent="0" algn="l">
                        <a:buNone/>
                      </a:pPr>
                      <a:r>
                        <a:rPr lang="en-US" sz="1200" b="1" kern="0" spc="40" dirty="0">
                          <a:solidFill>
                            <a:srgbClr val="FFFFFF"/>
                          </a:solidFill>
                          <a:latin typeface="Calibri" pitchFamily="34" charset="0"/>
                          <a:ea typeface="Calibri" pitchFamily="34" charset="-122"/>
                          <a:cs typeface="Calibri" pitchFamily="34" charset="-120"/>
                        </a:rPr>
                        <a:t>Dependencia</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Capital</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Interés</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Deuda total</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Ingresos 25/26</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tc>
                  <a:txBody>
                    <a:bodyPr/>
                    <a:lstStyle/>
                    <a:p>
                      <a:pPr marL="0" indent="0" algn="r">
                        <a:buNone/>
                      </a:pPr>
                      <a:r>
                        <a:rPr lang="en-US" sz="1200" b="1" kern="0" spc="40" dirty="0">
                          <a:solidFill>
                            <a:srgbClr val="FFFFFF"/>
                          </a:solidFill>
                          <a:latin typeface="Calibri" pitchFamily="34" charset="0"/>
                          <a:ea typeface="Calibri" pitchFamily="34" charset="-122"/>
                          <a:cs typeface="Calibri" pitchFamily="34" charset="-120"/>
                        </a:rPr>
                        <a:t>Deuda/Ingr.</a:t>
                      </a:r>
                      <a:endParaRPr lang="en-US" sz="1200" dirty="0">
                        <a:latin typeface="Calibri" charset="0"/>
                        <a:ea typeface="Calibri" charset="0"/>
                        <a:cs typeface="Calibri" charset="0"/>
                      </a:endParaRPr>
                    </a:p>
                  </a:txBody>
                  <a:tcPr marL="76200" marR="76200" marT="38100" marB="38100" anchor="b">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2C5F2D"/>
                    </a:solidFill>
                  </a:tcPr>
                </a:tc>
                <a:extLst>
                  <a:ext uri="{0D108BD9-81ED-4DB2-BD59-A6C34878D82A}">
                    <a16:rowId xmlns:a16="http://schemas.microsoft.com/office/drawing/2014/main" val="10000"/>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Nahuel Huapi</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$ 178.148.603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$ 42.936.550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$ 221.085.154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$ 4.187.192.718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Iguazú</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$ 194.977.612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$ 4.723.889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$ 199.701.501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$ 9.213.002.159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2"/>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Glaciares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$ 87.934.408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$ 7.266.886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$ 95.201.294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$ 6.824.863.627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Alerces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$ 28.231.872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$ 1.891.909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$ 30.123.781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$ 116.253.096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25,9%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4"/>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Lanín</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$ 25.577.979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$ 1.466.699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$ 27.044.677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$ 752.337.021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Tierra del Fuego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$ 18.430.869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$ 2.609.628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$ 21.040.498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$ 1.692.957.246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6"/>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Lago Puelo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$ 16.785.300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$ 332.111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$ 17.117.412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$ 39.154.804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43,7%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Los Cardones</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$ 5.620.366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$ 1.380.641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$ 7.001.007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$ 9.011.975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A6472B"/>
                          </a:solidFill>
                          <a:latin typeface="Calibri" pitchFamily="34" charset="0"/>
                          <a:ea typeface="Calibri" pitchFamily="34" charset="-122"/>
                          <a:cs typeface="Calibri" pitchFamily="34" charset="-120"/>
                        </a:rPr>
                        <a:t>77,7%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08"/>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El Palmar</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$ 4.901.754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$ 799.584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$ 5.701.337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$ 37.213.862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15,3%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Talampaya</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$ 1.801.559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$ 271.818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$ 2.073.378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$ 307.855.921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0"/>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San Guillermo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$ 1.260.600</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$ 41.535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$ 1.302.135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$ 1.450.681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A6472B"/>
                          </a:solidFill>
                          <a:latin typeface="Calibri" pitchFamily="34" charset="0"/>
                          <a:ea typeface="Calibri" pitchFamily="34" charset="-122"/>
                          <a:cs typeface="Calibri" pitchFamily="34" charset="-120"/>
                        </a:rPr>
                        <a:t>89,8%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Condorito</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$ 708.441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$ 196.412</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$ 904.853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$ 2.556.869</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tc>
                  <a:txBody>
                    <a:bodyPr/>
                    <a:lstStyle/>
                    <a:p>
                      <a:pPr marL="0" indent="0" algn="r">
                        <a:buNone/>
                      </a:pPr>
                      <a:r>
                        <a:rPr lang="en-US" sz="1200" b="1" dirty="0">
                          <a:solidFill>
                            <a:srgbClr val="B0763A"/>
                          </a:solidFill>
                          <a:latin typeface="Calibri" pitchFamily="34" charset="0"/>
                          <a:ea typeface="Calibri" pitchFamily="34" charset="-122"/>
                          <a:cs typeface="Calibri" pitchFamily="34" charset="-120"/>
                        </a:rPr>
                        <a:t>35,4%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5F9EF"/>
                    </a:solidFill>
                  </a:tcPr>
                </a:tc>
                <a:extLst>
                  <a:ext uri="{0D108BD9-81ED-4DB2-BD59-A6C34878D82A}">
                    <a16:rowId xmlns:a16="http://schemas.microsoft.com/office/drawing/2014/main" val="10012"/>
                  </a:ext>
                </a:extLst>
              </a:tr>
              <a:tr h="0">
                <a:tc>
                  <a:txBody>
                    <a:bodyPr/>
                    <a:lstStyle/>
                    <a:p>
                      <a:pPr marL="0" indent="0" algn="l">
                        <a:buNone/>
                      </a:pPr>
                      <a:r>
                        <a:rPr lang="en-US" sz="1200" dirty="0">
                          <a:solidFill>
                            <a:srgbClr val="2B2B24"/>
                          </a:solidFill>
                          <a:latin typeface="Calibri" pitchFamily="34" charset="0"/>
                          <a:ea typeface="Calibri" pitchFamily="34" charset="-122"/>
                          <a:cs typeface="Calibri" pitchFamily="34" charset="-120"/>
                        </a:rPr>
                        <a:t>Otras dependencias (7)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$ 99.595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$ 61.171</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$ 160.766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dirty="0">
                          <a:solidFill>
                            <a:srgbClr val="2B2B24"/>
                          </a:solidFill>
                          <a:latin typeface="Calibri" pitchFamily="34" charset="0"/>
                          <a:ea typeface="Calibri" pitchFamily="34" charset="-122"/>
                          <a:cs typeface="Calibri" pitchFamily="34" charset="-120"/>
                        </a:rPr>
                        <a:t>$ 10.611.116</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0">
                <a:tc>
                  <a:txBody>
                    <a:bodyPr/>
                    <a:lstStyle/>
                    <a:p>
                      <a:pPr marL="0" indent="0" algn="l">
                        <a:buNone/>
                      </a:pPr>
                      <a:r>
                        <a:rPr lang="en-US" sz="1200" b="1" dirty="0">
                          <a:solidFill>
                            <a:srgbClr val="2B2B24"/>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$ 564.478.958</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$ 63.978.835</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$ 628.457.793</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B2B24"/>
                          </a:solidFill>
                          <a:latin typeface="Calibri" pitchFamily="34" charset="0"/>
                          <a:ea typeface="Calibri" pitchFamily="34" charset="-122"/>
                          <a:cs typeface="Calibri" pitchFamily="34" charset="-120"/>
                        </a:rPr>
                        <a:t>$ 23.194.461.094</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tc>
                  <a:txBody>
                    <a:bodyPr/>
                    <a:lstStyle/>
                    <a:p>
                      <a:pPr marL="0" indent="0" algn="r">
                        <a:buNone/>
                      </a:pPr>
                      <a:r>
                        <a:rPr lang="en-US" sz="1200" b="1" dirty="0">
                          <a:solidFill>
                            <a:srgbClr val="2C5F2D"/>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76200" marR="76200" marT="38100" marB="38100" anchor="ctr">
                    <a:lnL w="6350" cap="flat" cmpd="sng" algn="ctr">
                      <a:solidFill>
                        <a:srgbClr val="E4EADB"/>
                      </a:solidFill>
                      <a:prstDash val="solid"/>
                      <a:round/>
                      <a:headEnd type="none" w="med" len="med"/>
                      <a:tailEnd type="none" w="med" len="med"/>
                    </a:lnL>
                    <a:lnR w="6350" cap="flat" cmpd="sng" algn="ctr">
                      <a:solidFill>
                        <a:srgbClr val="E4EADB"/>
                      </a:solidFill>
                      <a:prstDash val="solid"/>
                      <a:round/>
                      <a:headEnd type="none" w="med" len="med"/>
                      <a:tailEnd type="none" w="med" len="med"/>
                    </a:lnR>
                    <a:lnT w="6350" cap="flat" cmpd="sng" algn="ctr">
                      <a:solidFill>
                        <a:srgbClr val="E4EADB"/>
                      </a:solidFill>
                      <a:prstDash val="solid"/>
                      <a:round/>
                      <a:headEnd type="none" w="med" len="med"/>
                      <a:tailEnd type="none" w="med" len="med"/>
                    </a:lnT>
                    <a:lnB w="6350" cap="flat" cmpd="sng" algn="ctr">
                      <a:solidFill>
                        <a:srgbClr val="E4EADB"/>
                      </a:solidFill>
                      <a:prstDash val="solid"/>
                      <a:round/>
                      <a:headEnd type="none" w="med" len="med"/>
                      <a:tailEnd type="none" w="med" len="med"/>
                    </a:lnB>
                    <a:solidFill>
                      <a:srgbClr val="E4EDD9"/>
                    </a:solidFill>
                  </a:tcPr>
                </a:tc>
                <a:extLst>
                  <a:ext uri="{0D108BD9-81ED-4DB2-BD59-A6C34878D82A}">
                    <a16:rowId xmlns:a16="http://schemas.microsoft.com/office/drawing/2014/main" val="10014"/>
                  </a:ext>
                </a:extLst>
              </a:tr>
            </a:tbl>
          </a:graphicData>
        </a:graphic>
      </p:graphicFrame>
      <p:sp>
        <p:nvSpPr>
          <p:cNvPr id="7" name="Shape 4"/>
          <p:cNvSpPr/>
          <p:nvPr/>
        </p:nvSpPr>
        <p:spPr>
          <a:xfrm>
            <a:off x="609600" y="5399966"/>
            <a:ext cx="10972800" cy="939800"/>
          </a:xfrm>
          <a:prstGeom prst="roundRect">
            <a:avLst>
              <a:gd name="adj" fmla="val 4865"/>
            </a:avLst>
          </a:prstGeom>
          <a:solidFill>
            <a:srgbClr val="F6F9F1"/>
          </a:solidFill>
          <a:ln w="9525">
            <a:solidFill>
              <a:srgbClr val="E1EBD6"/>
            </a:solidFill>
            <a:prstDash val="solid"/>
          </a:ln>
        </p:spPr>
        <p:txBody>
          <a:bodyPr/>
          <a:lstStyle/>
          <a:p>
            <a:pPr/>
            <a:endParaRPr lang="es-AR"/>
          </a:p>
        </p:txBody>
      </p:sp>
      <p:sp>
        <p:nvSpPr>
          <p:cNvPr id="8" name="Text 5"/>
          <p:cNvSpPr txBox="1"/>
          <p:nvPr/>
        </p:nvSpPr>
        <p:spPr>
          <a:xfrm>
            <a:off x="762000" y="5489813"/>
            <a:ext cx="10668000" cy="787400"/>
          </a:xfrm>
          <a:prstGeom prst="rect">
            <a:avLst/>
          </a:prstGeom>
          <a:noFill/>
          <a:ln/>
        </p:spPr>
        <p:txBody>
          <a:bodyPr wrap="square" lIns="0" tIns="0" rIns="0" bIns="0" rtlCol="0" anchor="ctr"/>
          <a:lstStyle/>
          <a:p>
            <a:pPr marL="0" indent="0" algn="l">
              <a:lnSpc>
                <a:spcPct val="120000"/>
              </a:lnSpc>
              <a:buNone/>
            </a:pPr>
            <a:r>
              <a:rPr lang="en-US" sz="1100" dirty="0">
                <a:solidFill>
                  <a:srgbClr val="2B2B24"/>
                </a:solidFill>
                <a:latin typeface="Calibri" pitchFamily="34" charset="0"/>
                <a:ea typeface="Calibri" pitchFamily="34" charset="-122"/>
                <a:cs typeface="Calibri" pitchFamily="34" charset="-120"/>
              </a:rPr>
              <a:t>Entre las dependencias más intensivas en generación de ingresos la proporción es baja —Los Glaciares 1,4%, Tierra del Fuego 1,2%, Iguazú 2,2%—, y la relación se invierte en dependencias con prestadores de menor peso: Lago Puelo llega a 43,7%, Los Cardones a 77,7% y San Guillermo a 89,8%, con una deuda que casi iguala su cobranza anual. Nahuel Huapi, con 5,3% de ratio, concentra el 35,2% de la deuda de prestadores activos del sistema.</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9" name="Shape 7">
            <a:extLst>
              <a:ext uri="{FF2B5EF4-FFF2-40B4-BE49-F238E27FC236}">
                <a16:creationId xmlns:a16="http://schemas.microsoft.com/office/drawing/2014/main" id="{F8CC0C63-B4CA-C735-4C2D-AF4FC78C3334}"/>
              </a:ext>
            </a:extLst>
          </p:cNvPr>
          <p:cNvSpPr/>
          <p:nvPr/>
        </p:nvSpPr>
        <p:spPr>
          <a:xfrm>
            <a:off x="6218832" y="4237535"/>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7" name="Shape 7">
            <a:extLst>
              <a:ext uri="{FF2B5EF4-FFF2-40B4-BE49-F238E27FC236}">
                <a16:creationId xmlns:a16="http://schemas.microsoft.com/office/drawing/2014/main" id="{AB083EE7-5689-2C12-7FB1-0EDB35E29D5D}"/>
              </a:ext>
            </a:extLst>
          </p:cNvPr>
          <p:cNvSpPr/>
          <p:nvPr/>
        </p:nvSpPr>
        <p:spPr>
          <a:xfrm>
            <a:off x="6218832" y="2904412"/>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5" name="Shape 7">
            <a:extLst>
              <a:ext uri="{FF2B5EF4-FFF2-40B4-BE49-F238E27FC236}">
                <a16:creationId xmlns:a16="http://schemas.microsoft.com/office/drawing/2014/main" id="{1BD7A922-6BE1-3016-9092-EFD97CCC726B}"/>
              </a:ext>
            </a:extLst>
          </p:cNvPr>
          <p:cNvSpPr/>
          <p:nvPr/>
        </p:nvSpPr>
        <p:spPr>
          <a:xfrm>
            <a:off x="6218832" y="1565354"/>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3" name="Shape 7">
            <a:extLst>
              <a:ext uri="{FF2B5EF4-FFF2-40B4-BE49-F238E27FC236}">
                <a16:creationId xmlns:a16="http://schemas.microsoft.com/office/drawing/2014/main" id="{544C8316-CA3C-0276-B3F9-897164676AFC}"/>
              </a:ext>
            </a:extLst>
          </p:cNvPr>
          <p:cNvSpPr/>
          <p:nvPr/>
        </p:nvSpPr>
        <p:spPr>
          <a:xfrm>
            <a:off x="547428" y="4242619"/>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1" name="Shape 7">
            <a:extLst>
              <a:ext uri="{FF2B5EF4-FFF2-40B4-BE49-F238E27FC236}">
                <a16:creationId xmlns:a16="http://schemas.microsoft.com/office/drawing/2014/main" id="{56DDE26A-ACD6-83A9-218D-3F43D825DDCD}"/>
              </a:ext>
            </a:extLst>
          </p:cNvPr>
          <p:cNvSpPr/>
          <p:nvPr/>
        </p:nvSpPr>
        <p:spPr>
          <a:xfrm>
            <a:off x="547428" y="2908316"/>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19" name="Shape 7">
            <a:extLst>
              <a:ext uri="{FF2B5EF4-FFF2-40B4-BE49-F238E27FC236}">
                <a16:creationId xmlns:a16="http://schemas.microsoft.com/office/drawing/2014/main" id="{9604CF3B-A799-B753-7EDD-E864CD976C7E}"/>
              </a:ext>
            </a:extLst>
          </p:cNvPr>
          <p:cNvSpPr/>
          <p:nvPr/>
        </p:nvSpPr>
        <p:spPr>
          <a:xfrm>
            <a:off x="547428" y="1565354"/>
            <a:ext cx="5519004" cy="1119559"/>
          </a:xfrm>
          <a:prstGeom prst="roundRect">
            <a:avLst>
              <a:gd name="adj" fmla="val 4050"/>
            </a:avLst>
          </a:prstGeom>
          <a:solidFill>
            <a:srgbClr val="F0F5E9"/>
          </a:solidFill>
          <a:ln w="9525">
            <a:solidFill>
              <a:srgbClr val="DCE6D0"/>
            </a:solidFill>
            <a:prstDash val="solid"/>
          </a:ln>
        </p:spPr>
        <p:txBody>
          <a:bodyPr/>
          <a:lstStyle/>
          <a:p>
            <a:pPr/>
            <a:endParaRPr lang="es-AR"/>
          </a:p>
        </p:txBody>
      </p:sp>
      <p:sp>
        <p:nvSpPr>
          <p:cNvPr id="2" name="Text 0"/>
          <p:cNvSpPr txBox="1"/>
          <p:nvPr/>
        </p:nvSpPr>
        <p:spPr>
          <a:xfrm>
            <a:off x="609600" y="381000"/>
            <a:ext cx="10972800" cy="177800"/>
          </a:xfrm>
          <a:prstGeom prst="rect">
            <a:avLst/>
          </a:prstGeom>
          <a:noFill/>
          <a:ln/>
        </p:spPr>
        <p:txBody>
          <a:bodyPr wrap="square" lIns="0" tIns="0" rIns="0" bIns="0" rtlCol="0" anchor="ctr"/>
          <a:lstStyle/>
          <a:p>
            <a:pPr marL="0" indent="0">
              <a:buNone/>
            </a:pPr>
            <a:r>
              <a:rPr lang="en-US" sz="1200" b="1" kern="0" spc="220" dirty="0">
                <a:solidFill>
                  <a:srgbClr val="4E7C3A"/>
                </a:solidFill>
                <a:latin typeface="Calibri" pitchFamily="34" charset="0"/>
                <a:ea typeface="Calibri" pitchFamily="34" charset="-122"/>
                <a:cs typeface="Calibri" pitchFamily="34" charset="-120"/>
              </a:rPr>
              <a:t>SÍNTESIS</a:t>
            </a:r>
            <a:endParaRPr lang="en-US" sz="1200" dirty="0"/>
          </a:p>
        </p:txBody>
      </p:sp>
      <p:sp>
        <p:nvSpPr>
          <p:cNvPr id="3" name="Text 1"/>
          <p:cNvSpPr txBox="1"/>
          <p:nvPr/>
        </p:nvSpPr>
        <p:spPr>
          <a:xfrm>
            <a:off x="609600" y="584200"/>
            <a:ext cx="10972800" cy="431800"/>
          </a:xfrm>
          <a:prstGeom prst="rect">
            <a:avLst/>
          </a:prstGeom>
          <a:noFill/>
          <a:ln/>
        </p:spPr>
        <p:txBody>
          <a:bodyPr wrap="square" lIns="0" tIns="0" rIns="0" bIns="0" rtlCol="0" anchor="ctr"/>
          <a:lstStyle/>
          <a:p>
            <a:pPr marL="0" indent="0">
              <a:buNone/>
            </a:pPr>
            <a:r>
              <a:rPr lang="en-US" sz="3200" b="1" dirty="0" err="1">
                <a:solidFill>
                  <a:srgbClr val="2C5F2D"/>
                </a:solidFill>
                <a:latin typeface="Calibri" pitchFamily="34" charset="0"/>
                <a:ea typeface="Calibri" pitchFamily="34" charset="-122"/>
                <a:cs typeface="Calibri" pitchFamily="34" charset="-120"/>
              </a:rPr>
              <a:t>Conclusiones</a:t>
            </a:r>
            <a:r>
              <a:rPr lang="en-US" sz="3200" b="1" dirty="0">
                <a:solidFill>
                  <a:srgbClr val="2C5F2D"/>
                </a:solidFill>
                <a:latin typeface="Calibri" pitchFamily="34" charset="0"/>
                <a:ea typeface="Calibri" pitchFamily="34" charset="-122"/>
                <a:cs typeface="Calibri" pitchFamily="34" charset="-120"/>
              </a:rPr>
              <a:t> del período</a:t>
            </a:r>
            <a:endParaRPr lang="en-US" sz="3200" dirty="0"/>
          </a:p>
        </p:txBody>
      </p:sp>
      <p:sp>
        <p:nvSpPr>
          <p:cNvPr id="4" name="Text 2"/>
          <p:cNvSpPr txBox="1"/>
          <p:nvPr/>
        </p:nvSpPr>
        <p:spPr>
          <a:xfrm>
            <a:off x="609600" y="1016000"/>
            <a:ext cx="10972800" cy="203200"/>
          </a:xfrm>
          <a:prstGeom prst="rect">
            <a:avLst/>
          </a:prstGeom>
          <a:noFill/>
          <a:ln/>
        </p:spPr>
        <p:txBody>
          <a:bodyPr wrap="square" lIns="0" tIns="0" rIns="0" bIns="0" rtlCol="0" anchor="ctr"/>
          <a:lstStyle/>
          <a:p>
            <a:pPr marL="0" indent="0">
              <a:buNone/>
            </a:pPr>
            <a:r>
              <a:rPr lang="en-US" sz="1100" i="1" dirty="0">
                <a:solidFill>
                  <a:srgbClr val="6E6B5E"/>
                </a:solidFill>
                <a:latin typeface="Calibri" pitchFamily="34" charset="0"/>
                <a:ea typeface="Calibri" pitchFamily="34" charset="-122"/>
                <a:cs typeface="Calibri" pitchFamily="34" charset="-120"/>
              </a:rPr>
              <a:t>Agosto 2023 – Septiembre 2026</a:t>
            </a:r>
            <a:endParaRPr lang="en-US" sz="1100" dirty="0"/>
          </a:p>
        </p:txBody>
      </p:sp>
      <p:sp>
        <p:nvSpPr>
          <p:cNvPr id="5" name="Text 3"/>
          <p:cNvSpPr txBox="1"/>
          <p:nvPr/>
        </p:nvSpPr>
        <p:spPr>
          <a:xfrm>
            <a:off x="609600" y="6350000"/>
            <a:ext cx="10972800" cy="177800"/>
          </a:xfrm>
          <a:prstGeom prst="rect">
            <a:avLst/>
          </a:prstGeom>
          <a:noFill/>
          <a:ln/>
        </p:spPr>
        <p:txBody>
          <a:bodyPr wrap="square" lIns="0" tIns="0" rIns="0" bIns="0" rtlCol="0" anchor="ctr"/>
          <a:lstStyle/>
          <a:p>
            <a:pPr marL="0" indent="0">
              <a:buNone/>
            </a:pPr>
            <a:r>
              <a:rPr lang="en-US" sz="800" i="1" dirty="0">
                <a:solidFill>
                  <a:srgbClr val="8A8A7C"/>
                </a:solidFill>
                <a:latin typeface="Calibri" pitchFamily="34" charset="0"/>
                <a:ea typeface="Calibri" pitchFamily="34" charset="-122"/>
                <a:cs typeface="Calibri" pitchFamily="34" charset="-120"/>
              </a:rPr>
              <a:t>Fuente: elaboración propia sobre datos disponibles en ReNaRI.</a:t>
            </a:r>
            <a:endParaRPr lang="en-US" sz="800" dirty="0"/>
          </a:p>
        </p:txBody>
      </p:sp>
      <p:sp>
        <p:nvSpPr>
          <p:cNvPr id="6" name="Text 4"/>
          <p:cNvSpPr txBox="1"/>
          <p:nvPr/>
        </p:nvSpPr>
        <p:spPr>
          <a:xfrm>
            <a:off x="609600" y="17169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01</a:t>
            </a:r>
            <a:endParaRPr lang="en-US" sz="2400" b="1" dirty="0"/>
          </a:p>
        </p:txBody>
      </p:sp>
      <p:sp>
        <p:nvSpPr>
          <p:cNvPr id="7" name="Text 5"/>
          <p:cNvSpPr txBox="1"/>
          <p:nvPr/>
        </p:nvSpPr>
        <p:spPr>
          <a:xfrm>
            <a:off x="1066800" y="16915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Contracción real en ambos universos. </a:t>
            </a:r>
            <a:r>
              <a:rPr lang="en-US" sz="1400" b="1" dirty="0">
                <a:solidFill>
                  <a:srgbClr val="2B2B24"/>
                </a:solidFill>
                <a:latin typeface="Calibri" pitchFamily="34" charset="0"/>
                <a:ea typeface="Calibri" pitchFamily="34" charset="-122"/>
                <a:cs typeface="Calibri" pitchFamily="34" charset="-120"/>
              </a:rPr>
              <a:t>La cobranza de prestadores cae 19% en pesos constantes entre el primer y el último ciclo, y 24% en el universo depurado.</a:t>
            </a:r>
            <a:endParaRPr lang="en-US" sz="1400" b="1" dirty="0"/>
          </a:p>
        </p:txBody>
      </p:sp>
      <p:sp>
        <p:nvSpPr>
          <p:cNvPr id="8" name="Text 6"/>
          <p:cNvSpPr txBox="1"/>
          <p:nvPr/>
        </p:nvSpPr>
        <p:spPr>
          <a:xfrm>
            <a:off x="6299200" y="17169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02</a:t>
            </a:r>
            <a:endParaRPr lang="en-US" sz="2400" b="1" dirty="0"/>
          </a:p>
        </p:txBody>
      </p:sp>
      <p:sp>
        <p:nvSpPr>
          <p:cNvPr id="9" name="Text 7"/>
          <p:cNvSpPr txBox="1"/>
          <p:nvPr/>
        </p:nvSpPr>
        <p:spPr>
          <a:xfrm>
            <a:off x="6756400" y="16915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Ilusión de los ingresos corrientes. </a:t>
            </a:r>
            <a:r>
              <a:rPr lang="en-US" sz="1400" b="1" dirty="0">
                <a:solidFill>
                  <a:srgbClr val="2B2B24"/>
                </a:solidFill>
                <a:latin typeface="Calibri" pitchFamily="34" charset="0"/>
                <a:ea typeface="Calibri" pitchFamily="34" charset="-122"/>
                <a:cs typeface="Calibri" pitchFamily="34" charset="-120"/>
              </a:rPr>
              <a:t>El valor nominal sube por inflación y oculta la pérdida de valor real, que debe ser tomada como factor de comparación.</a:t>
            </a:r>
            <a:endParaRPr lang="en-US" sz="1400" b="1" dirty="0"/>
          </a:p>
        </p:txBody>
      </p:sp>
      <p:sp>
        <p:nvSpPr>
          <p:cNvPr id="10" name="Text 8"/>
          <p:cNvSpPr txBox="1"/>
          <p:nvPr/>
        </p:nvSpPr>
        <p:spPr>
          <a:xfrm>
            <a:off x="609600" y="30377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03</a:t>
            </a:r>
            <a:endParaRPr lang="en-US" sz="2400" b="1" dirty="0"/>
          </a:p>
        </p:txBody>
      </p:sp>
      <p:sp>
        <p:nvSpPr>
          <p:cNvPr id="11" name="Text 9"/>
          <p:cNvSpPr txBox="1"/>
          <p:nvPr/>
        </p:nvSpPr>
        <p:spPr>
          <a:xfrm>
            <a:off x="1066800" y="30123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La evolución en dólares no indica mejora. </a:t>
            </a:r>
            <a:r>
              <a:rPr lang="en-US" sz="1400" b="1" dirty="0">
                <a:solidFill>
                  <a:srgbClr val="2B2B24"/>
                </a:solidFill>
                <a:latin typeface="Calibri" pitchFamily="34" charset="0"/>
                <a:ea typeface="Calibri" pitchFamily="34" charset="-122"/>
                <a:cs typeface="Calibri" pitchFamily="34" charset="-120"/>
              </a:rPr>
              <a:t>Responde a la apreciación real del peso, en especial cuando se comparan los extremos de la serie temporal.</a:t>
            </a:r>
            <a:endParaRPr lang="en-US" sz="1400" b="1" dirty="0"/>
          </a:p>
        </p:txBody>
      </p:sp>
      <p:sp>
        <p:nvSpPr>
          <p:cNvPr id="12" name="Text 10"/>
          <p:cNvSpPr txBox="1"/>
          <p:nvPr/>
        </p:nvSpPr>
        <p:spPr>
          <a:xfrm>
            <a:off x="6299200" y="30377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04</a:t>
            </a:r>
            <a:endParaRPr lang="en-US" sz="2400" b="1" dirty="0"/>
          </a:p>
        </p:txBody>
      </p:sp>
      <p:sp>
        <p:nvSpPr>
          <p:cNvPr id="13" name="Text 11"/>
          <p:cNvSpPr txBox="1"/>
          <p:nvPr/>
        </p:nvSpPr>
        <p:spPr>
          <a:xfrm>
            <a:off x="6756400" y="30123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Alta exposición a jugadores concentrados. </a:t>
            </a:r>
            <a:r>
              <a:rPr lang="en-US" sz="1400" b="1" dirty="0">
                <a:solidFill>
                  <a:srgbClr val="2B2B24"/>
                </a:solidFill>
                <a:latin typeface="Calibri" pitchFamily="34" charset="0"/>
                <a:ea typeface="Calibri" pitchFamily="34" charset="-122"/>
                <a:cs typeface="Calibri" pitchFamily="34" charset="-120"/>
              </a:rPr>
              <a:t>Casi 9 de cada 10 pesos provienen de </a:t>
            </a:r>
            <a:r>
              <a:rPr lang="en-US" sz="1400" b="1" dirty="0" err="1">
                <a:solidFill>
                  <a:srgbClr val="2B2B24"/>
                </a:solidFill>
                <a:latin typeface="Calibri" pitchFamily="34" charset="0"/>
                <a:ea typeface="Calibri" pitchFamily="34" charset="-122"/>
                <a:cs typeface="Calibri" pitchFamily="34" charset="-120"/>
              </a:rPr>
              <a:t>los</a:t>
            </a:r>
            <a:r>
              <a:rPr lang="en-US" sz="1400" b="1" dirty="0">
                <a:solidFill>
                  <a:srgbClr val="2B2B24"/>
                </a:solidFill>
                <a:latin typeface="Calibri" pitchFamily="34" charset="0"/>
                <a:ea typeface="Calibri" pitchFamily="34" charset="-122"/>
                <a:cs typeface="Calibri" pitchFamily="34" charset="-120"/>
              </a:rPr>
              <a:t> diez principales prestadores; la </a:t>
            </a:r>
            <a:r>
              <a:rPr lang="en-US" sz="1400" b="1" dirty="0" err="1">
                <a:solidFill>
                  <a:srgbClr val="2B2B24"/>
                </a:solidFill>
                <a:latin typeface="Calibri" pitchFamily="34" charset="0"/>
                <a:ea typeface="Calibri" pitchFamily="34" charset="-122"/>
                <a:cs typeface="Calibri" pitchFamily="34" charset="-120"/>
              </a:rPr>
              <a:t>misma</a:t>
            </a:r>
            <a:r>
              <a:rPr lang="en-US" sz="1400" b="1" dirty="0">
                <a:solidFill>
                  <a:srgbClr val="2B2B24"/>
                </a:solidFill>
                <a:latin typeface="Calibri" pitchFamily="34" charset="0"/>
                <a:ea typeface="Calibri" pitchFamily="34" charset="-122"/>
                <a:cs typeface="Calibri" pitchFamily="34" charset="-120"/>
              </a:rPr>
              <a:t> </a:t>
            </a:r>
            <a:r>
              <a:rPr lang="en-US" sz="1400" b="1" dirty="0" err="1">
                <a:solidFill>
                  <a:srgbClr val="2B2B24"/>
                </a:solidFill>
                <a:latin typeface="Calibri" pitchFamily="34" charset="0"/>
                <a:ea typeface="Calibri" pitchFamily="34" charset="-122"/>
                <a:cs typeface="Calibri" pitchFamily="34" charset="-120"/>
              </a:rPr>
              <a:t>concentración</a:t>
            </a:r>
            <a:r>
              <a:rPr lang="en-US" sz="1400" b="1" dirty="0">
                <a:solidFill>
                  <a:srgbClr val="2B2B24"/>
                </a:solidFill>
                <a:latin typeface="Calibri" pitchFamily="34" charset="0"/>
                <a:ea typeface="Calibri" pitchFamily="34" charset="-122"/>
                <a:cs typeface="Calibri" pitchFamily="34" charset="-120"/>
              </a:rPr>
              <a:t> </a:t>
            </a:r>
            <a:r>
              <a:rPr lang="en-US" sz="1400" b="1" dirty="0" err="1">
                <a:solidFill>
                  <a:srgbClr val="2B2B24"/>
                </a:solidFill>
                <a:latin typeface="Calibri" pitchFamily="34" charset="0"/>
                <a:ea typeface="Calibri" pitchFamily="34" charset="-122"/>
                <a:cs typeface="Calibri" pitchFamily="34" charset="-120"/>
              </a:rPr>
              <a:t>existe</a:t>
            </a:r>
            <a:r>
              <a:rPr lang="en-US" sz="1400" b="1" dirty="0">
                <a:solidFill>
                  <a:srgbClr val="2B2B24"/>
                </a:solidFill>
                <a:latin typeface="Calibri" pitchFamily="34" charset="0"/>
                <a:ea typeface="Calibri" pitchFamily="34" charset="-122"/>
                <a:cs typeface="Calibri" pitchFamily="34" charset="-120"/>
              </a:rPr>
              <a:t> entre los tres parques de mayores ingresos.</a:t>
            </a:r>
            <a:endParaRPr lang="en-US" sz="1400" b="1" dirty="0"/>
          </a:p>
        </p:txBody>
      </p:sp>
      <p:sp>
        <p:nvSpPr>
          <p:cNvPr id="14" name="Text 12"/>
          <p:cNvSpPr txBox="1"/>
          <p:nvPr/>
        </p:nvSpPr>
        <p:spPr>
          <a:xfrm>
            <a:off x="609600" y="43585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05</a:t>
            </a:r>
            <a:endParaRPr lang="en-US" sz="2400" b="1" dirty="0"/>
          </a:p>
        </p:txBody>
      </p:sp>
      <p:sp>
        <p:nvSpPr>
          <p:cNvPr id="15" name="Text 13"/>
          <p:cNvSpPr txBox="1"/>
          <p:nvPr/>
        </p:nvSpPr>
        <p:spPr>
          <a:xfrm>
            <a:off x="1066800" y="43331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Correlación negativa entre ingresos y deuda. </a:t>
            </a:r>
            <a:r>
              <a:rPr lang="en-US" sz="1400" b="1" dirty="0">
                <a:solidFill>
                  <a:srgbClr val="2B2B24"/>
                </a:solidFill>
                <a:latin typeface="Calibri" pitchFamily="34" charset="0"/>
                <a:ea typeface="Calibri" pitchFamily="34" charset="-122"/>
                <a:cs typeface="Calibri" pitchFamily="34" charset="-120"/>
              </a:rPr>
              <a:t>La deuda de prestadores activos equivale a 2,7% de la cobranza anual, pero se concentra en Nahuel Huapi, que reúne 35,2% de ese pasivo.</a:t>
            </a:r>
            <a:endParaRPr lang="en-US" sz="1400" b="1" dirty="0"/>
          </a:p>
        </p:txBody>
      </p:sp>
      <p:sp>
        <p:nvSpPr>
          <p:cNvPr id="16" name="Text 14"/>
          <p:cNvSpPr txBox="1"/>
          <p:nvPr/>
        </p:nvSpPr>
        <p:spPr>
          <a:xfrm>
            <a:off x="6299200" y="4358567"/>
            <a:ext cx="431800" cy="304800"/>
          </a:xfrm>
          <a:prstGeom prst="rect">
            <a:avLst/>
          </a:prstGeom>
          <a:noFill/>
          <a:ln/>
        </p:spPr>
        <p:txBody>
          <a:bodyPr wrap="square" lIns="0" tIns="0" rIns="0" bIns="0" rtlCol="0" anchor="ctr"/>
          <a:lstStyle/>
          <a:p>
            <a:pPr marL="0" indent="0" algn="l">
              <a:buNone/>
            </a:pPr>
            <a:r>
              <a:rPr lang="en-US" sz="2400" b="1" dirty="0">
                <a:solidFill>
                  <a:srgbClr val="6A9A4A"/>
                </a:solidFill>
                <a:latin typeface="Calibri" pitchFamily="34" charset="0"/>
                <a:ea typeface="Calibri" pitchFamily="34" charset="-122"/>
                <a:cs typeface="Calibri" pitchFamily="34" charset="-120"/>
              </a:rPr>
              <a:t>06</a:t>
            </a:r>
            <a:endParaRPr lang="en-US" sz="2400" b="1" dirty="0"/>
          </a:p>
        </p:txBody>
      </p:sp>
      <p:sp>
        <p:nvSpPr>
          <p:cNvPr id="17" name="Text 15"/>
          <p:cNvSpPr txBox="1"/>
          <p:nvPr/>
        </p:nvSpPr>
        <p:spPr>
          <a:xfrm>
            <a:off x="6756400" y="4333167"/>
            <a:ext cx="4876800" cy="1168400"/>
          </a:xfrm>
          <a:prstGeom prst="rect">
            <a:avLst/>
          </a:prstGeom>
          <a:noFill/>
          <a:ln/>
        </p:spPr>
        <p:txBody>
          <a:bodyPr wrap="square" lIns="0" tIns="0" rIns="0" bIns="0" rtlCol="0" anchor="t"/>
          <a:lstStyle/>
          <a:p>
            <a:pPr marL="0" indent="0" algn="l">
              <a:lnSpc>
                <a:spcPct val="125000"/>
              </a:lnSpc>
              <a:buNone/>
            </a:pPr>
            <a:r>
              <a:rPr lang="en-US" sz="1400" b="1" dirty="0">
                <a:solidFill>
                  <a:srgbClr val="2C5F2D"/>
                </a:solidFill>
                <a:latin typeface="Calibri" pitchFamily="34" charset="0"/>
                <a:ea typeface="Calibri" pitchFamily="34" charset="-122"/>
                <a:cs typeface="Calibri" pitchFamily="34" charset="-120"/>
              </a:rPr>
              <a:t>Foco de atención. </a:t>
            </a:r>
            <a:r>
              <a:rPr lang="en-US" sz="1400" b="1" dirty="0">
                <a:solidFill>
                  <a:srgbClr val="2B2B24"/>
                </a:solidFill>
                <a:latin typeface="Calibri" pitchFamily="34" charset="0"/>
                <a:ea typeface="Calibri" pitchFamily="34" charset="-122"/>
                <a:cs typeface="Calibri" pitchFamily="34" charset="-120"/>
              </a:rPr>
              <a:t>Tranex Turismo se destaca negativamente entre los principales operadores —cae 39% en el último ciclo— e impacta sobre la performance del PN Tierra del Fuego.</a:t>
            </a:r>
            <a:endParaRPr lang="en-US" sz="1400" b="1"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2381</Words>
  <Application>Microsoft Office PowerPoint</Application>
  <PresentationFormat>Panorámica</PresentationFormat>
  <Paragraphs>597</Paragraphs>
  <Slides>14</Slides>
  <Notes>14</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14</vt:i4>
      </vt:variant>
    </vt:vector>
  </HeadingPairs>
  <TitlesOfParts>
    <vt:vector size="17"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Informe de cobranzas — agosto 2023 a agosto 2026</dc:title>
  <dc:subject>PptxGenJS Presentation</dc:subject>
  <dc:creator>Fernando Fascie</dc:creator>
  <cp:lastModifiedBy>Fernando Fascie</cp:lastModifiedBy>
  <cp:revision>8</cp:revision>
  <dcterms:created xsi:type="dcterms:W3CDTF">2026-09-10T18:07:47Z</dcterms:created>
  <dcterms:modified xsi:type="dcterms:W3CDTF">2026-09-10T19:05:41Z</dcterms:modified>
</cp:coreProperties>
</file>