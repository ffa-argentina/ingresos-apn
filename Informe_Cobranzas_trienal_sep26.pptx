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70" r:id="rId21"/>
    <p:sldId id="261" r:id="rId7"/>
    <p:sldId id="262" r:id="rId8"/>
    <p:sldId id="263" r:id="rId9"/>
    <p:sldId id="264" r:id="rId10"/>
    <p:sldId id="265" r:id="rId11"/>
    <p:sldId id="271" r:id="rId22"/>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6.xml"/><Relationship Id="rId22"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2792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F1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9800" y="1905000"/>
            <a:ext cx="3048000" cy="3048000"/>
          </a:xfrm>
          <a:prstGeom prst="rect">
            <a:avLst/>
          </a:prstGeom>
        </p:spPr>
      </p:pic>
      <p:sp>
        <p:nvSpPr>
          <p:cNvPr id="3" name="Text 0"/>
          <p:cNvSpPr txBox="1"/>
          <p:nvPr/>
        </p:nvSpPr>
        <p:spPr>
          <a:xfrm>
            <a:off x="4699000" y="1905000"/>
            <a:ext cx="6604000" cy="228600"/>
          </a:xfrm>
          <a:prstGeom prst="rect">
            <a:avLst/>
          </a:prstGeom>
          <a:noFill/>
          <a:ln/>
        </p:spPr>
        <p:txBody>
          <a:bodyPr wrap="square" lIns="0" tIns="0" rIns="0" bIns="0" rtlCol="0" anchor="ctr"/>
          <a:lstStyle/>
          <a:p>
            <a:pPr marL="0" indent="0">
              <a:buNone/>
            </a:pPr>
            <a:r>
              <a:rPr lang="en-US" sz="1600" b="1" kern="0" spc="200" dirty="0">
                <a:solidFill>
                  <a:srgbClr val="A9C88C"/>
                </a:solidFill>
                <a:latin typeface="Calibri" pitchFamily="34" charset="0"/>
                <a:ea typeface="Calibri" pitchFamily="34" charset="-122"/>
                <a:cs typeface="Calibri" pitchFamily="34" charset="-120"/>
              </a:rPr>
              <a:t>ADMINISTRACIÓN DE PARQUES NACIONALES</a:t>
            </a:r>
            <a:endParaRPr lang="en-US" sz="1600" dirty="0"/>
          </a:p>
        </p:txBody>
      </p:sp>
      <p:sp>
        <p:nvSpPr>
          <p:cNvPr id="4" name="Text 1"/>
          <p:cNvSpPr txBox="1"/>
          <p:nvPr/>
        </p:nvSpPr>
        <p:spPr>
          <a:xfrm>
            <a:off x="4699000" y="2235200"/>
            <a:ext cx="6604000" cy="508000"/>
          </a:xfrm>
          <a:prstGeom prst="rect">
            <a:avLst/>
          </a:prstGeom>
          <a:noFill/>
          <a:ln/>
        </p:spPr>
        <p:txBody>
          <a:bodyPr wrap="square" lIns="0" tIns="0" rIns="0" bIns="0" rtlCol="0" anchor="ctr"/>
          <a:lstStyle/>
          <a:p>
            <a:pPr marL="0" indent="0">
              <a:lnSpc>
                <a:spcPct val="130000"/>
              </a:lnSpc>
              <a:buNone/>
            </a:pPr>
            <a:r>
              <a:rPr lang="en-US" sz="1400" b="1" dirty="0">
                <a:solidFill>
                  <a:srgbClr val="E8EFE0"/>
                </a:solidFill>
                <a:latin typeface="Calibri" pitchFamily="34" charset="0"/>
                <a:ea typeface="Calibri" pitchFamily="34" charset="-122"/>
                <a:cs typeface="Calibri" pitchFamily="34" charset="-120"/>
              </a:rPr>
              <a:t>Dirección Nacional de Uso Público</a:t>
            </a:r>
            <a:endParaRPr lang="en-US" sz="1400" b="1" dirty="0"/>
          </a:p>
          <a:p>
            <a:pPr marL="0" indent="0">
              <a:lnSpc>
                <a:spcPct val="130000"/>
              </a:lnSpc>
              <a:buNone/>
            </a:pPr>
            <a:r>
              <a:rPr lang="en-US" sz="1400" b="1" dirty="0">
                <a:solidFill>
                  <a:srgbClr val="E8EFE0"/>
                </a:solidFill>
                <a:latin typeface="Calibri" pitchFamily="34" charset="0"/>
                <a:ea typeface="Calibri" pitchFamily="34" charset="-122"/>
                <a:cs typeface="Calibri" pitchFamily="34" charset="-120"/>
              </a:rPr>
              <a:t>Dirección de Concesiones</a:t>
            </a:r>
            <a:endParaRPr lang="en-US" sz="1400" b="1" dirty="0"/>
          </a:p>
        </p:txBody>
      </p:sp>
      <p:sp>
        <p:nvSpPr>
          <p:cNvPr id="5" name="Text 2"/>
          <p:cNvSpPr txBox="1"/>
          <p:nvPr/>
        </p:nvSpPr>
        <p:spPr>
          <a:xfrm>
            <a:off x="4699000" y="2895600"/>
            <a:ext cx="6959600" cy="1600200"/>
          </a:xfrm>
          <a:prstGeom prst="rect">
            <a:avLst/>
          </a:prstGeom>
          <a:noFill/>
          <a:ln/>
        </p:spPr>
        <p:txBody>
          <a:bodyPr wrap="square" lIns="0" tIns="0" rIns="0" bIns="0" rtlCol="0" anchor="ctr"/>
          <a:lstStyle/>
          <a:p>
            <a:pPr marL="0" indent="0">
              <a:lnSpc>
                <a:spcPct val="115000"/>
              </a:lnSpc>
              <a:buNone/>
            </a:pPr>
            <a:r>
              <a:rPr lang="en-US" sz="3400" b="1" dirty="0">
                <a:solidFill>
                  <a:srgbClr val="FFFFFF"/>
                </a:solidFill>
                <a:latin typeface="Calibri" pitchFamily="34" charset="0"/>
                <a:ea typeface="Calibri" pitchFamily="34" charset="-122"/>
                <a:cs typeface="Calibri" pitchFamily="34" charset="-120"/>
              </a:rPr>
              <a:t>INFORME DE COBRANZAS</a:t>
            </a:r>
            <a:endParaRPr lang="en-US" sz="3400" dirty="0"/>
          </a:p>
          <a:p>
            <a:pPr marL="0" indent="0">
              <a:lnSpc>
                <a:spcPct val="115000"/>
              </a:lnSpc>
              <a:buNone/>
            </a:pPr>
            <a:r>
              <a:rPr lang="en-US" sz="3400" b="1" dirty="0">
                <a:solidFill>
                  <a:srgbClr val="FFFFFF"/>
                </a:solidFill>
                <a:latin typeface="Calibri" pitchFamily="34" charset="0"/>
                <a:ea typeface="Calibri" pitchFamily="34" charset="-122"/>
                <a:cs typeface="Calibri" pitchFamily="34" charset="-120"/>
              </a:rPr>
              <a:t>EVOLUCIÓN POR PERÍODO OPERATIVO</a:t>
            </a:r>
            <a:endParaRPr lang="en-US" sz="3400" dirty="0"/>
          </a:p>
        </p:txBody>
      </p:sp>
      <p:sp>
        <p:nvSpPr>
          <p:cNvPr id="6" name="Text 3"/>
          <p:cNvSpPr txBox="1"/>
          <p:nvPr/>
        </p:nvSpPr>
        <p:spPr>
          <a:xfrm>
            <a:off x="4699000" y="4648200"/>
            <a:ext cx="6604000" cy="254000"/>
          </a:xfrm>
          <a:prstGeom prst="rect">
            <a:avLst/>
          </a:prstGeom>
          <a:noFill/>
          <a:ln/>
        </p:spPr>
        <p:txBody>
          <a:bodyPr wrap="square" lIns="0" tIns="0" rIns="0" bIns="0" rtlCol="0" anchor="ctr"/>
          <a:lstStyle/>
          <a:p>
            <a:pPr marL="0" indent="0">
              <a:buNone/>
            </a:pPr>
            <a:r>
              <a:rPr lang="en-US" sz="1400" i="1" dirty="0">
                <a:solidFill>
                  <a:srgbClr val="A9C88C"/>
                </a:solidFill>
                <a:latin typeface="Calibri" pitchFamily="34" charset="0"/>
                <a:ea typeface="Calibri" pitchFamily="34" charset="-122"/>
                <a:cs typeface="Calibri" pitchFamily="34" charset="-120"/>
              </a:rPr>
              <a:t>Agosto 2023 – Septiembre 2026</a:t>
            </a:r>
            <a:endParaRPr lang="en-US" sz="1400" dirty="0"/>
          </a:p>
        </p:txBody>
      </p:sp>
      <p:sp>
        <p:nvSpPr>
          <p:cNvPr id="7" name="Text 4"/>
          <p:cNvSpPr txBox="1"/>
          <p:nvPr/>
        </p:nvSpPr>
        <p:spPr>
          <a:xfrm>
            <a:off x="4699000" y="4978400"/>
            <a:ext cx="6604000" cy="228600"/>
          </a:xfrm>
          <a:prstGeom prst="rect">
            <a:avLst/>
          </a:prstGeom>
          <a:noFill/>
          <a:ln/>
        </p:spPr>
        <p:txBody>
          <a:bodyPr wrap="square" lIns="0" tIns="0" rIns="0" bIns="0" rtlCol="0" anchor="ctr"/>
          <a:lstStyle/>
          <a:p>
            <a:pPr marL="0" indent="0">
              <a:buNone/>
            </a:pPr>
            <a:r>
              <a:rPr lang="en-US" sz="1100" dirty="0">
                <a:solidFill>
                  <a:srgbClr val="C6D8B4"/>
                </a:solidFill>
                <a:latin typeface="Calibri" pitchFamily="34" charset="0"/>
                <a:ea typeface="Calibri" pitchFamily="34" charset="-122"/>
                <a:cs typeface="Calibri" pitchFamily="34" charset="-120"/>
              </a:rPr>
              <a:t>Generado por: Fernando Fascie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ALCANCE DEL INFORME</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Universo relevado y criterio de corte</a:t>
            </a:r>
            <a:endParaRPr lang="en-US" sz="3200" dirty="0"/>
          </a:p>
        </p:txBody>
      </p:sp>
      <p:sp>
        <p:nvSpPr>
          <p:cNvPr id="4" name="Text 2"/>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 Los pesos constantes ajustan cada ingreso por el índice CER de su fecha de acreditación y lo reexpresan al CER del cierre del informe, 847,28702648924 al 30 de septiembre de 2026.</a:t>
            </a:r>
            <a:endParaRPr lang="en-US" sz="800" dirty="0"/>
          </a:p>
        </p:txBody>
      </p:sp>
      <p:sp>
        <p:nvSpPr>
          <p:cNvPr id="5" name="Text 3"/>
          <p:cNvSpPr txBox="1"/>
          <p:nvPr/>
        </p:nvSpPr>
        <p:spPr>
          <a:xfrm>
            <a:off x="609600" y="1810223"/>
            <a:ext cx="5969000" cy="3175000"/>
          </a:xfrm>
          <a:prstGeom prst="rect">
            <a:avLst/>
          </a:prstGeom>
          <a:noFill/>
          <a:ln/>
        </p:spPr>
        <p:txBody>
          <a:bodyPr wrap="square" lIns="0" tIns="0" rIns="0" bIns="0" rtlCol="0" anchor="t"/>
          <a:lstStyle/>
          <a:p>
            <a:pPr marL="0" indent="0" algn="l">
              <a:lnSpc>
                <a:spcPct val="128000"/>
              </a:lnSpc>
              <a:spcAft>
                <a:spcPts val="800"/>
              </a:spcAft>
              <a:buNone/>
            </a:pPr>
            <a:r>
              <a:rPr lang="en-US" sz="1400" dirty="0">
                <a:solidFill>
                  <a:srgbClr val="2B2B24"/>
                </a:solidFill>
                <a:latin typeface="Calibri" pitchFamily="34" charset="0"/>
                <a:ea typeface="Calibri" pitchFamily="34" charset="-122"/>
                <a:cs typeface="Calibri" pitchFamily="34" charset="-120"/>
              </a:rPr>
              <a:t>Este informe analiza en forma consolidada los datos de cobranzas disponibles en ReNaRI, para todos los pagos registrados por el sistema —excluidos los imputados a medios de pago electrónico— para el universo depurado de prestadores turísticos y para el subconjunto de concesionarios y permisionarios alcanzados por declaración jurada.</a:t>
            </a:r>
            <a:endParaRPr lang="en-US" sz="1400" dirty="0"/>
          </a:p>
          <a:p>
            <a:pPr marL="0" indent="0" algn="l">
              <a:lnSpc>
                <a:spcPct val="128000"/>
              </a:lnSpc>
              <a:spcAft>
                <a:spcPts val="800"/>
              </a:spcAft>
              <a:buNone/>
            </a:pPr>
            <a:r>
              <a:rPr lang="en-US" sz="1400" dirty="0">
                <a:solidFill>
                  <a:srgbClr val="2B2B24"/>
                </a:solidFill>
                <a:latin typeface="Calibri" pitchFamily="34" charset="0"/>
                <a:ea typeface="Calibri" pitchFamily="34" charset="-122"/>
                <a:cs typeface="Calibri" pitchFamily="34" charset="-120"/>
              </a:rPr>
              <a:t>La información se organiza en </a:t>
            </a:r>
            <a:r>
              <a:rPr lang="en-US" sz="1400" b="1" dirty="0">
                <a:solidFill>
                  <a:srgbClr val="2B2B24"/>
                </a:solidFill>
                <a:latin typeface="Calibri" pitchFamily="34" charset="0"/>
                <a:ea typeface="Calibri" pitchFamily="34" charset="-122"/>
                <a:cs typeface="Calibri" pitchFamily="34" charset="-120"/>
              </a:rPr>
              <a:t>tres ciclos anuales operativos de octubre a septiembre, contados hacia atrás desde el 30 de septiembre de 2026. Agosto y septiembre de 2023 quedan fuera de los tres ciclos y sólo se computan en las series mensuales.</a:t>
            </a:r>
            <a:r>
              <a:rPr lang="en-US" sz="1400" dirty="0">
                <a:solidFill>
                  <a:srgbClr val="2B2B24"/>
                </a:solidFill>
                <a:latin typeface="Calibri" pitchFamily="34" charset="0"/>
                <a:ea typeface="Calibri" pitchFamily="34" charset="-122"/>
                <a:cs typeface="Calibri" pitchFamily="34" charset="-120"/>
              </a:rPr>
              <a:t/>
            </a:r>
            <a:endParaRPr lang="en-US" sz="1400" dirty="0"/>
          </a:p>
          <a:p>
            <a:pPr marL="0" indent="0" algn="l">
              <a:lnSpc>
                <a:spcPct val="128000"/>
              </a:lnSpc>
              <a:spcAft>
                <a:spcPts val="800"/>
              </a:spcAft>
              <a:buNone/>
            </a:pPr>
            <a:r>
              <a:rPr lang="en-US" sz="1400" dirty="0">
                <a:solidFill>
                  <a:srgbClr val="2B2B24"/>
                </a:solidFill>
                <a:latin typeface="Calibri" pitchFamily="34" charset="0"/>
                <a:ea typeface="Calibri" pitchFamily="34" charset="-122"/>
                <a:cs typeface="Calibri" pitchFamily="34" charset="-120"/>
              </a:rPr>
              <a:t>Los montos se expresan en pesos constantes al 30 de septiembre de 2026;</a:t>
            </a:r>
            <a:r>
              <a:rPr lang="en-US" sz="1400" b="1" dirty="0">
                <a:solidFill>
                  <a:srgbClr val="2B2B24"/>
                </a:solidFill>
                <a:latin typeface="Calibri" pitchFamily="34" charset="0"/>
                <a:ea typeface="Calibri" pitchFamily="34" charset="-122"/>
                <a:cs typeface="Calibri" pitchFamily="34" charset="-120"/>
              </a:rPr>
              <a:t/>
            </a:r>
            <a:r>
              <a:rPr lang="en-US" sz="1400" dirty="0">
                <a:solidFill>
                  <a:srgbClr val="2B2B24"/>
                </a:solidFill>
                <a:latin typeface="Calibri" pitchFamily="34" charset="0"/>
                <a:ea typeface="Calibri" pitchFamily="34" charset="-122"/>
                <a:cs typeface="Calibri" pitchFamily="34" charset="-120"/>
              </a:rPr>
              <a:t> en </a:t>
            </a:r>
            <a:r>
              <a:rPr lang="en-US" sz="1400" b="1" dirty="0">
                <a:solidFill>
                  <a:srgbClr val="2B2B24"/>
                </a:solidFill>
                <a:latin typeface="Calibri" pitchFamily="34" charset="0"/>
                <a:ea typeface="Calibri" pitchFamily="34" charset="-122"/>
                <a:cs typeface="Calibri" pitchFamily="34" charset="-120"/>
              </a:rPr>
              <a:t>dólares al tipo de cambio oficial</a:t>
            </a:r>
            <a:r>
              <a:rPr lang="en-US" sz="1400" dirty="0">
                <a:solidFill>
                  <a:srgbClr val="2B2B24"/>
                </a:solidFill>
                <a:latin typeface="Calibri" pitchFamily="34" charset="0"/>
                <a:ea typeface="Calibri" pitchFamily="34" charset="-122"/>
                <a:cs typeface="Calibri" pitchFamily="34" charset="-120"/>
              </a:rPr>
              <a:t>; y en </a:t>
            </a:r>
            <a:r>
              <a:rPr lang="en-US" sz="1400" b="1" dirty="0">
                <a:solidFill>
                  <a:srgbClr val="2B2B24"/>
                </a:solidFill>
                <a:latin typeface="Calibri" pitchFamily="34" charset="0"/>
                <a:ea typeface="Calibri" pitchFamily="34" charset="-122"/>
                <a:cs typeface="Calibri" pitchFamily="34" charset="-120"/>
              </a:rPr>
              <a:t>pesos corrientes</a:t>
            </a:r>
            <a:r>
              <a:rPr lang="en-US" sz="1400" dirty="0">
                <a:solidFill>
                  <a:srgbClr val="2B2B24"/>
                </a:solidFill>
                <a:latin typeface="Calibri" pitchFamily="34" charset="0"/>
                <a:ea typeface="Calibri" pitchFamily="34" charset="-122"/>
                <a:cs typeface="Calibri" pitchFamily="34" charset="-120"/>
              </a:rPr>
              <a:t>, que indica el valor nominal registrado en el insumo estadístico utilizado.</a:t>
            </a:r>
            <a:endParaRPr lang="en-US" sz="1400" dirty="0"/>
          </a:p>
        </p:txBody>
      </p:sp>
      <p:sp>
        <p:nvSpPr>
          <p:cNvPr id="6" name="Text 4"/>
          <p:cNvSpPr txBox="1"/>
          <p:nvPr/>
        </p:nvSpPr>
        <p:spPr>
          <a:xfrm>
            <a:off x="711200" y="5511800"/>
            <a:ext cx="5969000" cy="762000"/>
          </a:xfrm>
          <a:prstGeom prst="rect">
            <a:avLst/>
          </a:prstGeom>
          <a:noFill/>
          <a:ln/>
        </p:spPr>
        <p:txBody>
          <a:bodyPr wrap="square" lIns="0" tIns="0" rIns="0" bIns="0" rtlCol="0" anchor="ctr"/>
          <a:lstStyle/>
          <a:p>
            <a:pPr marL="0" indent="0">
              <a:lnSpc>
                <a:spcPct val="120000"/>
              </a:lnSpc>
              <a:buNone/>
            </a:pPr>
            <a:r>
              <a:rPr lang="en-US" sz="900" dirty="0">
                <a:solidFill>
                  <a:srgbClr val="6E6B5E"/>
                </a:solidFill>
                <a:latin typeface="Calibri" pitchFamily="34" charset="0"/>
                <a:ea typeface="Calibri" pitchFamily="34" charset="-122"/>
                <a:cs typeface="Calibri" pitchFamily="34" charset="-120"/>
              </a:rPr>
              <a:t>Desde el 13 de diciembre de 2023 los valores en dólares se computan al tipo de cambio minorista vendedor del BCRA; el período precedente se calculó a la paridad del “dólar blue” vendedor, lo que puede sobreponderar los flujos dolarizados del primer ciclo.</a:t>
            </a:r>
            <a:endParaRPr lang="en-US" sz="900" dirty="0"/>
          </a:p>
        </p:txBody>
      </p:sp>
      <p:sp>
        <p:nvSpPr>
          <p:cNvPr id="7" name="Shape 5"/>
          <p:cNvSpPr/>
          <p:nvPr/>
        </p:nvSpPr>
        <p:spPr>
          <a:xfrm>
            <a:off x="7112000" y="1346200"/>
            <a:ext cx="4470400" cy="1363133"/>
          </a:xfrm>
          <a:prstGeom prst="roundRect">
            <a:avLst>
              <a:gd name="adj" fmla="val 4025"/>
            </a:avLst>
          </a:prstGeom>
          <a:solidFill>
            <a:srgbClr val="2C5F2D"/>
          </a:solidFill>
          <a:ln w="9525">
            <a:solidFill>
              <a:srgbClr val="2C5F2D"/>
            </a:solidFill>
            <a:prstDash val="solid"/>
          </a:ln>
        </p:spPr>
        <p:txBody>
          <a:bodyPr/>
          <a:lstStyle/>
          <a:p>
            <a:pPr/>
            <a:endParaRPr lang="es-AR"/>
          </a:p>
        </p:txBody>
      </p:sp>
      <p:sp>
        <p:nvSpPr>
          <p:cNvPr id="8" name="Text 6"/>
          <p:cNvSpPr txBox="1"/>
          <p:nvPr/>
        </p:nvSpPr>
        <p:spPr>
          <a:xfrm>
            <a:off x="7213600" y="1346200"/>
            <a:ext cx="4267200" cy="1363133"/>
          </a:xfrm>
          <a:prstGeom prst="rect">
            <a:avLst/>
          </a:prstGeom>
          <a:noFill/>
          <a:ln/>
        </p:spPr>
        <p:txBody>
          <a:bodyPr wrap="square" lIns="0" tIns="0" rIns="0" bIns="0" rtlCol="0" anchor="ctr"/>
          <a:lstStyle/>
          <a:p>
            <a:pPr marL="0" indent="0" algn="ctr">
              <a:lnSpc>
                <a:spcPct val="105000"/>
              </a:lnSpc>
              <a:buNone/>
            </a:pPr>
            <a:r>
              <a:rPr lang="en-US" sz="3600" b="1" dirty="0">
                <a:solidFill>
                  <a:srgbClr val="FFFFFF"/>
                </a:solidFill>
                <a:latin typeface="Calibri" pitchFamily="34" charset="0"/>
                <a:ea typeface="Calibri" pitchFamily="34" charset="-122"/>
                <a:cs typeface="Calibri" pitchFamily="34" charset="-120"/>
              </a:rPr>
              <a:t>38</a:t>
            </a:r>
            <a:endParaRPr lang="en-US" sz="3600" dirty="0"/>
          </a:p>
          <a:p>
            <a:pPr marL="0" indent="0" algn="ctr">
              <a:lnSpc>
                <a:spcPct val="105000"/>
              </a:lnSpc>
              <a:buNone/>
            </a:pPr>
            <a:r>
              <a:rPr lang="en-US" sz="1200" dirty="0">
                <a:solidFill>
                  <a:srgbClr val="D8E5CB"/>
                </a:solidFill>
                <a:latin typeface="Calibri" pitchFamily="34" charset="0"/>
                <a:ea typeface="Calibri" pitchFamily="34" charset="-122"/>
                <a:cs typeface="Calibri" pitchFamily="34" charset="-120"/>
              </a:rPr>
              <a:t>meses relevados, de agosto 2023 a septiembre 2026</a:t>
            </a:r>
            <a:endParaRPr lang="en-US" sz="1200" dirty="0"/>
          </a:p>
        </p:txBody>
      </p:sp>
      <p:sp>
        <p:nvSpPr>
          <p:cNvPr id="9" name="Shape 7"/>
          <p:cNvSpPr/>
          <p:nvPr/>
        </p:nvSpPr>
        <p:spPr>
          <a:xfrm>
            <a:off x="7112000" y="2861733"/>
            <a:ext cx="4470400" cy="1363133"/>
          </a:xfrm>
          <a:prstGeom prst="roundRect">
            <a:avLst>
              <a:gd name="adj" fmla="val 4025"/>
            </a:avLst>
          </a:prstGeom>
          <a:solidFill>
            <a:srgbClr val="F0F5E9"/>
          </a:solidFill>
          <a:ln w="9525">
            <a:solidFill>
              <a:srgbClr val="DCE6D0"/>
            </a:solidFill>
            <a:prstDash val="solid"/>
          </a:ln>
        </p:spPr>
        <p:txBody>
          <a:bodyPr/>
          <a:lstStyle/>
          <a:p>
            <a:pPr/>
            <a:endParaRPr lang="es-AR"/>
          </a:p>
        </p:txBody>
      </p:sp>
      <p:sp>
        <p:nvSpPr>
          <p:cNvPr id="10" name="Text 8"/>
          <p:cNvSpPr txBox="1"/>
          <p:nvPr/>
        </p:nvSpPr>
        <p:spPr>
          <a:xfrm>
            <a:off x="7213600" y="2861733"/>
            <a:ext cx="4267200" cy="1363133"/>
          </a:xfrm>
          <a:prstGeom prst="rect">
            <a:avLst/>
          </a:prstGeom>
          <a:noFill/>
          <a:ln/>
        </p:spPr>
        <p:txBody>
          <a:bodyPr wrap="square" lIns="0" tIns="0" rIns="0" bIns="0" rtlCol="0" anchor="ctr"/>
          <a:lstStyle/>
          <a:p>
            <a:pPr marL="0" indent="0" algn="ctr">
              <a:lnSpc>
                <a:spcPct val="105000"/>
              </a:lnSpc>
              <a:buNone/>
            </a:pPr>
            <a:r>
              <a:rPr lang="en-US" sz="3200" b="1" dirty="0">
                <a:solidFill>
                  <a:srgbClr val="2C5F2D"/>
                </a:solidFill>
                <a:latin typeface="Calibri" pitchFamily="34" charset="0"/>
                <a:ea typeface="Calibri" pitchFamily="34" charset="-122"/>
                <a:cs typeface="Calibri" pitchFamily="34" charset="-120"/>
              </a:rPr>
              <a:t>3</a:t>
            </a:r>
            <a:endParaRPr lang="en-US" sz="3200" dirty="0"/>
          </a:p>
          <a:p>
            <a:pPr marL="0" indent="0" algn="ctr">
              <a:lnSpc>
                <a:spcPct val="105000"/>
              </a:lnSpc>
              <a:buNone/>
            </a:pPr>
            <a:r>
              <a:rPr lang="en-US" sz="1200" dirty="0">
                <a:solidFill>
                  <a:srgbClr val="5C6B52"/>
                </a:solidFill>
                <a:latin typeface="Calibri" pitchFamily="34" charset="0"/>
                <a:ea typeface="Calibri" pitchFamily="34" charset="-122"/>
                <a:cs typeface="Calibri" pitchFamily="34" charset="-120"/>
              </a:rPr>
              <a:t>ciclos anuales de octubre a septiembre</a:t>
            </a:r>
            <a:endParaRPr lang="en-US" sz="1200" dirty="0"/>
          </a:p>
        </p:txBody>
      </p:sp>
      <p:sp>
        <p:nvSpPr>
          <p:cNvPr id="11" name="Shape 9"/>
          <p:cNvSpPr/>
          <p:nvPr/>
        </p:nvSpPr>
        <p:spPr>
          <a:xfrm>
            <a:off x="7112000" y="4377267"/>
            <a:ext cx="4470400" cy="1363133"/>
          </a:xfrm>
          <a:prstGeom prst="roundRect">
            <a:avLst>
              <a:gd name="adj" fmla="val 4025"/>
            </a:avLst>
          </a:prstGeom>
          <a:solidFill>
            <a:srgbClr val="F0F5E9"/>
          </a:solidFill>
          <a:ln w="9525">
            <a:solidFill>
              <a:srgbClr val="DCE6D0"/>
            </a:solidFill>
            <a:prstDash val="solid"/>
          </a:ln>
        </p:spPr>
        <p:txBody>
          <a:bodyPr/>
          <a:lstStyle/>
          <a:p>
            <a:pPr/>
            <a:endParaRPr lang="es-AR"/>
          </a:p>
        </p:txBody>
      </p:sp>
      <p:sp>
        <p:nvSpPr>
          <p:cNvPr id="12" name="Text 10"/>
          <p:cNvSpPr txBox="1"/>
          <p:nvPr/>
        </p:nvSpPr>
        <p:spPr>
          <a:xfrm>
            <a:off x="7213600" y="4377267"/>
            <a:ext cx="4267200" cy="1363133"/>
          </a:xfrm>
          <a:prstGeom prst="rect">
            <a:avLst/>
          </a:prstGeom>
          <a:noFill/>
          <a:ln/>
        </p:spPr>
        <p:txBody>
          <a:bodyPr wrap="square" lIns="0" tIns="0" rIns="0" bIns="0" rtlCol="0" anchor="ctr"/>
          <a:lstStyle/>
          <a:p>
            <a:pPr marL="0" indent="0" algn="ctr">
              <a:lnSpc>
                <a:spcPct val="105000"/>
              </a:lnSpc>
              <a:buNone/>
            </a:pPr>
            <a:r>
              <a:rPr lang="en-US" sz="3200" b="1" dirty="0">
                <a:solidFill>
                  <a:srgbClr val="2C5F2D"/>
                </a:solidFill>
                <a:latin typeface="Calibri" pitchFamily="34" charset="0"/>
                <a:ea typeface="Calibri" pitchFamily="34" charset="-122"/>
                <a:cs typeface="Calibri" pitchFamily="34" charset="-120"/>
              </a:rPr>
              <a:t>3</a:t>
            </a:r>
            <a:endParaRPr lang="en-US" sz="3200" dirty="0"/>
          </a:p>
          <a:p>
            <a:pPr marL="0" indent="0" algn="ctr">
              <a:lnSpc>
                <a:spcPct val="105000"/>
              </a:lnSpc>
              <a:buNone/>
            </a:pPr>
            <a:r>
              <a:rPr lang="en-US" sz="1200" dirty="0">
                <a:solidFill>
                  <a:srgbClr val="5C6B52"/>
                </a:solidFill>
                <a:latin typeface="Calibri" pitchFamily="34" charset="0"/>
                <a:ea typeface="Calibri" pitchFamily="34" charset="-122"/>
                <a:cs typeface="Calibri" pitchFamily="34" charset="-120"/>
              </a:rPr>
              <a:t>universos anidados, del más amplio al más acotado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RESUMEN EJECUTIVO</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Contracción real sostenida</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Ingresos por período anual, en miles de millones de pesos constantes al 30 de septiembre de 2026</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a:t>
            </a:r>
            <a:endParaRPr lang="en-US" sz="800" dirty="0"/>
          </a:p>
        </p:txBody>
      </p:sp>
      <p:sp>
        <p:nvSpPr>
          <p:cNvPr id="6" name="Shape 4"/>
          <p:cNvSpPr/>
          <p:nvPr/>
        </p:nvSpPr>
        <p:spPr>
          <a:xfrm>
            <a:off x="609600" y="1422400"/>
            <a:ext cx="2628900" cy="1168400"/>
          </a:xfrm>
          <a:prstGeom prst="roundRect">
            <a:avLst>
              <a:gd name="adj" fmla="val 4696"/>
            </a:avLst>
          </a:prstGeom>
          <a:solidFill>
            <a:srgbClr val="2C5F2D"/>
          </a:solidFill>
          <a:ln w="9525">
            <a:solidFill>
              <a:srgbClr val="2C5F2D"/>
            </a:solidFill>
            <a:prstDash val="solid"/>
          </a:ln>
        </p:spPr>
        <p:txBody>
          <a:bodyPr/>
          <a:lstStyle/>
          <a:p>
            <a:pPr/>
            <a:endParaRPr lang="es-AR"/>
          </a:p>
        </p:txBody>
      </p:sp>
      <p:sp>
        <p:nvSpPr>
          <p:cNvPr id="7" name="Text 5"/>
          <p:cNvSpPr txBox="1"/>
          <p:nvPr/>
        </p:nvSpPr>
        <p:spPr>
          <a:xfrm>
            <a:off x="711200" y="1422400"/>
            <a:ext cx="2425700" cy="1168400"/>
          </a:xfrm>
          <a:prstGeom prst="rect">
            <a:avLst/>
          </a:prstGeom>
          <a:noFill/>
          <a:ln/>
        </p:spPr>
        <p:txBody>
          <a:bodyPr wrap="square" lIns="0" tIns="0" rIns="0" bIns="0" rtlCol="0" anchor="ctr"/>
          <a:lstStyle/>
          <a:p>
            <a:pPr marL="0" indent="0" algn="ctr">
              <a:lnSpc>
                <a:spcPct val="105000"/>
              </a:lnSpc>
              <a:buNone/>
            </a:pPr>
            <a:r>
              <a:rPr lang="en-US" sz="2400" b="1" dirty="0">
                <a:solidFill>
                  <a:srgbClr val="FFFFFF"/>
                </a:solidFill>
                <a:latin typeface="Calibri" pitchFamily="34" charset="0"/>
                <a:ea typeface="Calibri" pitchFamily="34" charset="-122"/>
                <a:cs typeface="Calibri" pitchFamily="34" charset="-120"/>
              </a:rPr>
              <a:t>−24%</a:t>
            </a:r>
            <a:endParaRPr lang="en-US" sz="2400" dirty="0"/>
          </a:p>
          <a:p>
            <a:pPr marL="0" indent="0" algn="ctr">
              <a:lnSpc>
                <a:spcPct val="105000"/>
              </a:lnSpc>
              <a:buNone/>
            </a:pPr>
            <a:r>
              <a:rPr lang="en-US" sz="1100" dirty="0">
                <a:solidFill>
                  <a:srgbClr val="D8E5CB"/>
                </a:solidFill>
                <a:latin typeface="Calibri" pitchFamily="34" charset="0"/>
                <a:ea typeface="Calibri" pitchFamily="34" charset="-122"/>
                <a:cs typeface="Calibri" pitchFamily="34" charset="-120"/>
              </a:rPr>
              <a:t>caída real de los pagos totales en la serie</a:t>
            </a:r>
            <a:endParaRPr lang="en-US" sz="1100" dirty="0"/>
          </a:p>
        </p:txBody>
      </p:sp>
      <p:sp>
        <p:nvSpPr>
          <p:cNvPr id="8" name="Shape 6"/>
          <p:cNvSpPr/>
          <p:nvPr/>
        </p:nvSpPr>
        <p:spPr>
          <a:xfrm>
            <a:off x="3390900" y="1422400"/>
            <a:ext cx="2628900" cy="1168400"/>
          </a:xfrm>
          <a:prstGeom prst="roundRect">
            <a:avLst>
              <a:gd name="adj" fmla="val 4696"/>
            </a:avLst>
          </a:prstGeom>
          <a:solidFill>
            <a:srgbClr val="F0F5E9"/>
          </a:solidFill>
          <a:ln w="9525">
            <a:solidFill>
              <a:srgbClr val="DCE6D0"/>
            </a:solidFill>
            <a:prstDash val="solid"/>
          </a:ln>
        </p:spPr>
        <p:txBody>
          <a:bodyPr/>
          <a:lstStyle/>
          <a:p>
            <a:pPr/>
            <a:endParaRPr lang="es-AR"/>
          </a:p>
        </p:txBody>
      </p:sp>
      <p:sp>
        <p:nvSpPr>
          <p:cNvPr id="9" name="Text 7"/>
          <p:cNvSpPr txBox="1"/>
          <p:nvPr/>
        </p:nvSpPr>
        <p:spPr>
          <a:xfrm>
            <a:off x="3492500" y="1422400"/>
            <a:ext cx="2425700" cy="1168400"/>
          </a:xfrm>
          <a:prstGeom prst="rect">
            <a:avLst/>
          </a:prstGeom>
          <a:noFill/>
          <a:ln/>
        </p:spPr>
        <p:txBody>
          <a:bodyPr wrap="square" lIns="0" tIns="0" rIns="0" bIns="0" rtlCol="0" anchor="ctr"/>
          <a:lstStyle/>
          <a:p>
            <a:pPr marL="0" indent="0" algn="ctr">
              <a:lnSpc>
                <a:spcPct val="105000"/>
              </a:lnSpc>
              <a:buNone/>
            </a:pPr>
            <a:r>
              <a:rPr lang="en-US" sz="2400" b="1" dirty="0">
                <a:solidFill>
                  <a:srgbClr val="2C5F2D"/>
                </a:solidFill>
                <a:latin typeface="Calibri" pitchFamily="34" charset="0"/>
                <a:ea typeface="Calibri" pitchFamily="34" charset="-122"/>
                <a:cs typeface="Calibri" pitchFamily="34" charset="-120"/>
              </a:rPr>
              <a:t>−19%</a:t>
            </a:r>
            <a:endParaRPr lang="en-US" sz="2400" dirty="0"/>
          </a:p>
          <a:p>
            <a:pPr marL="0" indent="0" algn="ctr">
              <a:lnSpc>
                <a:spcPct val="105000"/>
              </a:lnSpc>
              <a:buNone/>
            </a:pPr>
            <a:r>
              <a:rPr lang="en-US" sz="1100" dirty="0">
                <a:solidFill>
                  <a:srgbClr val="5C6B52"/>
                </a:solidFill>
                <a:latin typeface="Calibri" pitchFamily="34" charset="0"/>
                <a:ea typeface="Calibri" pitchFamily="34" charset="-122"/>
                <a:cs typeface="Calibri" pitchFamily="34" charset="-120"/>
              </a:rPr>
              <a:t>caída real entre prestadores turísticos</a:t>
            </a:r>
            <a:endParaRPr lang="en-US" sz="1100" dirty="0"/>
          </a:p>
        </p:txBody>
      </p:sp>
      <p:sp>
        <p:nvSpPr>
          <p:cNvPr id="10" name="Shape 8"/>
          <p:cNvSpPr/>
          <p:nvPr/>
        </p:nvSpPr>
        <p:spPr>
          <a:xfrm>
            <a:off x="6172200" y="1422400"/>
            <a:ext cx="2628900" cy="1168400"/>
          </a:xfrm>
          <a:prstGeom prst="roundRect">
            <a:avLst>
              <a:gd name="adj" fmla="val 4696"/>
            </a:avLst>
          </a:prstGeom>
          <a:solidFill>
            <a:srgbClr val="F0F5E9"/>
          </a:solidFill>
          <a:ln w="9525">
            <a:solidFill>
              <a:srgbClr val="DCE6D0"/>
            </a:solidFill>
            <a:prstDash val="solid"/>
          </a:ln>
        </p:spPr>
        <p:txBody>
          <a:bodyPr/>
          <a:lstStyle/>
          <a:p>
            <a:pPr/>
            <a:endParaRPr lang="es-AR"/>
          </a:p>
        </p:txBody>
      </p:sp>
      <p:sp>
        <p:nvSpPr>
          <p:cNvPr id="11" name="Text 9"/>
          <p:cNvSpPr txBox="1"/>
          <p:nvPr/>
        </p:nvSpPr>
        <p:spPr>
          <a:xfrm>
            <a:off x="6273800" y="1422400"/>
            <a:ext cx="2425700" cy="1168400"/>
          </a:xfrm>
          <a:prstGeom prst="rect">
            <a:avLst/>
          </a:prstGeom>
          <a:noFill/>
          <a:ln/>
        </p:spPr>
        <p:txBody>
          <a:bodyPr wrap="square" lIns="0" tIns="0" rIns="0" bIns="0" rtlCol="0" anchor="ctr"/>
          <a:lstStyle/>
          <a:p>
            <a:pPr marL="0" indent="0" algn="ctr">
              <a:lnSpc>
                <a:spcPct val="105000"/>
              </a:lnSpc>
              <a:buNone/>
            </a:pPr>
            <a:r>
              <a:rPr lang="en-US" sz="2400" b="1" dirty="0">
                <a:solidFill>
                  <a:srgbClr val="2C5F2D"/>
                </a:solidFill>
                <a:latin typeface="Calibri" pitchFamily="34" charset="0"/>
                <a:ea typeface="Calibri" pitchFamily="34" charset="-122"/>
                <a:cs typeface="Calibri" pitchFamily="34" charset="-120"/>
              </a:rPr>
              <a:t>$ 37,3 mil M</a:t>
            </a:r>
            <a:endParaRPr lang="en-US" sz="2400" dirty="0"/>
          </a:p>
          <a:p>
            <a:pPr marL="0" indent="0" algn="ctr">
              <a:lnSpc>
                <a:spcPct val="105000"/>
              </a:lnSpc>
              <a:buNone/>
            </a:pPr>
            <a:r>
              <a:rPr lang="en-US" sz="1100" dirty="0">
                <a:solidFill>
                  <a:srgbClr val="5C6B52"/>
                </a:solidFill>
                <a:latin typeface="Calibri" pitchFamily="34" charset="0"/>
                <a:ea typeface="Calibri" pitchFamily="34" charset="-122"/>
                <a:cs typeface="Calibri" pitchFamily="34" charset="-120"/>
              </a:rPr>
              <a:t>cobranza del último ciclo, a pesos constantes</a:t>
            </a:r>
            <a:endParaRPr lang="en-US" sz="1100" dirty="0"/>
          </a:p>
        </p:txBody>
      </p:sp>
      <p:sp>
        <p:nvSpPr>
          <p:cNvPr id="12" name="Shape 10"/>
          <p:cNvSpPr/>
          <p:nvPr/>
        </p:nvSpPr>
        <p:spPr>
          <a:xfrm>
            <a:off x="8953500" y="1422400"/>
            <a:ext cx="2628900" cy="1168400"/>
          </a:xfrm>
          <a:prstGeom prst="roundRect">
            <a:avLst>
              <a:gd name="adj" fmla="val 4696"/>
            </a:avLst>
          </a:prstGeom>
          <a:solidFill>
            <a:srgbClr val="F0F5E9"/>
          </a:solidFill>
          <a:ln w="9525">
            <a:solidFill>
              <a:srgbClr val="DCE6D0"/>
            </a:solidFill>
            <a:prstDash val="solid"/>
          </a:ln>
        </p:spPr>
        <p:txBody>
          <a:bodyPr/>
          <a:lstStyle/>
          <a:p>
            <a:pPr/>
            <a:endParaRPr lang="es-AR"/>
          </a:p>
        </p:txBody>
      </p:sp>
      <p:sp>
        <p:nvSpPr>
          <p:cNvPr id="13" name="Text 11"/>
          <p:cNvSpPr txBox="1"/>
          <p:nvPr/>
        </p:nvSpPr>
        <p:spPr>
          <a:xfrm>
            <a:off x="9055100" y="1422400"/>
            <a:ext cx="2425700" cy="1168400"/>
          </a:xfrm>
          <a:prstGeom prst="rect">
            <a:avLst/>
          </a:prstGeom>
          <a:noFill/>
          <a:ln/>
        </p:spPr>
        <p:txBody>
          <a:bodyPr wrap="square" lIns="0" tIns="0" rIns="0" bIns="0" rtlCol="0" anchor="ctr"/>
          <a:lstStyle/>
          <a:p>
            <a:pPr marL="0" indent="0" algn="ctr">
              <a:lnSpc>
                <a:spcPct val="105000"/>
              </a:lnSpc>
              <a:buNone/>
            </a:pPr>
            <a:r>
              <a:rPr lang="en-US" sz="2400" b="1" dirty="0">
                <a:solidFill>
                  <a:srgbClr val="2C5F2D"/>
                </a:solidFill>
                <a:latin typeface="Calibri" pitchFamily="34" charset="0"/>
                <a:ea typeface="Calibri" pitchFamily="34" charset="-122"/>
                <a:cs typeface="Calibri" pitchFamily="34" charset="-120"/>
              </a:rPr>
              <a:t>72%</a:t>
            </a:r>
            <a:endParaRPr lang="en-US" sz="2400" dirty="0"/>
          </a:p>
          <a:p>
            <a:pPr marL="0" indent="0" algn="ctr">
              <a:lnSpc>
                <a:spcPct val="105000"/>
              </a:lnSpc>
              <a:buNone/>
            </a:pPr>
            <a:r>
              <a:rPr lang="en-US" sz="1100" dirty="0">
                <a:solidFill>
                  <a:srgbClr val="5C6B52"/>
                </a:solidFill>
                <a:latin typeface="Calibri" pitchFamily="34" charset="0"/>
                <a:ea typeface="Calibri" pitchFamily="34" charset="-122"/>
                <a:cs typeface="Calibri" pitchFamily="34" charset="-120"/>
              </a:rPr>
              <a:t>de la cobranza depurada es de prestadores turísticos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2552663543"/>
              </p:ext>
            </p:extLst>
          </p:nvPr>
        </p:nvGraphicFramePr>
        <p:xfrm>
          <a:off x="609600" y="3301754"/>
          <a:ext cx="10972800" cy="1082040"/>
        </p:xfrm>
        <a:graphic>
          <a:graphicData uri="http://schemas.openxmlformats.org/drawingml/2006/table">
            <a:tbl>
              <a:tblPr/>
              <a:tblGrid>
                <a:gridCol w="26924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gridCol w="1498600">
                  <a:extLst>
                    <a:ext uri="{9D8B030D-6E8A-4147-A177-3AD203B41FA5}">
                      <a16:colId xmlns:a16="http://schemas.microsoft.com/office/drawing/2014/main" val="20002"/>
                    </a:ext>
                  </a:extLst>
                </a:gridCol>
                <a:gridCol w="1498600">
                  <a:extLst>
                    <a:ext uri="{9D8B030D-6E8A-4147-A177-3AD203B41FA5}">
                      <a16:colId xmlns:a16="http://schemas.microsoft.com/office/drawing/2014/main" val="20003"/>
                    </a:ext>
                  </a:extLst>
                </a:gridCol>
                <a:gridCol w="1892300">
                  <a:extLst>
                    <a:ext uri="{9D8B030D-6E8A-4147-A177-3AD203B41FA5}">
                      <a16:colId xmlns:a16="http://schemas.microsoft.com/office/drawing/2014/main" val="20004"/>
                    </a:ext>
                  </a:extLst>
                </a:gridCol>
                <a:gridCol w="1892300">
                  <a:extLst>
                    <a:ext uri="{9D8B030D-6E8A-4147-A177-3AD203B41FA5}">
                      <a16:colId xmlns:a16="http://schemas.microsoft.com/office/drawing/2014/main" val="20005"/>
                    </a:ext>
                  </a:extLst>
                </a:gridCol>
              </a:tblGrid>
              <a:tr h="0">
                <a:tc>
                  <a:txBody>
                    <a:bodyPr/>
                    <a:lstStyle/>
                    <a:p>
                      <a:pPr marL="0" indent="0" algn="l">
                        <a:buNone/>
                      </a:pPr>
                      <a:r>
                        <a:rPr lang="en-US" sz="1400" b="1" kern="0" spc="40" dirty="0">
                          <a:solidFill>
                            <a:srgbClr val="FFFFFF"/>
                          </a:solidFill>
                          <a:latin typeface="Calibri" pitchFamily="34" charset="0"/>
                          <a:ea typeface="Calibri" pitchFamily="34" charset="-122"/>
                          <a:cs typeface="Calibri" pitchFamily="34" charset="-120"/>
                        </a:rPr>
                        <a:t>Universo</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2023/24</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23 – sep 24</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2024/25</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24 – sep 25</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2025/26</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25 – sep 26</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Var. i.a. 2024/25</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Var. i.a. 2025/26</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0">
                <a:tc>
                  <a:txBody>
                    <a:bodyPr/>
                    <a:lstStyle/>
                    <a:p>
                      <a:pPr marL="0" indent="0" algn="l">
                        <a:buNone/>
                      </a:pPr>
                      <a:r>
                        <a:rPr lang="en-US" sz="1400" b="1" dirty="0">
                          <a:solidFill>
                            <a:srgbClr val="2B2B24"/>
                          </a:solidFill>
                          <a:latin typeface="Calibri" pitchFamily="34" charset="0"/>
                          <a:ea typeface="Calibri" pitchFamily="34" charset="-122"/>
                          <a:cs typeface="Calibri" pitchFamily="34" charset="-120"/>
                        </a:rPr>
                        <a:t>Pagos totales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48,9 mil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43,2 mil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37,3 mil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400" b="1" dirty="0">
                          <a:solidFill>
                            <a:srgbClr val="2B2B24"/>
                          </a:solidFill>
                          <a:latin typeface="Calibri" pitchFamily="34" charset="0"/>
                          <a:ea typeface="Calibri" pitchFamily="34" charset="-122"/>
                          <a:cs typeface="Calibri" pitchFamily="34" charset="-120"/>
                        </a:rPr>
                        <a:t>Prestadores turísticos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33,1 mil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30,2 mil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26,9 mil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2"/>
                  </a:ext>
                </a:extLst>
              </a:tr>
              <a:tr h="0">
                <a:tc>
                  <a:txBody>
                    <a:bodyPr/>
                    <a:lstStyle/>
                    <a:p>
                      <a:pPr marL="0" indent="0" algn="l">
                        <a:buNone/>
                      </a:pPr>
                      <a:r>
                        <a:rPr lang="en-US" sz="1400" b="1" dirty="0">
                          <a:solidFill>
                            <a:srgbClr val="2B2B24"/>
                          </a:solidFill>
                          <a:latin typeface="Calibri" pitchFamily="34" charset="0"/>
                          <a:ea typeface="Calibri" pitchFamily="34" charset="-122"/>
                          <a:cs typeface="Calibri" pitchFamily="34" charset="-120"/>
                        </a:rPr>
                        <a:t>Concesionarios y permisionarios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31,9 mil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28,2 mil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24,9 mil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5" name="Shape 12"/>
          <p:cNvSpPr/>
          <p:nvPr/>
        </p:nvSpPr>
        <p:spPr>
          <a:xfrm>
            <a:off x="533400" y="5041900"/>
            <a:ext cx="10972800" cy="711200"/>
          </a:xfrm>
          <a:prstGeom prst="roundRect">
            <a:avLst>
              <a:gd name="adj" fmla="val 6429"/>
            </a:avLst>
          </a:prstGeom>
          <a:solidFill>
            <a:srgbClr val="F6F9F1"/>
          </a:solidFill>
          <a:ln w="9525">
            <a:solidFill>
              <a:srgbClr val="E1EBD6"/>
            </a:solidFill>
            <a:prstDash val="solid"/>
          </a:ln>
        </p:spPr>
        <p:txBody>
          <a:bodyPr/>
          <a:lstStyle/>
          <a:p>
            <a:pPr/>
            <a:endParaRPr lang="es-AR"/>
          </a:p>
        </p:txBody>
      </p:sp>
      <p:sp>
        <p:nvSpPr>
          <p:cNvPr id="16" name="Text 13"/>
          <p:cNvSpPr txBox="1"/>
          <p:nvPr/>
        </p:nvSpPr>
        <p:spPr>
          <a:xfrm>
            <a:off x="685800" y="5118100"/>
            <a:ext cx="10668000" cy="558800"/>
          </a:xfrm>
          <a:prstGeom prst="rect">
            <a:avLst/>
          </a:prstGeom>
          <a:noFill/>
          <a:ln/>
        </p:spPr>
        <p:txBody>
          <a:bodyPr wrap="square" lIns="0" tIns="0" rIns="0" bIns="0" rtlCol="0" anchor="ctr"/>
          <a:lstStyle/>
          <a:p>
            <a:pPr marL="0" indent="0">
              <a:lnSpc>
                <a:spcPct val="120000"/>
              </a:lnSpc>
              <a:buNone/>
            </a:pPr>
            <a:r>
              <a:rPr lang="en-US" sz="1200" b="1" dirty="0">
                <a:solidFill>
                  <a:srgbClr val="2B2B24"/>
                </a:solidFill>
                <a:latin typeface="Calibri" pitchFamily="34" charset="0"/>
                <a:ea typeface="Calibri" pitchFamily="34" charset="-122"/>
                <a:cs typeface="Calibri" pitchFamily="34" charset="-120"/>
              </a:rPr>
              <a:t>Ingresos totales por período anual, en miles de millones de pesos constantes al 30 de septiembre de 2026.</a:t>
            </a:r>
            <a:r>
              <a:rPr lang="en-US" sz="1200" dirty="0">
                <a:solidFill>
                  <a:srgbClr val="2B2B24"/>
                </a:solidFill>
                <a:latin typeface="Calibri" pitchFamily="34" charset="0"/>
                <a:ea typeface="Calibri" pitchFamily="34" charset="-122"/>
                <a:cs typeface="Calibri" pitchFamily="34" charset="-120"/>
              </a:rPr>
              <a:t> La caída se acelera en el último ciclo para el universo depurado y se modera entre prestadores turísticos; dentro de ellos, los concesionarios y permisionarios con declaración jurada —93% de la cobranza— retroceden al mismo ritmo.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TABLA I</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Totales</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Ingresos totales por período y unidad de cálculo — excluye medios de pago electrónico</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2487464549"/>
              </p:ext>
            </p:extLst>
          </p:nvPr>
        </p:nvGraphicFramePr>
        <p:xfrm>
          <a:off x="609600" y="1572768"/>
          <a:ext cx="10972800" cy="2377440"/>
        </p:xfrm>
        <a:graphic>
          <a:graphicData uri="http://schemas.openxmlformats.org/drawingml/2006/table">
            <a:tbl>
              <a:tblPr/>
              <a:tblGrid>
                <a:gridCol w="3200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2514600">
                  <a:extLst>
                    <a:ext uri="{9D8B030D-6E8A-4147-A177-3AD203B41FA5}">
                      <a16:colId xmlns:a16="http://schemas.microsoft.com/office/drawing/2014/main" val="20004"/>
                    </a:ext>
                  </a:extLst>
                </a:gridCol>
              </a:tblGrid>
              <a:tr h="475488">
                <a:tc>
                  <a:txBody>
                    <a:bodyPr/>
                    <a:lstStyle/>
                    <a:p>
                      <a:pPr marL="0" indent="0" algn="l">
                        <a:buNone/>
                      </a:pPr>
                      <a:r>
                        <a:rPr lang="en-US" sz="1400" b="1" kern="0" spc="40" dirty="0">
                          <a:solidFill>
                            <a:srgbClr val="FFFFFF"/>
                          </a:solidFill>
                          <a:latin typeface="Calibri" pitchFamily="34" charset="0"/>
                          <a:ea typeface="Calibri" pitchFamily="34" charset="-122"/>
                          <a:cs typeface="Calibri" pitchFamily="34" charset="-120"/>
                        </a:rPr>
                        <a:t>Unidad</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2023/24</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23 – sep 24</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2024/25</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24 – sep 25</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2025/26</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25 – sep 26</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Var. total</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En $ mil M constantes (30-09-26)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48,86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43,20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37,31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En USD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17,6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24,7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22,3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+27%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2"/>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En $ mil M corrientes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16,29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27,80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32,59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Transacciones procesadas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8.170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7.662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8.425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4"/>
                  </a:ext>
                </a:extLst>
              </a:tr>
            </a:tbl>
          </a:graphicData>
        </a:graphic>
      </p:graphicFrame>
      <p:sp>
        <p:nvSpPr>
          <p:cNvPr id="7" name="Shape 4"/>
          <p:cNvSpPr/>
          <p:nvPr/>
        </p:nvSpPr>
        <p:spPr>
          <a:xfrm>
            <a:off x="609600" y="4224528"/>
            <a:ext cx="10972800" cy="990600"/>
          </a:xfrm>
          <a:prstGeom prst="roundRect">
            <a:avLst>
              <a:gd name="adj" fmla="val 4615"/>
            </a:avLst>
          </a:prstGeom>
          <a:solidFill>
            <a:srgbClr val="F6F9F1"/>
          </a:solidFill>
          <a:ln w="9525">
            <a:solidFill>
              <a:srgbClr val="E1EBD6"/>
            </a:solidFill>
            <a:prstDash val="solid"/>
          </a:ln>
        </p:spPr>
        <p:txBody>
          <a:bodyPr/>
          <a:lstStyle/>
          <a:p>
            <a:pPr/>
            <a:endParaRPr lang="es-AR"/>
          </a:p>
        </p:txBody>
      </p:sp>
      <p:sp>
        <p:nvSpPr>
          <p:cNvPr id="8" name="Text 5"/>
          <p:cNvSpPr txBox="1"/>
          <p:nvPr/>
        </p:nvSpPr>
        <p:spPr>
          <a:xfrm>
            <a:off x="762000" y="4306824"/>
            <a:ext cx="10668000" cy="838200"/>
          </a:xfrm>
          <a:prstGeom prst="rect">
            <a:avLst/>
          </a:prstGeom>
          <a:noFill/>
          <a:ln/>
        </p:spPr>
        <p:txBody>
          <a:bodyPr wrap="square" lIns="0" tIns="0" rIns="0" bIns="0" rtlCol="0" anchor="ctr"/>
          <a:lstStyle/>
          <a:p>
            <a:pPr marL="0" indent="0">
              <a:lnSpc>
                <a:spcPct val="120000"/>
              </a:lnSpc>
              <a:buNone/>
            </a:pPr>
            <a:r>
              <a:rPr lang="en-US" sz="1100" dirty="0">
                <a:solidFill>
                  <a:srgbClr val="2B2B24"/>
                </a:solidFill>
                <a:latin typeface="Calibri" pitchFamily="34" charset="0"/>
                <a:ea typeface="Calibri" pitchFamily="34" charset="-122"/>
                <a:cs typeface="Calibri" pitchFamily="34" charset="-120"/>
              </a:rPr>
              <a:t>El incremento a valores corrientes refleja el impacto de la inflación sobre los flujos nominales. El contraste entre los ingresos a valores reales y en dólares permite observar la revaluación del peso en términos de tipo de cambio. Los registros de medios de pago electrónicos sólo figuran en el sistema hasta julio de 2025, de modo que su depuración es condición para comparar los tres ciclos.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TABLA II</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Totales por prestadores turísticos</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Ingresos totales por período y unidad de cálculo</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2559121886"/>
              </p:ext>
            </p:extLst>
          </p:nvPr>
        </p:nvGraphicFramePr>
        <p:xfrm>
          <a:off x="609600" y="1572768"/>
          <a:ext cx="10972800" cy="2377440"/>
        </p:xfrm>
        <a:graphic>
          <a:graphicData uri="http://schemas.openxmlformats.org/drawingml/2006/table">
            <a:tbl>
              <a:tblPr/>
              <a:tblGrid>
                <a:gridCol w="3200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2514600">
                  <a:extLst>
                    <a:ext uri="{9D8B030D-6E8A-4147-A177-3AD203B41FA5}">
                      <a16:colId xmlns:a16="http://schemas.microsoft.com/office/drawing/2014/main" val="20004"/>
                    </a:ext>
                  </a:extLst>
                </a:gridCol>
              </a:tblGrid>
              <a:tr h="475488">
                <a:tc>
                  <a:txBody>
                    <a:bodyPr/>
                    <a:lstStyle/>
                    <a:p>
                      <a:pPr marL="0" indent="0" algn="l">
                        <a:buNone/>
                      </a:pPr>
                      <a:r>
                        <a:rPr lang="en-US" sz="1400" b="1" kern="0" spc="40" dirty="0">
                          <a:solidFill>
                            <a:srgbClr val="FFFFFF"/>
                          </a:solidFill>
                          <a:latin typeface="Calibri" pitchFamily="34" charset="0"/>
                          <a:ea typeface="Calibri" pitchFamily="34" charset="-122"/>
                          <a:cs typeface="Calibri" pitchFamily="34" charset="-120"/>
                        </a:rPr>
                        <a:t>Unidad</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2023/24</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23 – sep 24</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2024/25</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24 – sep 25</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2025/26</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25 – sep 26</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Var. total</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En $ mil M constantes (30-09-26)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33,12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30,20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26,88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En USD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12,2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17,3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15,9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2"/>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En $ mil M corrientes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11,31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19,61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23,20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+105%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Transacciones procesadas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5.730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5.684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4"/>
                  </a:ext>
                </a:extLst>
              </a:tr>
            </a:tbl>
          </a:graphicData>
        </a:graphic>
      </p:graphicFrame>
      <p:sp>
        <p:nvSpPr>
          <p:cNvPr id="7" name="Shape 4"/>
          <p:cNvSpPr/>
          <p:nvPr/>
        </p:nvSpPr>
        <p:spPr>
          <a:xfrm>
            <a:off x="609600" y="4224528"/>
            <a:ext cx="10972800" cy="990600"/>
          </a:xfrm>
          <a:prstGeom prst="roundRect">
            <a:avLst>
              <a:gd name="adj" fmla="val 4615"/>
            </a:avLst>
          </a:prstGeom>
          <a:solidFill>
            <a:srgbClr val="F6F9F1"/>
          </a:solidFill>
          <a:ln w="9525">
            <a:solidFill>
              <a:srgbClr val="E1EBD6"/>
            </a:solidFill>
            <a:prstDash val="solid"/>
          </a:ln>
        </p:spPr>
        <p:txBody>
          <a:bodyPr/>
          <a:lstStyle/>
          <a:p>
            <a:pPr/>
            <a:endParaRPr lang="es-AR"/>
          </a:p>
        </p:txBody>
      </p:sp>
      <p:sp>
        <p:nvSpPr>
          <p:cNvPr id="8" name="Text 5"/>
          <p:cNvSpPr txBox="1"/>
          <p:nvPr/>
        </p:nvSpPr>
        <p:spPr>
          <a:xfrm>
            <a:off x="762000" y="4306824"/>
            <a:ext cx="10668000" cy="838200"/>
          </a:xfrm>
          <a:prstGeom prst="rect">
            <a:avLst/>
          </a:prstGeom>
          <a:noFill/>
          <a:ln/>
        </p:spPr>
        <p:txBody>
          <a:bodyPr wrap="square" lIns="0" tIns="0" rIns="0" bIns="0" rtlCol="0" anchor="ctr"/>
          <a:lstStyle/>
          <a:p>
            <a:pPr marL="0" indent="0">
              <a:lnSpc>
                <a:spcPct val="120000"/>
              </a:lnSpc>
              <a:buNone/>
            </a:pPr>
            <a:r>
              <a:rPr lang="en-US" sz="1100" dirty="0">
                <a:solidFill>
                  <a:srgbClr val="2B2B24"/>
                </a:solidFill>
                <a:latin typeface="Calibri" pitchFamily="34" charset="0"/>
                <a:ea typeface="Calibri" pitchFamily="34" charset="-122"/>
                <a:cs typeface="Calibri" pitchFamily="34" charset="-120"/>
              </a:rPr>
              <a:t>Los prestadores turísticos aportan 72% de la cobranza depurada del último ciclo. La cantidad de transacciones crece 10% entre extremos de la serie, mientras el monto real cae 19%: operaciones más numerosas y de menor valor real.</a:t>
            </a:r>
            <a:endParaRPr lang="en-US" sz="11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TABLA III</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Totales por concesionarios y permisionarios</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Universo alcanzado por declaración jurada — ingresos por período y unidad de cálculo</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2559121886"/>
              </p:ext>
            </p:extLst>
          </p:nvPr>
        </p:nvGraphicFramePr>
        <p:xfrm>
          <a:off x="609600" y="1572768"/>
          <a:ext cx="10972800" cy="2377440"/>
        </p:xfrm>
        <a:graphic>
          <a:graphicData uri="http://schemas.openxmlformats.org/drawingml/2006/table">
            <a:tbl>
              <a:tblPr/>
              <a:tblGrid>
                <a:gridCol w="3200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2514600">
                  <a:extLst>
                    <a:ext uri="{9D8B030D-6E8A-4147-A177-3AD203B41FA5}">
                      <a16:colId xmlns:a16="http://schemas.microsoft.com/office/drawing/2014/main" val="20004"/>
                    </a:ext>
                  </a:extLst>
                </a:gridCol>
              </a:tblGrid>
              <a:tr h="475488">
                <a:tc>
                  <a:txBody>
                    <a:bodyPr/>
                    <a:lstStyle/>
                    <a:p>
                      <a:pPr marL="0" indent="0" algn="l">
                        <a:buNone/>
                      </a:pPr>
                      <a:r>
                        <a:rPr lang="en-US" sz="1400" b="1" kern="0" spc="40" dirty="0">
                          <a:solidFill>
                            <a:srgbClr val="FFFFFF"/>
                          </a:solidFill>
                          <a:latin typeface="Calibri" pitchFamily="34" charset="0"/>
                          <a:ea typeface="Calibri" pitchFamily="34" charset="-122"/>
                          <a:cs typeface="Calibri" pitchFamily="34" charset="-120"/>
                        </a:rPr>
                        <a:t>Unidad</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2023/24</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23 – sep 24</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2024/25</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24 – sep 25</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2025/26</a:t>
                      </a:r>
                      <a:endParaRPr lang="en-US" sz="1400" dirty="0">
                        <a:latin typeface="Calibri" charset="0"/>
                        <a:ea typeface="Calibri" charset="0"/>
                        <a:cs typeface="Calibri" charset="0"/>
                      </a:endParaRPr>
                    </a:p>
                    <a:p>
                      <a:pPr marL="0" indent="0" algn="r">
                        <a:buNone/>
                      </a:pPr>
                      <a:r>
                        <a:rPr lang="en-US" sz="1400" b="1" kern="0" spc="40" dirty="0">
                          <a:solidFill>
                            <a:srgbClr val="FFFFFF"/>
                          </a:solidFill>
                          <a:latin typeface="Calibri" pitchFamily="34" charset="0"/>
                          <a:ea typeface="Calibri" pitchFamily="34" charset="-122"/>
                          <a:cs typeface="Calibri" pitchFamily="34" charset="-120"/>
                        </a:rPr>
                        <a:t>oct 25 – sep 26</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Var. total</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En $ mil M constantes (30-09-26)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31,91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28,16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24,88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En USD M</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16,1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14,7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2"/>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En $ mil M corrientes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10,89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18,30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21,52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+98%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Transacciones procesadas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416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536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4"/>
                  </a:ext>
                </a:extLst>
              </a:tr>
            </a:tbl>
          </a:graphicData>
        </a:graphic>
      </p:graphicFrame>
      <p:sp>
        <p:nvSpPr>
          <p:cNvPr id="7" name="Shape 4"/>
          <p:cNvSpPr/>
          <p:nvPr/>
        </p:nvSpPr>
        <p:spPr>
          <a:xfrm>
            <a:off x="609600" y="4224528"/>
            <a:ext cx="10972800" cy="990600"/>
          </a:xfrm>
          <a:prstGeom prst="roundRect">
            <a:avLst>
              <a:gd name="adj" fmla="val 4615"/>
            </a:avLst>
          </a:prstGeom>
          <a:solidFill>
            <a:srgbClr val="F6F9F1"/>
          </a:solidFill>
          <a:ln w="9525">
            <a:solidFill>
              <a:srgbClr val="E1EBD6"/>
            </a:solidFill>
            <a:prstDash val="solid"/>
          </a:ln>
        </p:spPr>
        <p:txBody>
          <a:bodyPr/>
          <a:lstStyle/>
          <a:p>
            <a:pPr/>
            <a:endParaRPr lang="es-AR"/>
          </a:p>
        </p:txBody>
      </p:sp>
      <p:sp>
        <p:nvSpPr>
          <p:cNvPr id="8" name="Text 5"/>
          <p:cNvSpPr txBox="1"/>
          <p:nvPr/>
        </p:nvSpPr>
        <p:spPr>
          <a:xfrm>
            <a:off x="762000" y="4306824"/>
            <a:ext cx="10668000" cy="838200"/>
          </a:xfrm>
          <a:prstGeom prst="rect">
            <a:avLst/>
          </a:prstGeom>
          <a:noFill/>
          <a:ln/>
        </p:spPr>
        <p:txBody>
          <a:bodyPr wrap="square" lIns="0" tIns="0" rIns="0" bIns="0" rtlCol="0" anchor="ctr"/>
          <a:lstStyle/>
          <a:p>
            <a:pPr marL="0" indent="0">
              <a:lnSpc>
                <a:spcPct val="120000"/>
              </a:lnSpc>
              <a:buNone/>
            </a:pPr>
            <a:r>
              <a:rPr lang="en-US" sz="1100" dirty="0">
                <a:solidFill>
                  <a:srgbClr val="2B2B24"/>
                </a:solidFill>
                <a:latin typeface="Calibri" pitchFamily="34" charset="0"/>
                <a:ea typeface="Calibri" pitchFamily="34" charset="-122"/>
                <a:cs typeface="Calibri" pitchFamily="34" charset="-120"/>
              </a:rPr>
              <a:t>Las 42 razones sociales con declaración jurada de concesión o permiso explican 93% de la cobranza de prestadores turísticos del último ciclo y caen 22% en pesos constantes a lo largo de la serie. Es el recorte más acotado del informe y el que concentra la relación contractual con la Administración.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TABLA IV</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Principales prestadores turísticos</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Muestra del último período — en miles de millones de pesos constantes al 30 de septiembre de 2026 · los once son concesionarios o permisionarios con DDJJ y reúnen 96% de ese universo</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3332301186"/>
              </p:ext>
            </p:extLst>
          </p:nvPr>
        </p:nvGraphicFramePr>
        <p:xfrm>
          <a:off x="609600" y="1444752"/>
          <a:ext cx="10972800" cy="4608576"/>
        </p:xfrm>
        <a:graphic>
          <a:graphicData uri="http://schemas.openxmlformats.org/drawingml/2006/table">
            <a:tbl>
              <a:tblPr/>
              <a:tblGrid>
                <a:gridCol w="3403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727200">
                  <a:extLst>
                    <a:ext uri="{9D8B030D-6E8A-4147-A177-3AD203B41FA5}">
                      <a16:colId xmlns:a16="http://schemas.microsoft.com/office/drawing/2014/main" val="20004"/>
                    </a:ext>
                  </a:extLst>
                </a:gridCol>
                <a:gridCol w="1727200">
                  <a:extLst>
                    <a:ext uri="{9D8B030D-6E8A-4147-A177-3AD203B41FA5}">
                      <a16:colId xmlns:a16="http://schemas.microsoft.com/office/drawing/2014/main" val="20005"/>
                    </a:ext>
                  </a:extLst>
                </a:gridCol>
              </a:tblGrid>
              <a:tr h="384048">
                <a:tc>
                  <a:txBody>
                    <a:bodyPr/>
                    <a:lstStyle/>
                    <a:p>
                      <a:pPr marL="0" indent="0" algn="l">
                        <a:buNone/>
                      </a:pPr>
                      <a:r>
                        <a:rPr lang="en-US" sz="1400" b="1" kern="0" spc="40" dirty="0">
                          <a:solidFill>
                            <a:srgbClr val="FFFFFF"/>
                          </a:solidFill>
                          <a:latin typeface="Calibri" pitchFamily="34" charset="0"/>
                          <a:ea typeface="Calibri" pitchFamily="34" charset="-122"/>
                          <a:cs typeface="Calibri" pitchFamily="34" charset="-120"/>
                        </a:rPr>
                        <a:t>Prestador</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2025/26</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2024/25</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2023/24</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Última var. i.a.</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Var. total</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8404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Iguazu Argentina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7,82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8,24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7,60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Hielo Y Aventura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3,67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4,54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4,91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2"/>
                  </a:ext>
                </a:extLst>
              </a:tr>
              <a:tr h="38404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La Gran Aventura </a:t>
                      </a:r>
                      <a:r>
                        <a:rPr lang="en-US" sz="1400" dirty="0" err="1">
                          <a:solidFill>
                            <a:srgbClr val="2B2B24"/>
                          </a:solidFill>
                          <a:latin typeface="Calibri" pitchFamily="34" charset="0"/>
                          <a:ea typeface="Calibri" pitchFamily="34" charset="-122"/>
                          <a:cs typeface="Calibri" pitchFamily="34" charset="-120"/>
                        </a:rPr>
                        <a:t>Náutica</a:t>
                      </a:r>
                      <a:r>
                        <a:rPr lang="en-US" sz="1400" dirty="0">
                          <a:solidFill>
                            <a:srgbClr val="2B2B24"/>
                          </a:solidFill>
                          <a:latin typeface="Calibri" pitchFamily="34" charset="0"/>
                          <a:ea typeface="Calibri" pitchFamily="34" charset="-122"/>
                          <a:cs typeface="Calibri" pitchFamily="34" charset="-120"/>
                        </a:rPr>
                        <a:t> SRL</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2,74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3,41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Solo Patagonia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2,07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2,08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3,09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−33%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4"/>
                  </a:ext>
                </a:extLst>
              </a:tr>
              <a:tr h="38404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London Supply SACIFI</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1,88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2,06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2,47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Tranex Turismo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1,78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2,90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3,69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−39%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6"/>
                  </a:ext>
                </a:extLst>
              </a:tr>
              <a:tr h="384048">
                <a:tc>
                  <a:txBody>
                    <a:bodyPr/>
                    <a:lstStyle/>
                    <a:p>
                      <a:pPr marL="0" indent="0" algn="l">
                        <a:buNone/>
                      </a:pPr>
                      <a:r>
                        <a:rPr lang="en-US" sz="1400" dirty="0" err="1">
                          <a:solidFill>
                            <a:srgbClr val="2B2B24"/>
                          </a:solidFill>
                          <a:latin typeface="Calibri" pitchFamily="34" charset="0"/>
                          <a:ea typeface="Calibri" pitchFamily="34" charset="-122"/>
                          <a:cs typeface="Calibri" pitchFamily="34" charset="-120"/>
                        </a:rPr>
                        <a:t>Turisur</a:t>
                      </a:r>
                      <a:r>
                        <a:rPr lang="en-US" sz="1400" dirty="0">
                          <a:solidFill>
                            <a:srgbClr val="2B2B24"/>
                          </a:solidFill>
                          <a:latin typeface="Calibri" pitchFamily="34" charset="0"/>
                          <a:ea typeface="Calibri" pitchFamily="34" charset="-122"/>
                          <a:cs typeface="Calibri" pitchFamily="34" charset="-120"/>
                        </a:rPr>
                        <a:t> SRL</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1,42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1,62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1,76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Espacio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0,82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0,57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0,81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+46%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8"/>
                  </a:ext>
                </a:extLst>
              </a:tr>
              <a:tr h="384048">
                <a:tc>
                  <a:txBody>
                    <a:bodyPr/>
                    <a:lstStyle/>
                    <a:p>
                      <a:pPr marL="0" indent="0" algn="l">
                        <a:buNone/>
                      </a:pPr>
                      <a:r>
                        <a:rPr lang="en-US" sz="1400" dirty="0" err="1">
                          <a:solidFill>
                            <a:srgbClr val="2B2B24"/>
                          </a:solidFill>
                          <a:latin typeface="Calibri" pitchFamily="34" charset="0"/>
                          <a:ea typeface="Calibri" pitchFamily="34" charset="-122"/>
                          <a:cs typeface="Calibri" pitchFamily="34" charset="-120"/>
                        </a:rPr>
                        <a:t>Marpatag</a:t>
                      </a:r>
                      <a:r>
                        <a:rPr lang="en-US" sz="1400" dirty="0">
                          <a:solidFill>
                            <a:srgbClr val="2B2B24"/>
                          </a:solidFill>
                          <a:latin typeface="Calibri" pitchFamily="34" charset="0"/>
                          <a:ea typeface="Calibri" pitchFamily="34" charset="-122"/>
                          <a:cs typeface="Calibri" pitchFamily="34" charset="-120"/>
                        </a:rPr>
                        <a:t> SRL</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0,73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0,93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1,41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−48%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8404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Estancia Cristina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0,62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0,46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0,80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+34%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10"/>
                  </a:ext>
                </a:extLst>
              </a:tr>
              <a:tr h="38404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Southern Spirit Lago Argentino</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0,52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0,70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0,70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TABLA V</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Principales prestadores turísticos en dólares</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Muestra del último período — en millones de dólares · los once son concesionarios o permisionarios con DDJJ</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946523683"/>
              </p:ext>
            </p:extLst>
          </p:nvPr>
        </p:nvGraphicFramePr>
        <p:xfrm>
          <a:off x="609600" y="1444752"/>
          <a:ext cx="10972800" cy="3785616"/>
        </p:xfrm>
        <a:graphic>
          <a:graphicData uri="http://schemas.openxmlformats.org/drawingml/2006/table">
            <a:tbl>
              <a:tblPr/>
              <a:tblGrid>
                <a:gridCol w="3403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727200">
                  <a:extLst>
                    <a:ext uri="{9D8B030D-6E8A-4147-A177-3AD203B41FA5}">
                      <a16:colId xmlns:a16="http://schemas.microsoft.com/office/drawing/2014/main" val="20004"/>
                    </a:ext>
                  </a:extLst>
                </a:gridCol>
                <a:gridCol w="1727200">
                  <a:extLst>
                    <a:ext uri="{9D8B030D-6E8A-4147-A177-3AD203B41FA5}">
                      <a16:colId xmlns:a16="http://schemas.microsoft.com/office/drawing/2014/main" val="20005"/>
                    </a:ext>
                  </a:extLst>
                </a:gridCol>
              </a:tblGrid>
              <a:tr h="315468">
                <a:tc>
                  <a:txBody>
                    <a:bodyPr/>
                    <a:lstStyle/>
                    <a:p>
                      <a:pPr marL="0" indent="0" algn="l">
                        <a:buNone/>
                      </a:pPr>
                      <a:r>
                        <a:rPr lang="en-US" sz="1400" b="1" kern="0" spc="40" dirty="0">
                          <a:solidFill>
                            <a:srgbClr val="FFFFFF"/>
                          </a:solidFill>
                          <a:latin typeface="Calibri" pitchFamily="34" charset="0"/>
                          <a:ea typeface="Calibri" pitchFamily="34" charset="-122"/>
                          <a:cs typeface="Calibri" pitchFamily="34" charset="-120"/>
                        </a:rPr>
                        <a:t>Prestador</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2025/26</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2024/25</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2023/24</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Última var. i.a.</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Var. total</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1546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Iguazu Argentina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4,63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4,69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2,69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+72%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Hielo Y Aventura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2,20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2,63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1,91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2"/>
                  </a:ext>
                </a:extLst>
              </a:tr>
              <a:tr h="31546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La Gran Aventura </a:t>
                      </a:r>
                      <a:r>
                        <a:rPr lang="en-US" sz="1400" dirty="0" err="1">
                          <a:solidFill>
                            <a:srgbClr val="2B2B24"/>
                          </a:solidFill>
                          <a:latin typeface="Calibri" pitchFamily="34" charset="0"/>
                          <a:ea typeface="Calibri" pitchFamily="34" charset="-122"/>
                          <a:cs typeface="Calibri" pitchFamily="34" charset="-120"/>
                        </a:rPr>
                        <a:t>Náutica</a:t>
                      </a:r>
                      <a:r>
                        <a:rPr lang="en-US" sz="1400" dirty="0">
                          <a:solidFill>
                            <a:srgbClr val="2B2B24"/>
                          </a:solidFill>
                          <a:latin typeface="Calibri" pitchFamily="34" charset="0"/>
                          <a:ea typeface="Calibri" pitchFamily="34" charset="-122"/>
                          <a:cs typeface="Calibri" pitchFamily="34" charset="-120"/>
                        </a:rPr>
                        <a:t> SRL</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1,46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1,56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Solo Patagonia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1,22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1,21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4"/>
                  </a:ext>
                </a:extLst>
              </a:tr>
              <a:tr h="31546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London Supply SACIFI</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0,89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+27%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Tranex Turismo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1,06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1,64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1,50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−36%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6"/>
                  </a:ext>
                </a:extLst>
              </a:tr>
              <a:tr h="315468">
                <a:tc>
                  <a:txBody>
                    <a:bodyPr/>
                    <a:lstStyle/>
                    <a:p>
                      <a:pPr marL="0" indent="0" algn="l">
                        <a:buNone/>
                      </a:pPr>
                      <a:r>
                        <a:rPr lang="en-US" sz="1400" dirty="0" err="1">
                          <a:solidFill>
                            <a:srgbClr val="2B2B24"/>
                          </a:solidFill>
                          <a:latin typeface="Calibri" pitchFamily="34" charset="0"/>
                          <a:ea typeface="Calibri" pitchFamily="34" charset="-122"/>
                          <a:cs typeface="Calibri" pitchFamily="34" charset="-120"/>
                        </a:rPr>
                        <a:t>Turisur</a:t>
                      </a:r>
                      <a:r>
                        <a:rPr lang="en-US" sz="1400" dirty="0">
                          <a:solidFill>
                            <a:srgbClr val="2B2B24"/>
                          </a:solidFill>
                          <a:latin typeface="Calibri" pitchFamily="34" charset="0"/>
                          <a:ea typeface="Calibri" pitchFamily="34" charset="-122"/>
                          <a:cs typeface="Calibri" pitchFamily="34" charset="-120"/>
                        </a:rPr>
                        <a:t> SRL</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0,85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0,94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0,65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546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Espacio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0,48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0,26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+48%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+84%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8"/>
                  </a:ext>
                </a:extLst>
              </a:tr>
              <a:tr h="315468">
                <a:tc>
                  <a:txBody>
                    <a:bodyPr/>
                    <a:lstStyle/>
                    <a:p>
                      <a:pPr marL="0" indent="0" algn="l">
                        <a:buNone/>
                      </a:pPr>
                      <a:r>
                        <a:rPr lang="en-US" sz="1400" dirty="0" err="1">
                          <a:solidFill>
                            <a:srgbClr val="2B2B24"/>
                          </a:solidFill>
                          <a:latin typeface="Calibri" pitchFamily="34" charset="0"/>
                          <a:ea typeface="Calibri" pitchFamily="34" charset="-122"/>
                          <a:cs typeface="Calibri" pitchFamily="34" charset="-120"/>
                        </a:rPr>
                        <a:t>Marpatag</a:t>
                      </a:r>
                      <a:r>
                        <a:rPr lang="en-US" sz="1400" dirty="0">
                          <a:solidFill>
                            <a:srgbClr val="2B2B24"/>
                          </a:solidFill>
                          <a:latin typeface="Calibri" pitchFamily="34" charset="0"/>
                          <a:ea typeface="Calibri" pitchFamily="34" charset="-122"/>
                          <a:cs typeface="Calibri" pitchFamily="34" charset="-120"/>
                        </a:rPr>
                        <a:t> SRL</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0,43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0,54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0,55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546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Estancia Cristina SA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0,27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+34%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+44%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10"/>
                  </a:ext>
                </a:extLst>
              </a:tr>
              <a:tr h="31546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Southern Spirit Lago Argentino</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0,41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0,28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7" name="Shape 4"/>
          <p:cNvSpPr/>
          <p:nvPr/>
        </p:nvSpPr>
        <p:spPr>
          <a:xfrm>
            <a:off x="609600" y="5522976"/>
            <a:ext cx="10972800" cy="762000"/>
          </a:xfrm>
          <a:prstGeom prst="roundRect">
            <a:avLst>
              <a:gd name="adj" fmla="val 6000"/>
            </a:avLst>
          </a:prstGeom>
          <a:solidFill>
            <a:srgbClr val="F6F9F1"/>
          </a:solidFill>
          <a:ln w="9525">
            <a:solidFill>
              <a:srgbClr val="E1EBD6"/>
            </a:solidFill>
            <a:prstDash val="solid"/>
          </a:ln>
        </p:spPr>
        <p:txBody>
          <a:bodyPr/>
          <a:lstStyle/>
          <a:p>
            <a:pPr/>
            <a:endParaRPr lang="es-AR"/>
          </a:p>
        </p:txBody>
      </p:sp>
      <p:sp>
        <p:nvSpPr>
          <p:cNvPr id="6" name="Text 5"/>
          <p:cNvSpPr txBox="1"/>
          <p:nvPr/>
        </p:nvSpPr>
        <p:spPr>
          <a:xfrm>
            <a:off x="762000" y="5605272"/>
            <a:ext cx="10668000" cy="609600"/>
          </a:xfrm>
          <a:prstGeom prst="rect">
            <a:avLst/>
          </a:prstGeom>
          <a:noFill/>
          <a:ln/>
        </p:spPr>
        <p:txBody>
          <a:bodyPr wrap="square" lIns="0" tIns="0" rIns="0" bIns="0" rtlCol="0" anchor="ctr"/>
          <a:lstStyle/>
          <a:p>
            <a:pPr marL="0" indent="0">
              <a:lnSpc>
                <a:spcPct val="120000"/>
              </a:lnSpc>
              <a:buNone/>
            </a:pPr>
            <a:r>
              <a:rPr lang="en-US" sz="1100" dirty="0">
                <a:solidFill>
                  <a:srgbClr val="2B2B24"/>
                </a:solidFill>
                <a:latin typeface="Calibri" pitchFamily="34" charset="0"/>
                <a:ea typeface="Calibri" pitchFamily="34" charset="-122"/>
                <a:cs typeface="Calibri" pitchFamily="34" charset="-120"/>
              </a:rPr>
              <a:t>Las lecturas positivas reflejan principalmente la incorporación de nuevas prestaciones para operadores ya activos, como en los casos de Espacio SA y Estancia Cristina. En contraste, </a:t>
            </a:r>
            <a:r>
              <a:rPr lang="en-US" sz="1100" b="1" dirty="0">
                <a:solidFill>
                  <a:srgbClr val="2B2B24"/>
                </a:solidFill>
                <a:latin typeface="Calibri" pitchFamily="34" charset="0"/>
                <a:ea typeface="Calibri" pitchFamily="34" charset="-122"/>
                <a:cs typeface="Calibri" pitchFamily="34" charset="-120"/>
              </a:rPr>
              <a:t>Tranex Turismo</a:t>
            </a:r>
            <a:r>
              <a:rPr lang="en-US" sz="1100" dirty="0">
                <a:solidFill>
                  <a:srgbClr val="2B2B24"/>
                </a:solidFill>
                <a:latin typeface="Calibri" pitchFamily="34" charset="0"/>
                <a:ea typeface="Calibri" pitchFamily="34" charset="-122"/>
                <a:cs typeface="Calibri" pitchFamily="34" charset="-120"/>
              </a:rPr>
              <a:t> y </a:t>
            </a:r>
            <a:r>
              <a:rPr lang="en-US" sz="1100" b="1" dirty="0">
                <a:solidFill>
                  <a:srgbClr val="2B2B24"/>
                </a:solidFill>
                <a:latin typeface="Calibri" pitchFamily="34" charset="0"/>
                <a:ea typeface="Calibri" pitchFamily="34" charset="-122"/>
                <a:cs typeface="Calibri" pitchFamily="34" charset="-120"/>
              </a:rPr>
              <a:t>Marpatag</a:t>
            </a:r>
            <a:r>
              <a:rPr lang="en-US" sz="1100" dirty="0">
                <a:solidFill>
                  <a:srgbClr val="2B2B24"/>
                </a:solidFill>
                <a:latin typeface="Calibri" pitchFamily="34" charset="0"/>
                <a:ea typeface="Calibri" pitchFamily="34" charset="-122"/>
                <a:cs typeface="Calibri" pitchFamily="34" charset="-120"/>
              </a:rPr>
              <a:t> reportan los peores deterioros operativos de la serie.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EVOLUCIÓN MENSUAL</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Estacionalidad y tendencia de la serie</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Total de ingresos mensuales a valor constante del 30-09-2026 · agosto 2023 a septiembre 2026</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a:t>
            </a:r>
            <a:endParaRPr lang="en-US" sz="800" dirty="0"/>
          </a:p>
        </p:txBody>
      </p:sp>
      <p:sp>
        <p:nvSpPr>
          <p:cNvPr id="7" name="Shape 4"/>
          <p:cNvSpPr/>
          <p:nvPr/>
        </p:nvSpPr>
        <p:spPr>
          <a:xfrm>
            <a:off x="609600" y="4953000"/>
            <a:ext cx="10972800" cy="787400"/>
          </a:xfrm>
          <a:prstGeom prst="roundRect">
            <a:avLst>
              <a:gd name="adj" fmla="val 5806"/>
            </a:avLst>
          </a:prstGeom>
          <a:solidFill>
            <a:srgbClr val="F6F9F1"/>
          </a:solidFill>
          <a:ln w="9525">
            <a:solidFill>
              <a:srgbClr val="E1EBD6"/>
            </a:solidFill>
            <a:prstDash val="solid"/>
          </a:ln>
        </p:spPr>
        <p:txBody>
          <a:bodyPr/>
          <a:lstStyle/>
          <a:p>
            <a:pPr/>
            <a:endParaRPr lang="es-AR"/>
          </a:p>
        </p:txBody>
      </p:sp>
      <p:sp>
        <p:nvSpPr>
          <p:cNvPr id="8" name="Text 5"/>
          <p:cNvSpPr txBox="1"/>
          <p:nvPr/>
        </p:nvSpPr>
        <p:spPr>
          <a:xfrm>
            <a:off x="762000" y="5029200"/>
            <a:ext cx="10668000" cy="635000"/>
          </a:xfrm>
          <a:prstGeom prst="rect">
            <a:avLst/>
          </a:prstGeom>
          <a:noFill/>
          <a:ln/>
        </p:spPr>
        <p:txBody>
          <a:bodyPr wrap="square" lIns="0" tIns="0" rIns="0" bIns="0" rtlCol="0" anchor="ctr"/>
          <a:lstStyle/>
          <a:p>
            <a:pPr marL="0" indent="0">
              <a:lnSpc>
                <a:spcPct val="120000"/>
              </a:lnSpc>
              <a:buNone/>
            </a:pPr>
            <a:r>
              <a:rPr lang="en-US" sz="1100" dirty="0">
                <a:solidFill>
                  <a:srgbClr val="2B2B24"/>
                </a:solidFill>
                <a:latin typeface="Calibri" pitchFamily="34" charset="0"/>
                <a:ea typeface="Calibri" pitchFamily="34" charset="-122"/>
                <a:cs typeface="Calibri" pitchFamily="34" charset="-120"/>
              </a:rPr>
              <a:t>El gráfico denota la </a:t>
            </a:r>
            <a:r>
              <a:rPr lang="en-US" sz="1100" b="1" dirty="0">
                <a:solidFill>
                  <a:srgbClr val="2B2B24"/>
                </a:solidFill>
                <a:latin typeface="Calibri" pitchFamily="34" charset="0"/>
                <a:ea typeface="Calibri" pitchFamily="34" charset="-122"/>
                <a:cs typeface="Calibri" pitchFamily="34" charset="-120"/>
              </a:rPr>
              <a:t>marcada estacionalidad</a:t>
            </a:r>
            <a:r>
              <a:rPr lang="en-US" sz="1100" dirty="0">
                <a:solidFill>
                  <a:srgbClr val="2B2B24"/>
                </a:solidFill>
                <a:latin typeface="Calibri" pitchFamily="34" charset="0"/>
                <a:ea typeface="Calibri" pitchFamily="34" charset="-122"/>
                <a:cs typeface="Calibri" pitchFamily="34" charset="-120"/>
              </a:rPr>
              <a:t>, con picos que replican la mayor operación turística en temporada estival (diciembre-marzo). Las medias móviles y la regresión lineal exponen una notoria </a:t>
            </a:r>
            <a:r>
              <a:rPr lang="en-US" sz="1100" b="1" dirty="0">
                <a:solidFill>
                  <a:srgbClr val="2B2B24"/>
                </a:solidFill>
                <a:latin typeface="Calibri" pitchFamily="34" charset="0"/>
                <a:ea typeface="Calibri" pitchFamily="34" charset="-122"/>
                <a:cs typeface="Calibri" pitchFamily="34" charset="-120"/>
              </a:rPr>
              <a:t>tendencia declinante</a:t>
            </a:r>
            <a:r>
              <a:rPr lang="en-US" sz="1100" dirty="0">
                <a:solidFill>
                  <a:srgbClr val="2B2B24"/>
                </a:solidFill>
                <a:latin typeface="Calibri" pitchFamily="34" charset="0"/>
                <a:ea typeface="Calibri" pitchFamily="34" charset="-122"/>
                <a:cs typeface="Calibri" pitchFamily="34" charset="-120"/>
              </a:rPr>
              <a:t>: la recta pierde 36% entre los extremos de la serie.</a:t>
            </a:r>
            <a:endParaRPr lang="en-US" sz="1100" dirty="0"/>
          </a:p>
        </p:txBody>
      </p:sp>
      <p:pic>
        <p:nvPicPr>
          <p:cNvPr id="9" name="Picture 8" descr="fig1_sep.png"/>
          <p:cNvPicPr>
            <a:picLocks noChangeAspect="1"/>
          </p:cNvPicPr>
          <p:nvPr/>
        </p:nvPicPr>
        <p:blipFill>
          <a:blip r:embed="rId5"/>
          <a:stretch>
            <a:fillRect/>
          </a:stretch>
        </p:blipFill>
        <p:spPr>
          <a:xfrm>
            <a:off x="457200" y="1298448"/>
            <a:ext cx="11274552" cy="35204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TABLA VI</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Ingresos por dependencia administrativa</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Universo depurado de medios de pago electrónicos — en miles de millones de pesos constantes al 30 de septiembre de 2026</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345476103"/>
              </p:ext>
            </p:extLst>
          </p:nvPr>
        </p:nvGraphicFramePr>
        <p:xfrm>
          <a:off x="609600" y="1554480"/>
          <a:ext cx="10972800" cy="4754880"/>
        </p:xfrm>
        <a:graphic>
          <a:graphicData uri="http://schemas.openxmlformats.org/drawingml/2006/table">
            <a:tbl>
              <a:tblPr/>
              <a:tblGrid>
                <a:gridCol w="3403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727200">
                  <a:extLst>
                    <a:ext uri="{9D8B030D-6E8A-4147-A177-3AD203B41FA5}">
                      <a16:colId xmlns:a16="http://schemas.microsoft.com/office/drawing/2014/main" val="20004"/>
                    </a:ext>
                  </a:extLst>
                </a:gridCol>
                <a:gridCol w="1727200">
                  <a:extLst>
                    <a:ext uri="{9D8B030D-6E8A-4147-A177-3AD203B41FA5}">
                      <a16:colId xmlns:a16="http://schemas.microsoft.com/office/drawing/2014/main" val="20005"/>
                    </a:ext>
                  </a:extLst>
                </a:gridCol>
              </a:tblGrid>
              <a:tr h="365760">
                <a:tc>
                  <a:txBody>
                    <a:bodyPr/>
                    <a:lstStyle/>
                    <a:p>
                      <a:pPr marL="0" indent="0" algn="l">
                        <a:buNone/>
                      </a:pPr>
                      <a:r>
                        <a:rPr lang="en-US" sz="1400" b="1" kern="0" spc="40" dirty="0">
                          <a:solidFill>
                            <a:srgbClr val="FFFFFF"/>
                          </a:solidFill>
                          <a:latin typeface="Calibri" pitchFamily="34" charset="0"/>
                          <a:ea typeface="Calibri" pitchFamily="34" charset="-122"/>
                          <a:cs typeface="Calibri" pitchFamily="34" charset="-120"/>
                        </a:rPr>
                        <a:t>Dependencia</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2025/26</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2024/25</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2023/24</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Última var. i.a.</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Var. total</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65760">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Glaciares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10,94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15,94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20,76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−31%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−47%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Iguazú</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10,79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11,53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11,41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2"/>
                  </a:ext>
                </a:extLst>
              </a:tr>
              <a:tr h="365760">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Nahuel Huapi</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6,35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6,73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6,59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Tierra del Fuego</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6,08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5,45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7,49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4"/>
                  </a:ext>
                </a:extLst>
              </a:tr>
              <a:tr h="365760">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Lanín</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1,43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1,49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Los Alerces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0,49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0,63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0,21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+139%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6"/>
                  </a:ext>
                </a:extLst>
              </a:tr>
              <a:tr h="365760">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Talampaya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0,47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Casa Central</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0,49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0,43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8"/>
                  </a:ext>
                </a:extLst>
              </a:tr>
              <a:tr h="365760">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El Palmar</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0,45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0,24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+44%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Lago Puelo</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10"/>
                  </a:ext>
                </a:extLst>
              </a:tr>
              <a:tr h="365760">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Otras dependencias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0,11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+77%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+131%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65760">
                <a:tc>
                  <a:txBody>
                    <a:bodyPr/>
                    <a:lstStyle/>
                    <a:p>
                      <a:pPr marL="0" indent="0" algn="l">
                        <a:buNone/>
                      </a:pPr>
                      <a:r>
                        <a:rPr lang="en-US" sz="1400" b="1" dirty="0">
                          <a:solidFill>
                            <a:srgbClr val="2B2B24"/>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2B2B24"/>
                          </a:solidFill>
                          <a:latin typeface="Calibri" pitchFamily="34" charset="0"/>
                          <a:ea typeface="Calibri" pitchFamily="34" charset="-122"/>
                          <a:cs typeface="Calibri" pitchFamily="34" charset="-120"/>
                        </a:rPr>
                        <a:t>37,31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2B2B24"/>
                          </a:solidFill>
                          <a:latin typeface="Calibri" pitchFamily="34" charset="0"/>
                          <a:ea typeface="Calibri" pitchFamily="34" charset="-122"/>
                          <a:cs typeface="Calibri" pitchFamily="34" charset="-120"/>
                        </a:rPr>
                        <a:t>43,20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2B2B24"/>
                          </a:solidFill>
                          <a:latin typeface="Calibri" pitchFamily="34" charset="0"/>
                          <a:ea typeface="Calibri" pitchFamily="34" charset="-122"/>
                          <a:cs typeface="Calibri" pitchFamily="34" charset="-120"/>
                        </a:rPr>
                        <a:t>48,86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TABLA VII</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Ingresos de prestadores por dependencia</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Prestadores turísticos — en miles de millones de pesos constantes al 30 de septiembre de 2026</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2424234006"/>
              </p:ext>
            </p:extLst>
          </p:nvPr>
        </p:nvGraphicFramePr>
        <p:xfrm>
          <a:off x="609600" y="1572768"/>
          <a:ext cx="10972800" cy="4828032"/>
        </p:xfrm>
        <a:graphic>
          <a:graphicData uri="http://schemas.openxmlformats.org/drawingml/2006/table">
            <a:tbl>
              <a:tblPr/>
              <a:tblGrid>
                <a:gridCol w="3403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727200">
                  <a:extLst>
                    <a:ext uri="{9D8B030D-6E8A-4147-A177-3AD203B41FA5}">
                      <a16:colId xmlns:a16="http://schemas.microsoft.com/office/drawing/2014/main" val="20004"/>
                    </a:ext>
                  </a:extLst>
                </a:gridCol>
                <a:gridCol w="1727200">
                  <a:extLst>
                    <a:ext uri="{9D8B030D-6E8A-4147-A177-3AD203B41FA5}">
                      <a16:colId xmlns:a16="http://schemas.microsoft.com/office/drawing/2014/main" val="20005"/>
                    </a:ext>
                  </a:extLst>
                </a:gridCol>
              </a:tblGrid>
              <a:tr h="402336">
                <a:tc>
                  <a:txBody>
                    <a:bodyPr/>
                    <a:lstStyle/>
                    <a:p>
                      <a:pPr marL="0" indent="0" algn="l">
                        <a:buNone/>
                      </a:pPr>
                      <a:r>
                        <a:rPr lang="en-US" sz="1400" b="1" kern="0" spc="40" dirty="0">
                          <a:solidFill>
                            <a:srgbClr val="FFFFFF"/>
                          </a:solidFill>
                          <a:latin typeface="Calibri" pitchFamily="34" charset="0"/>
                          <a:ea typeface="Calibri" pitchFamily="34" charset="-122"/>
                          <a:cs typeface="Calibri" pitchFamily="34" charset="-120"/>
                        </a:rPr>
                        <a:t>Dependencia</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2025/26</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2024/25</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2023/24</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Última var. i.a.</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Var. total</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Iguazú</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10,68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11,30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11,29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Glaciares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7,89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8,98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11,03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2"/>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Nahuel Huapi</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4,86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5,17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5,46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Tierra del Fuego</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1,94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3,11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3,89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−38%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4"/>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Lanín</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0,88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0,96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0,73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Talampaya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0,47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6"/>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Los Alerces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0,15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0,15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0,19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El Palmar</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+979%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8"/>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Lago Puelo</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Otras dependencias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+105%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10"/>
                  </a:ext>
                </a:extLst>
              </a:tr>
              <a:tr h="402336">
                <a:tc>
                  <a:txBody>
                    <a:bodyPr/>
                    <a:lstStyle/>
                    <a:p>
                      <a:pPr marL="0" indent="0" algn="l">
                        <a:buNone/>
                      </a:pPr>
                      <a:r>
                        <a:rPr lang="en-US" sz="1400" b="1" dirty="0">
                          <a:solidFill>
                            <a:srgbClr val="2B2B24"/>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2B2B24"/>
                          </a:solidFill>
                          <a:latin typeface="Calibri" pitchFamily="34" charset="0"/>
                          <a:ea typeface="Calibri" pitchFamily="34" charset="-122"/>
                          <a:cs typeface="Calibri" pitchFamily="34" charset="-120"/>
                        </a:rPr>
                        <a:t>26,88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2B2B24"/>
                          </a:solidFill>
                          <a:latin typeface="Calibri" pitchFamily="34" charset="0"/>
                          <a:ea typeface="Calibri" pitchFamily="34" charset="-122"/>
                          <a:cs typeface="Calibri" pitchFamily="34" charset="-120"/>
                        </a:rPr>
                        <a:t>30,20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2B2B24"/>
                          </a:solidFill>
                          <a:latin typeface="Calibri" pitchFamily="34" charset="0"/>
                          <a:ea typeface="Calibri" pitchFamily="34" charset="-122"/>
                          <a:cs typeface="Calibri" pitchFamily="34" charset="-120"/>
                        </a:rPr>
                        <a:t>33,12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TABLA VIII</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Concesionarios y permisionarios por dependencia</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Universo alcanzado por declaración jurada — en miles de millones de pesos constantes al 30 de septiembre de 2026</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 El salto de El Palmar responde a la regularización de pagos adeudados por Julio Roberto Edelcopp.</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2424234006"/>
              </p:ext>
            </p:extLst>
          </p:nvPr>
        </p:nvGraphicFramePr>
        <p:xfrm>
          <a:off x="609600" y="1572768"/>
          <a:ext cx="10972800" cy="4828032"/>
        </p:xfrm>
        <a:graphic>
          <a:graphicData uri="http://schemas.openxmlformats.org/drawingml/2006/table">
            <a:tbl>
              <a:tblPr/>
              <a:tblGrid>
                <a:gridCol w="3403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727200">
                  <a:extLst>
                    <a:ext uri="{9D8B030D-6E8A-4147-A177-3AD203B41FA5}">
                      <a16:colId xmlns:a16="http://schemas.microsoft.com/office/drawing/2014/main" val="20004"/>
                    </a:ext>
                  </a:extLst>
                </a:gridCol>
                <a:gridCol w="1727200">
                  <a:extLst>
                    <a:ext uri="{9D8B030D-6E8A-4147-A177-3AD203B41FA5}">
                      <a16:colId xmlns:a16="http://schemas.microsoft.com/office/drawing/2014/main" val="20005"/>
                    </a:ext>
                  </a:extLst>
                </a:gridCol>
              </a:tblGrid>
              <a:tr h="402336">
                <a:tc>
                  <a:txBody>
                    <a:bodyPr/>
                    <a:lstStyle/>
                    <a:p>
                      <a:pPr marL="0" indent="0" algn="l">
                        <a:buNone/>
                      </a:pPr>
                      <a:r>
                        <a:rPr lang="en-US" sz="1400" b="1" kern="0" spc="40" dirty="0">
                          <a:solidFill>
                            <a:srgbClr val="FFFFFF"/>
                          </a:solidFill>
                          <a:latin typeface="Calibri" pitchFamily="34" charset="0"/>
                          <a:ea typeface="Calibri" pitchFamily="34" charset="-122"/>
                          <a:cs typeface="Calibri" pitchFamily="34" charset="-120"/>
                        </a:rPr>
                        <a:t>Dependencia</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2025/26</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2024/25</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2023/24</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Última var. i.a.</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Var. total</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Iguazú</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10,35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10,99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11,02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Glaciares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7,62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8,72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10,92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2"/>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Nahuel Huapi</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4,30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4,52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5,20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Tierra del Fuego</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1,78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2,97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3,80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4"/>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Talampaya</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0,46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Lanín</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0,31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6"/>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Los Alerces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0,15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−35%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El Palmar</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−52%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b="1" dirty="0">
                          <a:solidFill>
                            <a:srgbClr val="2C5F2D"/>
                          </a:solidFill>
                          <a:latin typeface="Calibri" pitchFamily="34" charset="0"/>
                          <a:ea typeface="Calibri" pitchFamily="34" charset="-122"/>
                          <a:cs typeface="Calibri" pitchFamily="34" charset="-120"/>
                        </a:rPr>
                        <a:t>+1.537%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8"/>
                  </a:ext>
                </a:extLst>
              </a:tr>
              <a:tr h="402336">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Lago Puelo</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0,03</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algn="l">
                        <a:buNone/>
                      </a:pPr>
                      <a:r>
                        <a:rPr lang="en-US" sz="1400" b="1" dirty="0">
                          <a:solidFill>
                            <a:srgbClr val="2B2B24"/>
                          </a:solidFill>
                          <a:latin typeface="Calibri" pitchFamily="34" charset="0"/>
                          <a:ea typeface="Calibri" pitchFamily="34" charset="-122"/>
                          <a:cs typeface="Calibri" pitchFamily="34" charset="-120"/>
                        </a:rPr>
                        <a:t>TOTAL DDJJ</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2B2B24"/>
                          </a:solidFill>
                          <a:latin typeface="Calibri" pitchFamily="34" charset="0"/>
                          <a:ea typeface="Calibri" pitchFamily="34" charset="-122"/>
                          <a:cs typeface="Calibri" pitchFamily="34" charset="-120"/>
                        </a:rPr>
                        <a:t>24,88</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2B2B24"/>
                          </a:solidFill>
                          <a:latin typeface="Calibri" pitchFamily="34" charset="0"/>
                          <a:ea typeface="Calibri" pitchFamily="34" charset="-122"/>
                          <a:cs typeface="Calibri" pitchFamily="34" charset="-120"/>
                        </a:rPr>
                        <a:t>28,16</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2B2B24"/>
                          </a:solidFill>
                          <a:latin typeface="Calibri" pitchFamily="34" charset="0"/>
                          <a:ea typeface="Calibri" pitchFamily="34" charset="-122"/>
                          <a:cs typeface="Calibri" pitchFamily="34" charset="-120"/>
                        </a:rPr>
                        <a:t>31,91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400" b="1" dirty="0">
                          <a:solidFill>
                            <a:srgbClr val="A6472B"/>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CONCENTRACIÓN</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La cobranza depende de pocos actores</a:t>
            </a:r>
            <a:endParaRPr lang="en-US" sz="3200" dirty="0"/>
          </a:p>
        </p:txBody>
      </p:sp>
      <p:sp>
        <p:nvSpPr>
          <p:cNvPr id="4" name="Text 2"/>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a:t>
            </a:r>
            <a:endParaRPr lang="en-US" sz="800" dirty="0"/>
          </a:p>
        </p:txBody>
      </p:sp>
      <p:sp>
        <p:nvSpPr>
          <p:cNvPr id="5" name="Text 3"/>
          <p:cNvSpPr txBox="1"/>
          <p:nvPr/>
        </p:nvSpPr>
        <p:spPr>
          <a:xfrm>
            <a:off x="609600" y="1806435"/>
            <a:ext cx="5969000" cy="1651000"/>
          </a:xfrm>
          <a:prstGeom prst="rect">
            <a:avLst/>
          </a:prstGeom>
          <a:noFill/>
          <a:ln/>
        </p:spPr>
        <p:txBody>
          <a:bodyPr wrap="square" lIns="0" tIns="0" rIns="0" bIns="0" rtlCol="0" anchor="t"/>
          <a:lstStyle/>
          <a:p>
            <a:pPr marL="0" indent="0" algn="l">
              <a:lnSpc>
                <a:spcPct val="128000"/>
              </a:lnSpc>
              <a:spcAft>
                <a:spcPts val="800"/>
              </a:spcAft>
              <a:buNone/>
            </a:pPr>
            <a:r>
              <a:rPr lang="en-US" sz="1400" dirty="0">
                <a:solidFill>
                  <a:srgbClr val="2B2B24"/>
                </a:solidFill>
                <a:latin typeface="Calibri" pitchFamily="34" charset="0"/>
                <a:ea typeface="Calibri" pitchFamily="34" charset="-122"/>
                <a:cs typeface="Calibri" pitchFamily="34" charset="-120"/>
              </a:rPr>
              <a:t>Los 10 principales prestadores explican en torno a </a:t>
            </a:r>
            <a:r>
              <a:rPr lang="en-US" sz="1400" b="1" dirty="0">
                <a:solidFill>
                  <a:srgbClr val="2B2B24"/>
                </a:solidFill>
                <a:latin typeface="Calibri" pitchFamily="34" charset="0"/>
                <a:ea typeface="Calibri" pitchFamily="34" charset="-122"/>
                <a:cs typeface="Calibri" pitchFamily="34" charset="-120"/>
              </a:rPr>
              <a:t>nueve décimas partes</a:t>
            </a:r>
            <a:r>
              <a:rPr lang="en-US" sz="1400" dirty="0">
                <a:solidFill>
                  <a:srgbClr val="2B2B24"/>
                </a:solidFill>
                <a:latin typeface="Calibri" pitchFamily="34" charset="0"/>
                <a:ea typeface="Calibri" pitchFamily="34" charset="-122"/>
                <a:cs typeface="Calibri" pitchFamily="34" charset="-120"/>
              </a:rPr>
              <a:t> de la cobranza turística, con una leve desconcentración a lo largo de la serie (90% a 87%).</a:t>
            </a:r>
            <a:endParaRPr lang="en-US" sz="1400" dirty="0"/>
          </a:p>
          <a:p>
            <a:pPr marL="0" indent="0" algn="l">
              <a:lnSpc>
                <a:spcPct val="128000"/>
              </a:lnSpc>
              <a:spcAft>
                <a:spcPts val="800"/>
              </a:spcAft>
              <a:buNone/>
            </a:pPr>
            <a:r>
              <a:rPr lang="en-US" sz="1400" dirty="0">
                <a:solidFill>
                  <a:srgbClr val="2B2B24"/>
                </a:solidFill>
                <a:latin typeface="Calibri" pitchFamily="34" charset="0"/>
                <a:ea typeface="Calibri" pitchFamily="34" charset="-122"/>
                <a:cs typeface="Calibri" pitchFamily="34" charset="-120"/>
              </a:rPr>
              <a:t>Los parques nacionales Iguazú, Glaciares y Nahuel Huapi presentan una concentración semejante. La Administración se encuentra fuertemente expuesta a las variaciones de estos actores.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790025939"/>
              </p:ext>
            </p:extLst>
          </p:nvPr>
        </p:nvGraphicFramePr>
        <p:xfrm>
          <a:off x="609600" y="3749039"/>
          <a:ext cx="5969000" cy="877824"/>
        </p:xfrm>
        <a:graphic>
          <a:graphicData uri="http://schemas.openxmlformats.org/drawingml/2006/table">
            <a:tbl>
              <a:tblPr/>
              <a:tblGrid>
                <a:gridCol w="2692400">
                  <a:extLst>
                    <a:ext uri="{9D8B030D-6E8A-4147-A177-3AD203B41FA5}">
                      <a16:colId xmlns:a16="http://schemas.microsoft.com/office/drawing/2014/main" val="20000"/>
                    </a:ext>
                  </a:extLst>
                </a:gridCol>
                <a:gridCol w="1092200">
                  <a:extLst>
                    <a:ext uri="{9D8B030D-6E8A-4147-A177-3AD203B41FA5}">
                      <a16:colId xmlns:a16="http://schemas.microsoft.com/office/drawing/2014/main" val="20001"/>
                    </a:ext>
                  </a:extLst>
                </a:gridCol>
                <a:gridCol w="1092200">
                  <a:extLst>
                    <a:ext uri="{9D8B030D-6E8A-4147-A177-3AD203B41FA5}">
                      <a16:colId xmlns:a16="http://schemas.microsoft.com/office/drawing/2014/main" val="20002"/>
                    </a:ext>
                  </a:extLst>
                </a:gridCol>
                <a:gridCol w="1092200">
                  <a:extLst>
                    <a:ext uri="{9D8B030D-6E8A-4147-A177-3AD203B41FA5}">
                      <a16:colId xmlns:a16="http://schemas.microsoft.com/office/drawing/2014/main" val="20003"/>
                    </a:ext>
                  </a:extLst>
                </a:gridCol>
              </a:tblGrid>
              <a:tr h="292608">
                <a:tc>
                  <a:txBody>
                    <a:bodyPr/>
                    <a:lstStyle/>
                    <a:p>
                      <a:pPr marL="0" indent="0" algn="l">
                        <a:buNone/>
                      </a:pPr>
                      <a:r>
                        <a:rPr lang="en-US" sz="1400" b="1" kern="0" spc="40" dirty="0">
                          <a:solidFill>
                            <a:srgbClr val="FFFFFF"/>
                          </a:solidFill>
                          <a:latin typeface="Calibri" pitchFamily="34" charset="0"/>
                          <a:ea typeface="Calibri" pitchFamily="34" charset="-122"/>
                          <a:cs typeface="Calibri" pitchFamily="34" charset="-120"/>
                        </a:rPr>
                        <a:t>Indicador de concentración</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2023/24</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2024/25</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400" b="1" kern="0" spc="40" dirty="0">
                          <a:solidFill>
                            <a:srgbClr val="FFFFFF"/>
                          </a:solidFill>
                          <a:latin typeface="Calibri" pitchFamily="34" charset="0"/>
                          <a:ea typeface="Calibri" pitchFamily="34" charset="-122"/>
                          <a:cs typeface="Calibri" pitchFamily="34" charset="-120"/>
                        </a:rPr>
                        <a:t>2025/26</a:t>
                      </a:r>
                      <a:endParaRPr lang="en-US" sz="14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29260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Principales 10 prestadores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90%</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87%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87%</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400" dirty="0">
                          <a:solidFill>
                            <a:srgbClr val="2B2B24"/>
                          </a:solidFill>
                          <a:latin typeface="Calibri" pitchFamily="34" charset="0"/>
                          <a:ea typeface="Calibri" pitchFamily="34" charset="-122"/>
                          <a:cs typeface="Calibri" pitchFamily="34" charset="-120"/>
                        </a:rPr>
                        <a:t>Principales 3 dependencias</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81%</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79%</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400" dirty="0">
                          <a:solidFill>
                            <a:srgbClr val="2B2B24"/>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2"/>
                  </a:ext>
                </a:extLst>
              </a:tr>
            </a:tbl>
          </a:graphicData>
        </a:graphic>
      </p:graphicFrame>
      <p:sp>
        <p:nvSpPr>
          <p:cNvPr id="7" name="Shape 4"/>
          <p:cNvSpPr/>
          <p:nvPr/>
        </p:nvSpPr>
        <p:spPr>
          <a:xfrm>
            <a:off x="7112000" y="1397000"/>
            <a:ext cx="4470400" cy="1337733"/>
          </a:xfrm>
          <a:prstGeom prst="roundRect">
            <a:avLst>
              <a:gd name="adj" fmla="val 4101"/>
            </a:avLst>
          </a:prstGeom>
          <a:solidFill>
            <a:srgbClr val="F0F5E9"/>
          </a:solidFill>
          <a:ln w="9525">
            <a:solidFill>
              <a:srgbClr val="DCE6D0"/>
            </a:solidFill>
            <a:prstDash val="solid"/>
          </a:ln>
        </p:spPr>
        <p:txBody>
          <a:bodyPr/>
          <a:lstStyle/>
          <a:p>
            <a:pPr/>
            <a:endParaRPr lang="es-AR"/>
          </a:p>
        </p:txBody>
      </p:sp>
      <p:sp>
        <p:nvSpPr>
          <p:cNvPr id="8" name="Text 5"/>
          <p:cNvSpPr txBox="1"/>
          <p:nvPr/>
        </p:nvSpPr>
        <p:spPr>
          <a:xfrm>
            <a:off x="7213600" y="1397000"/>
            <a:ext cx="4267200" cy="1337733"/>
          </a:xfrm>
          <a:prstGeom prst="rect">
            <a:avLst/>
          </a:prstGeom>
          <a:noFill/>
          <a:ln/>
        </p:spPr>
        <p:txBody>
          <a:bodyPr wrap="square" lIns="0" tIns="0" rIns="0" bIns="0" rtlCol="0" anchor="ctr"/>
          <a:lstStyle/>
          <a:p>
            <a:pPr marL="0" indent="0" algn="ctr">
              <a:lnSpc>
                <a:spcPct val="105000"/>
              </a:lnSpc>
              <a:buNone/>
            </a:pPr>
            <a:r>
              <a:rPr lang="en-US" sz="3200" b="1" dirty="0">
                <a:solidFill>
                  <a:srgbClr val="2C5F2D"/>
                </a:solidFill>
                <a:latin typeface="Calibri" pitchFamily="34" charset="0"/>
                <a:ea typeface="Calibri" pitchFamily="34" charset="-122"/>
                <a:cs typeface="Calibri" pitchFamily="34" charset="-120"/>
              </a:rPr>
              <a:t>87%</a:t>
            </a:r>
            <a:endParaRPr lang="en-US" sz="3200" dirty="0"/>
          </a:p>
          <a:p>
            <a:pPr marL="0" indent="0" algn="ctr">
              <a:lnSpc>
                <a:spcPct val="105000"/>
              </a:lnSpc>
              <a:buNone/>
            </a:pPr>
            <a:r>
              <a:rPr lang="en-US" sz="1100" dirty="0">
                <a:solidFill>
                  <a:srgbClr val="5C6B52"/>
                </a:solidFill>
                <a:latin typeface="Calibri" pitchFamily="34" charset="0"/>
                <a:ea typeface="Calibri" pitchFamily="34" charset="-122"/>
                <a:cs typeface="Calibri" pitchFamily="34" charset="-120"/>
              </a:rPr>
              <a:t>de la cobranza turística, en 10 prestadores</a:t>
            </a:r>
            <a:endParaRPr lang="en-US" sz="1100" dirty="0"/>
          </a:p>
        </p:txBody>
      </p:sp>
      <p:sp>
        <p:nvSpPr>
          <p:cNvPr id="9" name="Shape 6"/>
          <p:cNvSpPr/>
          <p:nvPr/>
        </p:nvSpPr>
        <p:spPr>
          <a:xfrm>
            <a:off x="7112000" y="2887133"/>
            <a:ext cx="4470400" cy="1337733"/>
          </a:xfrm>
          <a:prstGeom prst="roundRect">
            <a:avLst>
              <a:gd name="adj" fmla="val 4101"/>
            </a:avLst>
          </a:prstGeom>
          <a:solidFill>
            <a:srgbClr val="2C5F2D"/>
          </a:solidFill>
          <a:ln w="9525">
            <a:solidFill>
              <a:srgbClr val="2C5F2D"/>
            </a:solidFill>
            <a:prstDash val="solid"/>
          </a:ln>
        </p:spPr>
        <p:txBody>
          <a:bodyPr/>
          <a:lstStyle/>
          <a:p>
            <a:pPr/>
            <a:endParaRPr lang="es-AR"/>
          </a:p>
        </p:txBody>
      </p:sp>
      <p:sp>
        <p:nvSpPr>
          <p:cNvPr id="10" name="Text 7"/>
          <p:cNvSpPr txBox="1"/>
          <p:nvPr/>
        </p:nvSpPr>
        <p:spPr>
          <a:xfrm>
            <a:off x="7213600" y="2887133"/>
            <a:ext cx="4267200" cy="1337733"/>
          </a:xfrm>
          <a:prstGeom prst="rect">
            <a:avLst/>
          </a:prstGeom>
          <a:noFill/>
          <a:ln/>
        </p:spPr>
        <p:txBody>
          <a:bodyPr wrap="square" lIns="0" tIns="0" rIns="0" bIns="0" rtlCol="0" anchor="ctr"/>
          <a:lstStyle/>
          <a:p>
            <a:pPr marL="0" indent="0" algn="ctr">
              <a:lnSpc>
                <a:spcPct val="105000"/>
              </a:lnSpc>
              <a:buNone/>
            </a:pPr>
            <a:r>
              <a:rPr lang="en-US" sz="3200" b="1" dirty="0">
                <a:solidFill>
                  <a:srgbClr val="FFFFFF"/>
                </a:solidFill>
                <a:latin typeface="Calibri" pitchFamily="34" charset="0"/>
                <a:ea typeface="Calibri" pitchFamily="34" charset="-122"/>
                <a:cs typeface="Calibri" pitchFamily="34" charset="-120"/>
              </a:rPr>
              <a:t>75%</a:t>
            </a:r>
            <a:endParaRPr lang="en-US" sz="3200" dirty="0"/>
          </a:p>
          <a:p>
            <a:pPr marL="0" indent="0" algn="ctr">
              <a:lnSpc>
                <a:spcPct val="105000"/>
              </a:lnSpc>
              <a:buNone/>
            </a:pPr>
            <a:r>
              <a:rPr lang="en-US" sz="1100" dirty="0">
                <a:solidFill>
                  <a:srgbClr val="D8E5CB"/>
                </a:solidFill>
                <a:latin typeface="Calibri" pitchFamily="34" charset="0"/>
                <a:ea typeface="Calibri" pitchFamily="34" charset="-122"/>
                <a:cs typeface="Calibri" pitchFamily="34" charset="-120"/>
              </a:rPr>
              <a:t>en los tres parques de mayores ingresos</a:t>
            </a:r>
            <a:endParaRPr lang="en-US" sz="1100" dirty="0"/>
          </a:p>
        </p:txBody>
      </p:sp>
      <p:sp>
        <p:nvSpPr>
          <p:cNvPr id="11" name="Shape 8"/>
          <p:cNvSpPr/>
          <p:nvPr/>
        </p:nvSpPr>
        <p:spPr>
          <a:xfrm>
            <a:off x="7112000" y="4377267"/>
            <a:ext cx="4470400" cy="1337733"/>
          </a:xfrm>
          <a:prstGeom prst="roundRect">
            <a:avLst>
              <a:gd name="adj" fmla="val 4101"/>
            </a:avLst>
          </a:prstGeom>
          <a:solidFill>
            <a:srgbClr val="F0F5E9"/>
          </a:solidFill>
          <a:ln w="9525">
            <a:solidFill>
              <a:srgbClr val="DCE6D0"/>
            </a:solidFill>
            <a:prstDash val="solid"/>
          </a:ln>
        </p:spPr>
        <p:txBody>
          <a:bodyPr/>
          <a:lstStyle/>
          <a:p>
            <a:pPr/>
            <a:endParaRPr lang="es-AR"/>
          </a:p>
        </p:txBody>
      </p:sp>
      <p:sp>
        <p:nvSpPr>
          <p:cNvPr id="6" name="Text 9"/>
          <p:cNvSpPr txBox="1"/>
          <p:nvPr/>
        </p:nvSpPr>
        <p:spPr>
          <a:xfrm>
            <a:off x="7213600" y="4377267"/>
            <a:ext cx="4267200" cy="1337733"/>
          </a:xfrm>
          <a:prstGeom prst="rect">
            <a:avLst/>
          </a:prstGeom>
          <a:noFill/>
          <a:ln/>
        </p:spPr>
        <p:txBody>
          <a:bodyPr wrap="square" lIns="0" tIns="0" rIns="0" bIns="0" rtlCol="0" anchor="ctr"/>
          <a:lstStyle/>
          <a:p>
            <a:pPr marL="0" indent="0" algn="ctr">
              <a:lnSpc>
                <a:spcPct val="105000"/>
              </a:lnSpc>
              <a:buNone/>
            </a:pPr>
            <a:r>
              <a:rPr lang="en-US" sz="3200" b="1" dirty="0">
                <a:solidFill>
                  <a:srgbClr val="2C5F2D"/>
                </a:solidFill>
                <a:latin typeface="Calibri" pitchFamily="34" charset="0"/>
                <a:ea typeface="Calibri" pitchFamily="34" charset="-122"/>
                <a:cs typeface="Calibri" pitchFamily="34" charset="-120"/>
              </a:rPr>
              <a:t>72%</a:t>
            </a:r>
            <a:endParaRPr lang="en-US" sz="3200" dirty="0"/>
          </a:p>
          <a:p>
            <a:pPr marL="0" indent="0" algn="ctr">
              <a:lnSpc>
                <a:spcPct val="105000"/>
              </a:lnSpc>
              <a:buNone/>
            </a:pPr>
            <a:r>
              <a:rPr lang="en-US" sz="1100" dirty="0">
                <a:solidFill>
                  <a:srgbClr val="5C6B52"/>
                </a:solidFill>
                <a:latin typeface="Calibri" pitchFamily="34" charset="0"/>
                <a:ea typeface="Calibri" pitchFamily="34" charset="-122"/>
                <a:cs typeface="Calibri" pitchFamily="34" charset="-120"/>
              </a:rPr>
              <a:t>del universo depurado son prestadores turísticos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RELACIÓN CON EL INFORME DE DEUDA</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La deuda frente a la cobranza anual</a:t>
            </a:r>
            <a:endParaRPr lang="en-US" sz="3200" dirty="0"/>
          </a:p>
        </p:txBody>
      </p:sp>
      <p:sp>
        <p:nvSpPr>
          <p:cNvPr id="4" name="Text 2"/>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el Informe de deudas al 30/09/2026 y datos de ReNaRI.</a:t>
            </a:r>
            <a:endParaRPr lang="en-US" sz="800" dirty="0"/>
          </a:p>
        </p:txBody>
      </p:sp>
      <p:sp>
        <p:nvSpPr>
          <p:cNvPr id="5" name="Text 3"/>
          <p:cNvSpPr txBox="1"/>
          <p:nvPr/>
        </p:nvSpPr>
        <p:spPr>
          <a:xfrm>
            <a:off x="609600" y="1728338"/>
            <a:ext cx="5969000" cy="3556000"/>
          </a:xfrm>
          <a:prstGeom prst="rect">
            <a:avLst/>
          </a:prstGeom>
          <a:noFill/>
          <a:ln/>
        </p:spPr>
        <p:txBody>
          <a:bodyPr wrap="square" lIns="0" tIns="0" rIns="0" bIns="0" rtlCol="0" anchor="t"/>
          <a:lstStyle/>
          <a:p>
            <a:pPr marL="0" indent="0" algn="l">
              <a:lnSpc>
                <a:spcPct val="128000"/>
              </a:lnSpc>
              <a:spcAft>
                <a:spcPts val="800"/>
              </a:spcAft>
              <a:buNone/>
            </a:pPr>
            <a:r>
              <a:rPr lang="en-US" sz="1400" dirty="0">
                <a:solidFill>
                  <a:srgbClr val="2B2B24"/>
                </a:solidFill>
                <a:latin typeface="Calibri" pitchFamily="34" charset="0"/>
                <a:ea typeface="Calibri" pitchFamily="34" charset="-122"/>
                <a:cs typeface="Calibri" pitchFamily="34" charset="-120"/>
              </a:rPr>
              <a:t>El “Informe de deudas — Relevamiento general” con datos al 30 de septiembre de 2026 releva 11.271 obligaciones documentadas, consolidadas en 3.931 razones sociales y 34 dependencias con acreencias.</a:t>
            </a:r>
            <a:r>
              <a:rPr lang="en-US" sz="1400" b="1" dirty="0">
                <a:solidFill>
                  <a:srgbClr val="2B2B24"/>
                </a:solidFill>
                <a:latin typeface="Calibri" pitchFamily="34" charset="0"/>
                <a:ea typeface="Calibri" pitchFamily="34" charset="-122"/>
                <a:cs typeface="Calibri" pitchFamily="34" charset="-120"/>
              </a:rPr>
              <a:t/>
            </a:r>
            <a:r>
              <a:rPr lang="en-US" sz="1400" dirty="0">
                <a:solidFill>
                  <a:srgbClr val="2B2B24"/>
                </a:solidFill>
                <a:latin typeface="Calibri" pitchFamily="34" charset="0"/>
                <a:ea typeface="Calibri" pitchFamily="34" charset="-122"/>
                <a:cs typeface="Calibri" pitchFamily="34" charset="-120"/>
              </a:rPr>
              <a:t/>
            </a:r>
            <a:endParaRPr lang="en-US" sz="1400" dirty="0"/>
          </a:p>
          <a:p>
            <a:pPr marL="0" indent="0" algn="l">
              <a:lnSpc>
                <a:spcPct val="128000"/>
              </a:lnSpc>
              <a:spcAft>
                <a:spcPts val="800"/>
              </a:spcAft>
              <a:buNone/>
            </a:pPr>
            <a:r>
              <a:rPr lang="en-US" sz="1400" dirty="0">
                <a:solidFill>
                  <a:srgbClr val="2B2B24"/>
                </a:solidFill>
                <a:latin typeface="Calibri" pitchFamily="34" charset="0"/>
                <a:ea typeface="Calibri" pitchFamily="34" charset="-122"/>
                <a:cs typeface="Calibri" pitchFamily="34" charset="-120"/>
              </a:rPr>
              <a:t>La deuda bruta asciende a $ 1.545,9 millones, de los cuales $ 474,89 millones (30,72%) son intereses; imputados $ 166,91 millones de saldos a favor, el saldo exigible baja a $ 1.379,0 millones.</a:t>
            </a:r>
            <a:r>
              <a:rPr lang="en-US" sz="1400" b="1" dirty="0">
                <a:solidFill>
                  <a:srgbClr val="2B2B24"/>
                </a:solidFill>
                <a:latin typeface="Calibri" pitchFamily="34" charset="0"/>
                <a:ea typeface="Calibri" pitchFamily="34" charset="-122"/>
                <a:cs typeface="Calibri" pitchFamily="34" charset="-120"/>
              </a:rPr>
              <a:t/>
            </a:r>
            <a:r>
              <a:rPr lang="en-US" sz="1400" dirty="0">
                <a:solidFill>
                  <a:srgbClr val="2B2B24"/>
                </a:solidFill>
                <a:latin typeface="Calibri" pitchFamily="34" charset="0"/>
                <a:ea typeface="Calibri" pitchFamily="34" charset="-122"/>
                <a:cs typeface="Calibri" pitchFamily="34" charset="-120"/>
              </a:rPr>
              <a:t/>
            </a:r>
            <a:r>
              <a:rPr lang="en-US" sz="1400" b="1" dirty="0">
                <a:solidFill>
                  <a:srgbClr val="2B2B24"/>
                </a:solidFill>
                <a:latin typeface="Calibri" pitchFamily="34" charset="0"/>
                <a:ea typeface="Calibri" pitchFamily="34" charset="-122"/>
                <a:cs typeface="Calibri" pitchFamily="34" charset="-120"/>
              </a:rPr>
              <a:t/>
            </a:r>
            <a:r>
              <a:rPr lang="en-US" sz="1400" dirty="0">
                <a:solidFill>
                  <a:srgbClr val="2B2B24"/>
                </a:solidFill>
                <a:latin typeface="Calibri" pitchFamily="34" charset="0"/>
                <a:ea typeface="Calibri" pitchFamily="34" charset="-122"/>
                <a:cs typeface="Calibri" pitchFamily="34" charset="-120"/>
              </a:rPr>
              <a:t/>
            </a:r>
            <a:endParaRPr lang="en-US" sz="1400" dirty="0"/>
          </a:p>
          <a:p>
            <a:pPr marL="0" indent="0" algn="l">
              <a:lnSpc>
                <a:spcPct val="128000"/>
              </a:lnSpc>
              <a:spcAft>
                <a:spcPts val="800"/>
              </a:spcAft>
              <a:buNone/>
            </a:pPr>
            <a:r>
              <a:rPr lang="en-US" sz="1400" dirty="0">
                <a:solidFill>
                  <a:srgbClr val="2B2B24"/>
                </a:solidFill>
                <a:latin typeface="Calibri" pitchFamily="34" charset="0"/>
                <a:ea typeface="Calibri" pitchFamily="34" charset="-122"/>
                <a:cs typeface="Calibri" pitchFamily="34" charset="-120"/>
              </a:rPr>
              <a:t>Frente al cierre de agosto la deuda neta exigible retrocede 10,5% —de $ 1.540,0 a $ 1.379,0 millones—, por la regularización de un caso singular: la salida de Iguazú Argentina S.A. del listado explica $ 170,8 de los $ 194,1 millones en que cae el capital adeudado. La incidencia de intereses, en cambio, sube de 29,55% a 33,25% de la deuda neta: al cancelarse cartera reciente gana peso relativo la más antigua.*</a:t>
            </a:r>
            <a:endParaRPr lang="en-US" sz="1400" dirty="0"/>
          </a:p>
        </p:txBody>
      </p:sp>
      <p:sp>
        <p:nvSpPr>
          <p:cNvPr id="6" name="Text 4"/>
          <p:cNvSpPr txBox="1"/>
          <p:nvPr/>
        </p:nvSpPr>
        <p:spPr>
          <a:xfrm>
            <a:off x="609600" y="5540236"/>
            <a:ext cx="5969000" cy="584200"/>
          </a:xfrm>
          <a:prstGeom prst="rect">
            <a:avLst/>
          </a:prstGeom>
          <a:noFill/>
          <a:ln/>
        </p:spPr>
        <p:txBody>
          <a:bodyPr wrap="square" lIns="0" tIns="0" rIns="0" bIns="0" rtlCol="0" anchor="ctr"/>
          <a:lstStyle/>
          <a:p>
            <a:pPr marL="0" indent="0">
              <a:lnSpc>
                <a:spcPct val="120000"/>
              </a:lnSpc>
              <a:buNone/>
            </a:pPr>
            <a:r>
              <a:rPr lang="en-US" sz="900" dirty="0">
                <a:solidFill>
                  <a:srgbClr val="6E6B5E"/>
                </a:solidFill>
                <a:latin typeface="Calibri" pitchFamily="34" charset="0"/>
                <a:ea typeface="Calibri" pitchFamily="34" charset="-122"/>
                <a:cs typeface="Calibri" pitchFamily="34" charset="-120"/>
              </a:rPr>
              <a:t>* El </a:t>
            </a:r>
            <a:r>
              <a:rPr lang="en-US" sz="900" dirty="0" err="1">
                <a:solidFill>
                  <a:srgbClr val="6E6B5E"/>
                </a:solidFill>
                <a:latin typeface="Calibri" pitchFamily="34" charset="0"/>
                <a:ea typeface="Calibri" pitchFamily="34" charset="-122"/>
                <a:cs typeface="Calibri" pitchFamily="34" charset="-120"/>
              </a:rPr>
              <a:t>relevamiento</a:t>
            </a:r>
            <a:r>
              <a:rPr lang="en-US" sz="900" dirty="0">
                <a:solidFill>
                  <a:srgbClr val="6E6B5E"/>
                </a:solidFill>
                <a:latin typeface="Calibri" pitchFamily="34" charset="0"/>
                <a:ea typeface="Calibri" pitchFamily="34" charset="-122"/>
                <a:cs typeface="Calibri" pitchFamily="34" charset="-120"/>
              </a:rPr>
              <a:t> de deudas advierte sobre inconsistencias en los reportes de ReNaRI que exigieron revisiones heurísticas, de modo que las cifras deben leerse con esa reserva.</a:t>
            </a:r>
            <a:endParaRPr lang="en-US" sz="900" dirty="0"/>
          </a:p>
        </p:txBody>
      </p:sp>
      <p:sp>
        <p:nvSpPr>
          <p:cNvPr id="7" name="Shape 5"/>
          <p:cNvSpPr/>
          <p:nvPr/>
        </p:nvSpPr>
        <p:spPr>
          <a:xfrm>
            <a:off x="7112000" y="1346200"/>
            <a:ext cx="4470400" cy="1354667"/>
          </a:xfrm>
          <a:prstGeom prst="roundRect">
            <a:avLst>
              <a:gd name="adj" fmla="val 4050"/>
            </a:avLst>
          </a:prstGeom>
          <a:solidFill>
            <a:srgbClr val="2C5F2D"/>
          </a:solidFill>
          <a:ln w="9525">
            <a:solidFill>
              <a:srgbClr val="2C5F2D"/>
            </a:solidFill>
            <a:prstDash val="solid"/>
          </a:ln>
        </p:spPr>
        <p:txBody>
          <a:bodyPr/>
          <a:lstStyle/>
          <a:p>
            <a:pPr/>
            <a:endParaRPr lang="es-AR"/>
          </a:p>
        </p:txBody>
      </p:sp>
      <p:sp>
        <p:nvSpPr>
          <p:cNvPr id="8" name="Text 6"/>
          <p:cNvSpPr txBox="1"/>
          <p:nvPr/>
        </p:nvSpPr>
        <p:spPr>
          <a:xfrm>
            <a:off x="7213600" y="1346200"/>
            <a:ext cx="4267200" cy="1354667"/>
          </a:xfrm>
          <a:prstGeom prst="rect">
            <a:avLst/>
          </a:prstGeom>
          <a:noFill/>
          <a:ln/>
        </p:spPr>
        <p:txBody>
          <a:bodyPr wrap="square" lIns="0" tIns="0" rIns="0" bIns="0" rtlCol="0" anchor="ctr"/>
          <a:lstStyle/>
          <a:p>
            <a:pPr marL="0" indent="0" algn="ctr">
              <a:lnSpc>
                <a:spcPct val="105000"/>
              </a:lnSpc>
              <a:buNone/>
            </a:pPr>
            <a:r>
              <a:rPr lang="en-US" sz="3200" b="1" dirty="0">
                <a:solidFill>
                  <a:srgbClr val="FFFFFF"/>
                </a:solidFill>
                <a:latin typeface="Calibri" pitchFamily="34" charset="0"/>
                <a:ea typeface="Calibri" pitchFamily="34" charset="-122"/>
                <a:cs typeface="Calibri" pitchFamily="34" charset="-120"/>
              </a:rPr>
              <a:t>4,7%</a:t>
            </a:r>
            <a:endParaRPr lang="en-US" sz="3200" dirty="0"/>
          </a:p>
          <a:p>
            <a:pPr marL="0" indent="0" algn="ctr">
              <a:lnSpc>
                <a:spcPct val="105000"/>
              </a:lnSpc>
              <a:buNone/>
            </a:pPr>
            <a:r>
              <a:rPr lang="en-US" sz="1100" dirty="0">
                <a:solidFill>
                  <a:srgbClr val="D8E5CB"/>
                </a:solidFill>
                <a:latin typeface="Calibri" pitchFamily="34" charset="0"/>
                <a:ea typeface="Calibri" pitchFamily="34" charset="-122"/>
                <a:cs typeface="Calibri" pitchFamily="34" charset="-120"/>
              </a:rPr>
              <a:t>representa la deuda bruta sobre la cobranza anual depurada</a:t>
            </a:r>
            <a:endParaRPr lang="en-US" sz="1100" dirty="0"/>
          </a:p>
        </p:txBody>
      </p:sp>
      <p:sp>
        <p:nvSpPr>
          <p:cNvPr id="9" name="Shape 7"/>
          <p:cNvSpPr/>
          <p:nvPr/>
        </p:nvSpPr>
        <p:spPr>
          <a:xfrm>
            <a:off x="7112000" y="2853267"/>
            <a:ext cx="4470400" cy="1354667"/>
          </a:xfrm>
          <a:prstGeom prst="roundRect">
            <a:avLst>
              <a:gd name="adj" fmla="val 4050"/>
            </a:avLst>
          </a:prstGeom>
          <a:solidFill>
            <a:srgbClr val="F0F5E9"/>
          </a:solidFill>
          <a:ln w="9525">
            <a:solidFill>
              <a:srgbClr val="DCE6D0"/>
            </a:solidFill>
            <a:prstDash val="solid"/>
          </a:ln>
        </p:spPr>
        <p:txBody>
          <a:bodyPr/>
          <a:lstStyle/>
          <a:p>
            <a:pPr/>
            <a:endParaRPr lang="es-AR"/>
          </a:p>
        </p:txBody>
      </p:sp>
      <p:sp>
        <p:nvSpPr>
          <p:cNvPr id="10" name="Text 8"/>
          <p:cNvSpPr txBox="1"/>
          <p:nvPr/>
        </p:nvSpPr>
        <p:spPr>
          <a:xfrm>
            <a:off x="7213600" y="2853267"/>
            <a:ext cx="4267200" cy="1354667"/>
          </a:xfrm>
          <a:prstGeom prst="rect">
            <a:avLst/>
          </a:prstGeom>
          <a:noFill/>
          <a:ln/>
        </p:spPr>
        <p:txBody>
          <a:bodyPr wrap="square" lIns="0" tIns="0" rIns="0" bIns="0" rtlCol="0" anchor="ctr"/>
          <a:lstStyle/>
          <a:p>
            <a:pPr marL="0" indent="0" algn="ctr">
              <a:lnSpc>
                <a:spcPct val="105000"/>
              </a:lnSpc>
              <a:buNone/>
            </a:pPr>
            <a:r>
              <a:rPr lang="en-US" sz="3200" b="1" dirty="0">
                <a:solidFill>
                  <a:srgbClr val="2C5F2D"/>
                </a:solidFill>
                <a:latin typeface="Calibri" pitchFamily="34" charset="0"/>
                <a:ea typeface="Calibri" pitchFamily="34" charset="-122"/>
                <a:cs typeface="Calibri" pitchFamily="34" charset="-120"/>
              </a:rPr>
              <a:t>$ 422,5 M</a:t>
            </a:r>
            <a:endParaRPr lang="en-US" sz="3200" dirty="0"/>
          </a:p>
          <a:p>
            <a:pPr marL="0" indent="0" algn="ctr">
              <a:lnSpc>
                <a:spcPct val="105000"/>
              </a:lnSpc>
              <a:buNone/>
            </a:pPr>
            <a:r>
              <a:rPr lang="en-US" sz="1100" dirty="0">
                <a:solidFill>
                  <a:srgbClr val="5C6B52"/>
                </a:solidFill>
                <a:latin typeface="Calibri" pitchFamily="34" charset="0"/>
                <a:ea typeface="Calibri" pitchFamily="34" charset="-122"/>
                <a:cs typeface="Calibri" pitchFamily="34" charset="-120"/>
              </a:rPr>
              <a:t>de deuda de prestadores turísticos activos</a:t>
            </a:r>
            <a:endParaRPr lang="en-US" sz="1100" dirty="0"/>
          </a:p>
        </p:txBody>
      </p:sp>
      <p:sp>
        <p:nvSpPr>
          <p:cNvPr id="11" name="Shape 9"/>
          <p:cNvSpPr/>
          <p:nvPr/>
        </p:nvSpPr>
        <p:spPr>
          <a:xfrm>
            <a:off x="7112000" y="4360333"/>
            <a:ext cx="4470400" cy="1354667"/>
          </a:xfrm>
          <a:prstGeom prst="roundRect">
            <a:avLst>
              <a:gd name="adj" fmla="val 4050"/>
            </a:avLst>
          </a:prstGeom>
          <a:solidFill>
            <a:srgbClr val="F0F5E9"/>
          </a:solidFill>
          <a:ln w="9525">
            <a:solidFill>
              <a:srgbClr val="DCE6D0"/>
            </a:solidFill>
            <a:prstDash val="solid"/>
          </a:ln>
        </p:spPr>
        <p:txBody>
          <a:bodyPr/>
          <a:lstStyle/>
          <a:p>
            <a:pPr/>
            <a:endParaRPr lang="es-AR"/>
          </a:p>
        </p:txBody>
      </p:sp>
      <p:sp>
        <p:nvSpPr>
          <p:cNvPr id="12" name="Text 10"/>
          <p:cNvSpPr txBox="1"/>
          <p:nvPr/>
        </p:nvSpPr>
        <p:spPr>
          <a:xfrm>
            <a:off x="7213600" y="4360333"/>
            <a:ext cx="4267200" cy="1354667"/>
          </a:xfrm>
          <a:prstGeom prst="rect">
            <a:avLst/>
          </a:prstGeom>
          <a:noFill/>
          <a:ln/>
        </p:spPr>
        <p:txBody>
          <a:bodyPr wrap="square" lIns="0" tIns="0" rIns="0" bIns="0" rtlCol="0" anchor="ctr"/>
          <a:lstStyle/>
          <a:p>
            <a:pPr marL="0" indent="0" algn="ctr">
              <a:lnSpc>
                <a:spcPct val="105000"/>
              </a:lnSpc>
              <a:buNone/>
            </a:pPr>
            <a:r>
              <a:rPr lang="en-US" sz="3200" b="1" dirty="0">
                <a:solidFill>
                  <a:srgbClr val="2C5F2D"/>
                </a:solidFill>
                <a:latin typeface="Calibri" pitchFamily="34" charset="0"/>
                <a:ea typeface="Calibri" pitchFamily="34" charset="-122"/>
                <a:cs typeface="Calibri" pitchFamily="34" charset="-120"/>
              </a:rPr>
              <a:t>1,8%</a:t>
            </a:r>
            <a:endParaRPr lang="en-US" sz="3200" dirty="0"/>
          </a:p>
          <a:p>
            <a:pPr marL="0" indent="0" algn="ctr">
              <a:lnSpc>
                <a:spcPct val="105000"/>
              </a:lnSpc>
              <a:buNone/>
            </a:pPr>
            <a:r>
              <a:rPr lang="en-US" sz="1100" dirty="0">
                <a:solidFill>
                  <a:srgbClr val="5C6B52"/>
                </a:solidFill>
                <a:latin typeface="Calibri" pitchFamily="34" charset="0"/>
                <a:ea typeface="Calibri" pitchFamily="34" charset="-122"/>
                <a:cs typeface="Calibri" pitchFamily="34" charset="-120"/>
              </a:rPr>
              <a:t>de los ingresos anuales de prestadores turísticos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TABLA IX</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Deuda de prestadores activos e ingresos por dependencia</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En pesos corrientes, sobre el ciclo octubre 2025 – septiembre 2026</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el Informe de deudas al 30/09/2026 (Tabla III) y datos de ReNaRI.</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4047759359"/>
              </p:ext>
            </p:extLst>
          </p:nvPr>
        </p:nvGraphicFramePr>
        <p:xfrm>
          <a:off x="609600" y="1397000"/>
          <a:ext cx="10972800" cy="3886200"/>
        </p:xfrm>
        <a:graphic>
          <a:graphicData uri="http://schemas.openxmlformats.org/drawingml/2006/table">
            <a:tbl>
              <a:tblPr/>
              <a:tblGrid>
                <a:gridCol w="23876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498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2133600">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tblGrid>
              <a:tr h="0">
                <a:tc>
                  <a:txBody>
                    <a:bodyPr/>
                    <a:lstStyle/>
                    <a:p>
                      <a:pPr marL="0" indent="0" algn="l">
                        <a:buNone/>
                      </a:pPr>
                      <a:r>
                        <a:rPr lang="en-US" sz="1200" b="1" kern="0" spc="40" dirty="0">
                          <a:solidFill>
                            <a:srgbClr val="FFFFFF"/>
                          </a:solidFill>
                          <a:latin typeface="Calibri" pitchFamily="34" charset="0"/>
                          <a:ea typeface="Calibri" pitchFamily="34" charset="-122"/>
                          <a:cs typeface="Calibri" pitchFamily="34" charset="-120"/>
                        </a:rPr>
                        <a:t>Dependencia</a:t>
                      </a:r>
                      <a:endParaRPr lang="en-US" sz="12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200" b="1" kern="0" spc="40" dirty="0">
                          <a:solidFill>
                            <a:srgbClr val="FFFFFF"/>
                          </a:solidFill>
                          <a:latin typeface="Calibri" pitchFamily="34" charset="0"/>
                          <a:ea typeface="Calibri" pitchFamily="34" charset="-122"/>
                          <a:cs typeface="Calibri" pitchFamily="34" charset="-120"/>
                        </a:rPr>
                        <a:t>Capital</a:t>
                      </a:r>
                      <a:endParaRPr lang="en-US" sz="12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200" b="1" kern="0" spc="40" dirty="0">
                          <a:solidFill>
                            <a:srgbClr val="FFFFFF"/>
                          </a:solidFill>
                          <a:latin typeface="Calibri" pitchFamily="34" charset="0"/>
                          <a:ea typeface="Calibri" pitchFamily="34" charset="-122"/>
                          <a:cs typeface="Calibri" pitchFamily="34" charset="-120"/>
                        </a:rPr>
                        <a:t>Interés</a:t>
                      </a:r>
                      <a:endParaRPr lang="en-US" sz="12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200" b="1" kern="0" spc="40" dirty="0">
                          <a:solidFill>
                            <a:srgbClr val="FFFFFF"/>
                          </a:solidFill>
                          <a:latin typeface="Calibri" pitchFamily="34" charset="0"/>
                          <a:ea typeface="Calibri" pitchFamily="34" charset="-122"/>
                          <a:cs typeface="Calibri" pitchFamily="34" charset="-120"/>
                        </a:rPr>
                        <a:t>Deuda total</a:t>
                      </a:r>
                      <a:endParaRPr lang="en-US" sz="12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200" b="1" kern="0" spc="40" dirty="0">
                          <a:solidFill>
                            <a:srgbClr val="FFFFFF"/>
                          </a:solidFill>
                          <a:latin typeface="Calibri" pitchFamily="34" charset="0"/>
                          <a:ea typeface="Calibri" pitchFamily="34" charset="-122"/>
                          <a:cs typeface="Calibri" pitchFamily="34" charset="-120"/>
                        </a:rPr>
                        <a:t>Ingresos 25/26</a:t>
                      </a:r>
                      <a:endParaRPr lang="en-US" sz="12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tc>
                  <a:txBody>
                    <a:bodyPr/>
                    <a:lstStyle/>
                    <a:p>
                      <a:pPr marL="0" indent="0" algn="r">
                        <a:buNone/>
                      </a:pPr>
                      <a:r>
                        <a:rPr lang="en-US" sz="1200" b="1" kern="0" spc="40" dirty="0">
                          <a:solidFill>
                            <a:srgbClr val="FFFFFF"/>
                          </a:solidFill>
                          <a:latin typeface="Calibri" pitchFamily="34" charset="0"/>
                          <a:ea typeface="Calibri" pitchFamily="34" charset="-122"/>
                          <a:cs typeface="Calibri" pitchFamily="34" charset="-120"/>
                        </a:rPr>
                        <a:t>Deuda/Ingr.</a:t>
                      </a:r>
                      <a:endParaRPr lang="en-US" sz="1200" dirty="0">
                        <a:latin typeface="Calibri" charset="0"/>
                        <a:ea typeface="Calibri" charset="0"/>
                        <a:cs typeface="Calibri" charset="0"/>
                      </a:endParaRPr>
                    </a:p>
                  </a:txBody>
                  <a:tcPr marL="76200" marR="76200" marT="38100" marB="38100" anchor="b">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Nahuel Huapi</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$ 184.049.070</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$ 47.811.327</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$ 231.860.396</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$ 4.187.192.718</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C5F2D"/>
                          </a:solidFill>
                          <a:latin typeface="Calibri" pitchFamily="34" charset="0"/>
                          <a:ea typeface="Calibri" pitchFamily="34" charset="-122"/>
                          <a:cs typeface="Calibri" pitchFamily="34" charset="-120"/>
                        </a:rPr>
                        <a:t>5,5%</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Los Glaciares</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$ 84.706.533</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$ 7.088.259</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$ 91.794.792</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$ 6.824.863.627</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b="1" dirty="0">
                          <a:solidFill>
                            <a:srgbClr val="2C5F2D"/>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Iguazú</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$ 28.898.561</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$ 5.205.025</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$ 34.103.586</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$ 9.213.002.159</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C5F2D"/>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Lanín</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$ 27.263.194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$ 3.117.011</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$ 30.380.205</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$ 752.337.021</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b="1" dirty="0">
                          <a:solidFill>
                            <a:srgbClr val="2C5F2D"/>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4"/>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Los Alerces</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$ 7.260.031</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$ 1.331.173</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$ 8.591.204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$ 116.253.096</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C5F2D"/>
                          </a:solidFill>
                          <a:latin typeface="Calibri" pitchFamily="34" charset="0"/>
                          <a:ea typeface="Calibri" pitchFamily="34" charset="-122"/>
                          <a:cs typeface="Calibri" pitchFamily="34" charset="-120"/>
                        </a:rPr>
                        <a:t>7,4%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Tierra del Fuego</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$ 5.156.318</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$ 2.514.250</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$ 7.670.568</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$ 1.692.957.246</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b="1" dirty="0">
                          <a:solidFill>
                            <a:srgbClr val="2C5F2D"/>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6"/>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El Palmar</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$ 4.901.754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$ 832.440</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$ 5.734.194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$ 37.213.862</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B0763A"/>
                          </a:solidFill>
                          <a:latin typeface="Calibri" pitchFamily="34" charset="0"/>
                          <a:ea typeface="Calibri" pitchFamily="34" charset="-122"/>
                          <a:cs typeface="Calibri" pitchFamily="34" charset="-120"/>
                        </a:rPr>
                        <a:t>15,4%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Los Cardones</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$ 4.120.582</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$ 1.092.884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$ 5.213.466</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$ 9.011.975</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b="1" dirty="0">
                          <a:solidFill>
                            <a:srgbClr val="A6472B"/>
                          </a:solidFill>
                          <a:latin typeface="Calibri" pitchFamily="34" charset="0"/>
                          <a:ea typeface="Calibri" pitchFamily="34" charset="-122"/>
                          <a:cs typeface="Calibri" pitchFamily="34" charset="-120"/>
                        </a:rPr>
                        <a:t>57,9%</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08"/>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Lago Puelo</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$ 2.677.391</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$ 388.543</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$ 3.065.934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$ 39.154.804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C5F2D"/>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Talampaya</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$ 1.445.250</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$ 130.473</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$ 1.575.723</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$ 307.855.921</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b="1" dirty="0">
                          <a:solidFill>
                            <a:srgbClr val="2C5F2D"/>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10"/>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El Leoncito</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$ 1.068.420</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$ 52.459</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$ 1.120.879</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$ 469.323</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A6472B"/>
                          </a:solidFill>
                          <a:latin typeface="Calibri" pitchFamily="34" charset="0"/>
                          <a:ea typeface="Calibri" pitchFamily="34" charset="-122"/>
                          <a:cs typeface="Calibri" pitchFamily="34" charset="-120"/>
                        </a:rPr>
                        <a:t>238,8%</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Condorito</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$ 645.163</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$ 216.067</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$ 861.230</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$ 2.556.869</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tc>
                  <a:txBody>
                    <a:bodyPr/>
                    <a:lstStyle/>
                    <a:p>
                      <a:pPr marL="0" indent="0" algn="r">
                        <a:buNone/>
                      </a:pPr>
                      <a:r>
                        <a:rPr lang="en-US" sz="1200" b="1" dirty="0">
                          <a:solidFill>
                            <a:srgbClr val="B0763A"/>
                          </a:solidFill>
                          <a:latin typeface="Calibri" pitchFamily="34" charset="0"/>
                          <a:ea typeface="Calibri" pitchFamily="34" charset="-122"/>
                          <a:cs typeface="Calibri" pitchFamily="34" charset="-120"/>
                        </a:rPr>
                        <a:t>33,7%</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5F9EF"/>
                    </a:solidFill>
                  </a:tcPr>
                </a:tc>
                <a:extLst>
                  <a:ext uri="{0D108BD9-81ED-4DB2-BD59-A6C34878D82A}">
                    <a16:rowId xmlns:a16="http://schemas.microsoft.com/office/drawing/2014/main" val="10012"/>
                  </a:ext>
                </a:extLst>
              </a:tr>
              <a:tr h="0">
                <a:tc>
                  <a:txBody>
                    <a:bodyPr/>
                    <a:lstStyle/>
                    <a:p>
                      <a:pPr marL="0" indent="0" algn="l">
                        <a:buNone/>
                      </a:pPr>
                      <a:r>
                        <a:rPr lang="en-US" sz="1200" dirty="0">
                          <a:solidFill>
                            <a:srgbClr val="2B2B24"/>
                          </a:solidFill>
                          <a:latin typeface="Calibri" pitchFamily="34" charset="0"/>
                          <a:ea typeface="Calibri" pitchFamily="34" charset="-122"/>
                          <a:cs typeface="Calibri" pitchFamily="34" charset="-120"/>
                        </a:rPr>
                        <a:t>Otras dependencias (8)</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$ 451.264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$ 122.644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$ 573.908</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B2B24"/>
                          </a:solidFill>
                          <a:latin typeface="Calibri" pitchFamily="34" charset="0"/>
                          <a:ea typeface="Calibri" pitchFamily="34" charset="-122"/>
                          <a:cs typeface="Calibri" pitchFamily="34" charset="-120"/>
                        </a:rPr>
                        <a:t>$ 13.038.846</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C5F2D"/>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0">
                <a:tc>
                  <a:txBody>
                    <a:bodyPr/>
                    <a:lstStyle/>
                    <a:p>
                      <a:pPr marL="0" indent="0" algn="l">
                        <a:buNone/>
                      </a:pPr>
                      <a:r>
                        <a:rPr lang="en-US" sz="1200" b="1" dirty="0">
                          <a:solidFill>
                            <a:srgbClr val="2B2B24"/>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200" b="1" dirty="0">
                          <a:solidFill>
                            <a:srgbClr val="2B2B24"/>
                          </a:solidFill>
                          <a:latin typeface="Calibri" pitchFamily="34" charset="0"/>
                          <a:ea typeface="Calibri" pitchFamily="34" charset="-122"/>
                          <a:cs typeface="Calibri" pitchFamily="34" charset="-120"/>
                        </a:rPr>
                        <a:t>$ 352.643.531</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200" b="1" dirty="0">
                          <a:solidFill>
                            <a:srgbClr val="2B2B24"/>
                          </a:solidFill>
                          <a:latin typeface="Calibri" pitchFamily="34" charset="0"/>
                          <a:ea typeface="Calibri" pitchFamily="34" charset="-122"/>
                          <a:cs typeface="Calibri" pitchFamily="34" charset="-120"/>
                        </a:rPr>
                        <a:t>$ 69.902.554</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200" b="1" dirty="0">
                          <a:solidFill>
                            <a:srgbClr val="2B2B24"/>
                          </a:solidFill>
                          <a:latin typeface="Calibri" pitchFamily="34" charset="0"/>
                          <a:ea typeface="Calibri" pitchFamily="34" charset="-122"/>
                          <a:cs typeface="Calibri" pitchFamily="34" charset="-120"/>
                        </a:rPr>
                        <a:t>$ 422.546.085</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200" b="1" dirty="0">
                          <a:solidFill>
                            <a:srgbClr val="2B2B24"/>
                          </a:solidFill>
                          <a:latin typeface="Calibri" pitchFamily="34" charset="0"/>
                          <a:ea typeface="Calibri" pitchFamily="34" charset="-122"/>
                          <a:cs typeface="Calibri" pitchFamily="34" charset="-120"/>
                        </a:rPr>
                        <a:t>$ 23.195.907.466</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tc>
                  <a:txBody>
                    <a:bodyPr/>
                    <a:lstStyle/>
                    <a:p>
                      <a:pPr marL="0" indent="0" algn="r">
                        <a:buNone/>
                      </a:pPr>
                      <a:r>
                        <a:rPr lang="en-US" sz="1200" b="1" dirty="0">
                          <a:solidFill>
                            <a:srgbClr val="2C5F2D"/>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76200" marR="76200" marT="38100" marB="38100" anchor="ctr">
                    <a:lnL w="6350" cap="flat" cmpd="sng" algn="ctr">
                      <a:solidFill>
                        <a:srgbClr val="E4EADB"/>
                      </a:solidFill>
                      <a:prstDash val="solid"/>
                      <a:round/>
                      <a:headEnd type="none" w="med" len="med"/>
                      <a:tailEnd type="none" w="med" len="med"/>
                    </a:lnL>
                    <a:lnR w="6350" cap="flat" cmpd="sng" algn="ctr">
                      <a:solidFill>
                        <a:srgbClr val="E4EADB"/>
                      </a:solidFill>
                      <a:prstDash val="solid"/>
                      <a:round/>
                      <a:headEnd type="none" w="med" len="med"/>
                      <a:tailEnd type="none" w="med" len="med"/>
                    </a:lnR>
                    <a:lnT w="6350" cap="flat" cmpd="sng" algn="ctr">
                      <a:solidFill>
                        <a:srgbClr val="E4EADB"/>
                      </a:solidFill>
                      <a:prstDash val="solid"/>
                      <a:round/>
                      <a:headEnd type="none" w="med" len="med"/>
                      <a:tailEnd type="none" w="med" len="med"/>
                    </a:lnT>
                    <a:lnB w="6350" cap="flat" cmpd="sng" algn="ctr">
                      <a:solidFill>
                        <a:srgbClr val="E4EADB"/>
                      </a:solidFill>
                      <a:prstDash val="solid"/>
                      <a:round/>
                      <a:headEnd type="none" w="med" len="med"/>
                      <a:tailEnd type="none" w="med" len="med"/>
                    </a:lnB>
                    <a:solidFill>
                      <a:srgbClr val="E4EDD9"/>
                    </a:solidFill>
                  </a:tcPr>
                </a:tc>
                <a:extLst>
                  <a:ext uri="{0D108BD9-81ED-4DB2-BD59-A6C34878D82A}">
                    <a16:rowId xmlns:a16="http://schemas.microsoft.com/office/drawing/2014/main" val="10014"/>
                  </a:ext>
                </a:extLst>
              </a:tr>
            </a:tbl>
          </a:graphicData>
        </a:graphic>
      </p:graphicFrame>
      <p:sp>
        <p:nvSpPr>
          <p:cNvPr id="7" name="Shape 4"/>
          <p:cNvSpPr/>
          <p:nvPr/>
        </p:nvSpPr>
        <p:spPr>
          <a:xfrm>
            <a:off x="609600" y="5399966"/>
            <a:ext cx="10972800" cy="939800"/>
          </a:xfrm>
          <a:prstGeom prst="roundRect">
            <a:avLst>
              <a:gd name="adj" fmla="val 4865"/>
            </a:avLst>
          </a:prstGeom>
          <a:solidFill>
            <a:srgbClr val="F6F9F1"/>
          </a:solidFill>
          <a:ln w="9525">
            <a:solidFill>
              <a:srgbClr val="E1EBD6"/>
            </a:solidFill>
            <a:prstDash val="solid"/>
          </a:ln>
        </p:spPr>
        <p:txBody>
          <a:bodyPr/>
          <a:lstStyle/>
          <a:p>
            <a:pPr/>
            <a:endParaRPr lang="es-AR"/>
          </a:p>
        </p:txBody>
      </p:sp>
      <p:sp>
        <p:nvSpPr>
          <p:cNvPr id="8" name="Text 5"/>
          <p:cNvSpPr txBox="1"/>
          <p:nvPr/>
        </p:nvSpPr>
        <p:spPr>
          <a:xfrm>
            <a:off x="762000" y="5489813"/>
            <a:ext cx="10668000" cy="787400"/>
          </a:xfrm>
          <a:prstGeom prst="rect">
            <a:avLst/>
          </a:prstGeom>
          <a:noFill/>
          <a:ln/>
        </p:spPr>
        <p:txBody>
          <a:bodyPr wrap="square" lIns="0" tIns="0" rIns="0" bIns="0" rtlCol="0" anchor="ctr"/>
          <a:lstStyle/>
          <a:p>
            <a:pPr marL="0" indent="0" algn="l">
              <a:lnSpc>
                <a:spcPct val="120000"/>
              </a:lnSpc>
              <a:buNone/>
            </a:pPr>
            <a:r>
              <a:rPr lang="en-US" sz="1100" dirty="0">
                <a:solidFill>
                  <a:srgbClr val="2B2B24"/>
                </a:solidFill>
                <a:latin typeface="Calibri" pitchFamily="34" charset="0"/>
                <a:ea typeface="Calibri" pitchFamily="34" charset="-122"/>
                <a:cs typeface="Calibri" pitchFamily="34" charset="-120"/>
              </a:rPr>
              <a:t>Entre las dependencias más intensivas en generación de ingresos la proporción es baja —Iguazú 0,4%, Tierra del Fuego 0,5%, Los Glaciares 1,3%—, y la relación se invierte en dependencias con prestadores de menor peso: El Palmar llega a 15,4%, Los Cardones a 57,9% y El Leoncito a 238,8%, con una deuda que más que duplica su cobranza anual. Nahuel Huapi, con 5,5% de ratio, concentra 54,9% de la deuda de prestadores activos del sistema.</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9" name="Shape 7">
            <a:extLst>
              <a:ext uri="{FF2B5EF4-FFF2-40B4-BE49-F238E27FC236}">
                <a16:creationId xmlns:a16="http://schemas.microsoft.com/office/drawing/2014/main" id="{F8CC0C63-B4CA-C735-4C2D-AF4FC78C3334}"/>
              </a:ext>
            </a:extLst>
          </p:cNvPr>
          <p:cNvSpPr/>
          <p:nvPr/>
        </p:nvSpPr>
        <p:spPr>
          <a:xfrm>
            <a:off x="6218832" y="4237535"/>
            <a:ext cx="5519004" cy="1119559"/>
          </a:xfrm>
          <a:prstGeom prst="roundRect">
            <a:avLst>
              <a:gd name="adj" fmla="val 4050"/>
            </a:avLst>
          </a:prstGeom>
          <a:solidFill>
            <a:srgbClr val="F0F5E9"/>
          </a:solidFill>
          <a:ln w="9525">
            <a:solidFill>
              <a:srgbClr val="DCE6D0"/>
            </a:solidFill>
            <a:prstDash val="solid"/>
          </a:ln>
        </p:spPr>
        <p:txBody>
          <a:bodyPr/>
          <a:lstStyle/>
          <a:p>
            <a:pPr/>
            <a:endParaRPr lang="es-AR"/>
          </a:p>
        </p:txBody>
      </p:sp>
      <p:sp>
        <p:nvSpPr>
          <p:cNvPr id="27" name="Shape 7">
            <a:extLst>
              <a:ext uri="{FF2B5EF4-FFF2-40B4-BE49-F238E27FC236}">
                <a16:creationId xmlns:a16="http://schemas.microsoft.com/office/drawing/2014/main" id="{AB083EE7-5689-2C12-7FB1-0EDB35E29D5D}"/>
              </a:ext>
            </a:extLst>
          </p:cNvPr>
          <p:cNvSpPr/>
          <p:nvPr/>
        </p:nvSpPr>
        <p:spPr>
          <a:xfrm>
            <a:off x="6218832" y="2904412"/>
            <a:ext cx="5519004" cy="1119559"/>
          </a:xfrm>
          <a:prstGeom prst="roundRect">
            <a:avLst>
              <a:gd name="adj" fmla="val 4050"/>
            </a:avLst>
          </a:prstGeom>
          <a:solidFill>
            <a:srgbClr val="F0F5E9"/>
          </a:solidFill>
          <a:ln w="9525">
            <a:solidFill>
              <a:srgbClr val="DCE6D0"/>
            </a:solidFill>
            <a:prstDash val="solid"/>
          </a:ln>
        </p:spPr>
        <p:txBody>
          <a:bodyPr/>
          <a:lstStyle/>
          <a:p>
            <a:pPr/>
            <a:endParaRPr lang="es-AR"/>
          </a:p>
        </p:txBody>
      </p:sp>
      <p:sp>
        <p:nvSpPr>
          <p:cNvPr id="25" name="Shape 7">
            <a:extLst>
              <a:ext uri="{FF2B5EF4-FFF2-40B4-BE49-F238E27FC236}">
                <a16:creationId xmlns:a16="http://schemas.microsoft.com/office/drawing/2014/main" id="{1BD7A922-6BE1-3016-9092-EFD97CCC726B}"/>
              </a:ext>
            </a:extLst>
          </p:cNvPr>
          <p:cNvSpPr/>
          <p:nvPr/>
        </p:nvSpPr>
        <p:spPr>
          <a:xfrm>
            <a:off x="6218832" y="1565354"/>
            <a:ext cx="5519004" cy="1119559"/>
          </a:xfrm>
          <a:prstGeom prst="roundRect">
            <a:avLst>
              <a:gd name="adj" fmla="val 4050"/>
            </a:avLst>
          </a:prstGeom>
          <a:solidFill>
            <a:srgbClr val="F0F5E9"/>
          </a:solidFill>
          <a:ln w="9525">
            <a:solidFill>
              <a:srgbClr val="DCE6D0"/>
            </a:solidFill>
            <a:prstDash val="solid"/>
          </a:ln>
        </p:spPr>
        <p:txBody>
          <a:bodyPr/>
          <a:lstStyle/>
          <a:p>
            <a:pPr/>
            <a:endParaRPr lang="es-AR"/>
          </a:p>
        </p:txBody>
      </p:sp>
      <p:sp>
        <p:nvSpPr>
          <p:cNvPr id="23" name="Shape 7">
            <a:extLst>
              <a:ext uri="{FF2B5EF4-FFF2-40B4-BE49-F238E27FC236}">
                <a16:creationId xmlns:a16="http://schemas.microsoft.com/office/drawing/2014/main" id="{544C8316-CA3C-0276-B3F9-897164676AFC}"/>
              </a:ext>
            </a:extLst>
          </p:cNvPr>
          <p:cNvSpPr/>
          <p:nvPr/>
        </p:nvSpPr>
        <p:spPr>
          <a:xfrm>
            <a:off x="547428" y="4242619"/>
            <a:ext cx="5519004" cy="1119559"/>
          </a:xfrm>
          <a:prstGeom prst="roundRect">
            <a:avLst>
              <a:gd name="adj" fmla="val 4050"/>
            </a:avLst>
          </a:prstGeom>
          <a:solidFill>
            <a:srgbClr val="F0F5E9"/>
          </a:solidFill>
          <a:ln w="9525">
            <a:solidFill>
              <a:srgbClr val="DCE6D0"/>
            </a:solidFill>
            <a:prstDash val="solid"/>
          </a:ln>
        </p:spPr>
        <p:txBody>
          <a:bodyPr/>
          <a:lstStyle/>
          <a:p>
            <a:pPr/>
            <a:endParaRPr lang="es-AR"/>
          </a:p>
        </p:txBody>
      </p:sp>
      <p:sp>
        <p:nvSpPr>
          <p:cNvPr id="21" name="Shape 7">
            <a:extLst>
              <a:ext uri="{FF2B5EF4-FFF2-40B4-BE49-F238E27FC236}">
                <a16:creationId xmlns:a16="http://schemas.microsoft.com/office/drawing/2014/main" id="{56DDE26A-ACD6-83A9-218D-3F43D825DDCD}"/>
              </a:ext>
            </a:extLst>
          </p:cNvPr>
          <p:cNvSpPr/>
          <p:nvPr/>
        </p:nvSpPr>
        <p:spPr>
          <a:xfrm>
            <a:off x="547428" y="2908316"/>
            <a:ext cx="5519004" cy="1119559"/>
          </a:xfrm>
          <a:prstGeom prst="roundRect">
            <a:avLst>
              <a:gd name="adj" fmla="val 4050"/>
            </a:avLst>
          </a:prstGeom>
          <a:solidFill>
            <a:srgbClr val="F0F5E9"/>
          </a:solidFill>
          <a:ln w="9525">
            <a:solidFill>
              <a:srgbClr val="DCE6D0"/>
            </a:solidFill>
            <a:prstDash val="solid"/>
          </a:ln>
        </p:spPr>
        <p:txBody>
          <a:bodyPr/>
          <a:lstStyle/>
          <a:p>
            <a:pPr/>
            <a:endParaRPr lang="es-AR"/>
          </a:p>
        </p:txBody>
      </p:sp>
      <p:sp>
        <p:nvSpPr>
          <p:cNvPr id="19" name="Shape 7">
            <a:extLst>
              <a:ext uri="{FF2B5EF4-FFF2-40B4-BE49-F238E27FC236}">
                <a16:creationId xmlns:a16="http://schemas.microsoft.com/office/drawing/2014/main" id="{9604CF3B-A799-B753-7EDD-E864CD976C7E}"/>
              </a:ext>
            </a:extLst>
          </p:cNvPr>
          <p:cNvSpPr/>
          <p:nvPr/>
        </p:nvSpPr>
        <p:spPr>
          <a:xfrm>
            <a:off x="547428" y="1565354"/>
            <a:ext cx="5519004" cy="1119559"/>
          </a:xfrm>
          <a:prstGeom prst="roundRect">
            <a:avLst>
              <a:gd name="adj" fmla="val 4050"/>
            </a:avLst>
          </a:prstGeom>
          <a:solidFill>
            <a:srgbClr val="F0F5E9"/>
          </a:solidFill>
          <a:ln w="9525">
            <a:solidFill>
              <a:srgbClr val="DCE6D0"/>
            </a:solidFill>
            <a:prstDash val="solid"/>
          </a:ln>
        </p:spPr>
        <p:txBody>
          <a:bodyPr/>
          <a:lstStyle/>
          <a:p>
            <a:pPr/>
            <a:endParaRPr lang="es-AR"/>
          </a:p>
        </p:txBody>
      </p:sp>
      <p:sp>
        <p:nvSpPr>
          <p:cNvPr id="2" name="Text 0"/>
          <p:cNvSpPr txBox="1"/>
          <p:nvPr/>
        </p:nvSpPr>
        <p:spPr>
          <a:xfrm>
            <a:off x="609600" y="381000"/>
            <a:ext cx="10972800" cy="177800"/>
          </a:xfrm>
          <a:prstGeom prst="rect">
            <a:avLst/>
          </a:prstGeom>
          <a:noFill/>
          <a:ln/>
        </p:spPr>
        <p:txBody>
          <a:bodyPr wrap="square" lIns="0" tIns="0" rIns="0" bIns="0" rtlCol="0" anchor="ctr"/>
          <a:lstStyle/>
          <a:p>
            <a:pPr marL="0" indent="0">
              <a:buNone/>
            </a:pPr>
            <a:r>
              <a:rPr lang="en-US" sz="1200" b="1" kern="0" spc="220" dirty="0">
                <a:solidFill>
                  <a:srgbClr val="4E7C3A"/>
                </a:solidFill>
                <a:latin typeface="Calibri" pitchFamily="34" charset="0"/>
                <a:ea typeface="Calibri" pitchFamily="34" charset="-122"/>
                <a:cs typeface="Calibri" pitchFamily="34" charset="-120"/>
              </a:rPr>
              <a:t>SÍNTESIS</a:t>
            </a:r>
            <a:endParaRPr lang="en-US" sz="1200" dirty="0"/>
          </a:p>
        </p:txBody>
      </p:sp>
      <p:sp>
        <p:nvSpPr>
          <p:cNvPr id="3" name="Text 1"/>
          <p:cNvSpPr txBox="1"/>
          <p:nvPr/>
        </p:nvSpPr>
        <p:spPr>
          <a:xfrm>
            <a:off x="609600" y="584200"/>
            <a:ext cx="10972800" cy="431800"/>
          </a:xfrm>
          <a:prstGeom prst="rect">
            <a:avLst/>
          </a:prstGeom>
          <a:noFill/>
          <a:ln/>
        </p:spPr>
        <p:txBody>
          <a:bodyPr wrap="square" lIns="0" tIns="0" rIns="0" bIns="0" rtlCol="0" anchor="ctr"/>
          <a:lstStyle/>
          <a:p>
            <a:pPr marL="0" indent="0">
              <a:buNone/>
            </a:pPr>
            <a:r>
              <a:rPr lang="en-US" sz="3200" b="1" dirty="0" err="1">
                <a:solidFill>
                  <a:srgbClr val="2C5F2D"/>
                </a:solidFill>
                <a:latin typeface="Calibri" pitchFamily="34" charset="0"/>
                <a:ea typeface="Calibri" pitchFamily="34" charset="-122"/>
                <a:cs typeface="Calibri" pitchFamily="34" charset="-120"/>
              </a:rPr>
              <a:t>Conclusiones</a:t>
            </a:r>
            <a:r>
              <a:rPr lang="en-US" sz="3200" b="1" dirty="0">
                <a:solidFill>
                  <a:srgbClr val="2C5F2D"/>
                </a:solidFill>
                <a:latin typeface="Calibri" pitchFamily="34" charset="0"/>
                <a:ea typeface="Calibri" pitchFamily="34" charset="-122"/>
                <a:cs typeface="Calibri" pitchFamily="34" charset="-120"/>
              </a:rPr>
              <a:t> del período</a:t>
            </a:r>
            <a:endParaRPr lang="en-US" sz="3200" dirty="0"/>
          </a:p>
        </p:txBody>
      </p:sp>
      <p:sp>
        <p:nvSpPr>
          <p:cNvPr id="4" name="Text 2"/>
          <p:cNvSpPr txBox="1"/>
          <p:nvPr/>
        </p:nvSpPr>
        <p:spPr>
          <a:xfrm>
            <a:off x="609600" y="1016000"/>
            <a:ext cx="10972800" cy="203200"/>
          </a:xfrm>
          <a:prstGeom prst="rect">
            <a:avLst/>
          </a:prstGeom>
          <a:noFill/>
          <a:ln/>
        </p:spPr>
        <p:txBody>
          <a:bodyPr wrap="square" lIns="0" tIns="0" rIns="0" bIns="0" rtlCol="0" anchor="ctr"/>
          <a:lstStyle/>
          <a:p>
            <a:pPr marL="0" indent="0">
              <a:buNone/>
            </a:pPr>
            <a:r>
              <a:rPr lang="en-US" sz="1100" i="1" dirty="0">
                <a:solidFill>
                  <a:srgbClr val="6E6B5E"/>
                </a:solidFill>
                <a:latin typeface="Calibri" pitchFamily="34" charset="0"/>
                <a:ea typeface="Calibri" pitchFamily="34" charset="-122"/>
                <a:cs typeface="Calibri" pitchFamily="34" charset="-120"/>
              </a:rPr>
              <a:t>Agosto 2023 – Septiembre 2026</a:t>
            </a:r>
            <a:endParaRPr lang="en-US" sz="1100" dirty="0"/>
          </a:p>
        </p:txBody>
      </p:sp>
      <p:sp>
        <p:nvSpPr>
          <p:cNvPr id="5" name="Text 3"/>
          <p:cNvSpPr txBox="1"/>
          <p:nvPr/>
        </p:nvSpPr>
        <p:spPr>
          <a:xfrm>
            <a:off x="609600" y="6350000"/>
            <a:ext cx="10972800" cy="177800"/>
          </a:xfrm>
          <a:prstGeom prst="rect">
            <a:avLst/>
          </a:prstGeom>
          <a:noFill/>
          <a:ln/>
        </p:spPr>
        <p:txBody>
          <a:bodyPr wrap="square" lIns="0" tIns="0" rIns="0" bIns="0" rtlCol="0" anchor="ctr"/>
          <a:lstStyle/>
          <a:p>
            <a:pPr marL="0" indent="0">
              <a:buNone/>
            </a:pPr>
            <a:r>
              <a:rPr lang="en-US" sz="800" i="1" dirty="0">
                <a:solidFill>
                  <a:srgbClr val="8A8A7C"/>
                </a:solidFill>
                <a:latin typeface="Calibri" pitchFamily="34" charset="0"/>
                <a:ea typeface="Calibri" pitchFamily="34" charset="-122"/>
                <a:cs typeface="Calibri" pitchFamily="34" charset="-120"/>
              </a:rPr>
              <a:t>Fuente: elaboración propia sobre datos disponibles en ReNaRI.</a:t>
            </a:r>
            <a:endParaRPr lang="en-US" sz="800" dirty="0"/>
          </a:p>
        </p:txBody>
      </p:sp>
      <p:sp>
        <p:nvSpPr>
          <p:cNvPr id="6" name="Text 4"/>
          <p:cNvSpPr txBox="1"/>
          <p:nvPr/>
        </p:nvSpPr>
        <p:spPr>
          <a:xfrm>
            <a:off x="609600" y="1716967"/>
            <a:ext cx="431800" cy="304800"/>
          </a:xfrm>
          <a:prstGeom prst="rect">
            <a:avLst/>
          </a:prstGeom>
          <a:noFill/>
          <a:ln/>
        </p:spPr>
        <p:txBody>
          <a:bodyPr wrap="square" lIns="0" tIns="0" rIns="0" bIns="0" rtlCol="0" anchor="ctr"/>
          <a:lstStyle/>
          <a:p>
            <a:pPr marL="0" indent="0" algn="l">
              <a:buNone/>
            </a:pPr>
            <a:r>
              <a:rPr lang="en-US" sz="2400" b="1" dirty="0">
                <a:solidFill>
                  <a:srgbClr val="6A9A4A"/>
                </a:solidFill>
                <a:latin typeface="Calibri" pitchFamily="34" charset="0"/>
                <a:ea typeface="Calibri" pitchFamily="34" charset="-122"/>
                <a:cs typeface="Calibri" pitchFamily="34" charset="-120"/>
              </a:rPr>
              <a:t>01</a:t>
            </a:r>
            <a:endParaRPr lang="en-US" sz="2400" b="1" dirty="0"/>
          </a:p>
        </p:txBody>
      </p:sp>
      <p:sp>
        <p:nvSpPr>
          <p:cNvPr id="7" name="Text 5"/>
          <p:cNvSpPr txBox="1"/>
          <p:nvPr/>
        </p:nvSpPr>
        <p:spPr>
          <a:xfrm>
            <a:off x="1066800" y="1691567"/>
            <a:ext cx="4876800" cy="1168400"/>
          </a:xfrm>
          <a:prstGeom prst="rect">
            <a:avLst/>
          </a:prstGeom>
          <a:noFill/>
          <a:ln/>
        </p:spPr>
        <p:txBody>
          <a:bodyPr wrap="square" lIns="0" tIns="0" rIns="0" bIns="0" rtlCol="0" anchor="t"/>
          <a:lstStyle/>
          <a:p>
            <a:pPr marL="0" indent="0" algn="l">
              <a:lnSpc>
                <a:spcPct val="125000"/>
              </a:lnSpc>
              <a:buNone/>
            </a:pPr>
            <a:r>
              <a:rPr lang="en-US" sz="1400" b="1" dirty="0">
                <a:solidFill>
                  <a:srgbClr val="2C5F2D"/>
                </a:solidFill>
                <a:latin typeface="Calibri" pitchFamily="34" charset="0"/>
                <a:ea typeface="Calibri" pitchFamily="34" charset="-122"/>
                <a:cs typeface="Calibri" pitchFamily="34" charset="-120"/>
              </a:rPr>
              <a:t>Contracción real en los tres universos. </a:t>
            </a:r>
            <a:r>
              <a:rPr lang="en-US" sz="1400" b="1" dirty="0">
                <a:solidFill>
                  <a:srgbClr val="2B2B24"/>
                </a:solidFill>
                <a:latin typeface="Calibri" pitchFamily="34" charset="0"/>
                <a:ea typeface="Calibri" pitchFamily="34" charset="-122"/>
                <a:cs typeface="Calibri" pitchFamily="34" charset="-120"/>
              </a:rPr>
              <a:t>La cobranza de prestadores cae 19% en pesos constantes entre el primer y el último ciclo, y 24% en el universo depurado; entre concesionarios y permisionarios con DDJJ, 22%.</a:t>
            </a:r>
            <a:endParaRPr lang="en-US" sz="1400" b="1" dirty="0"/>
          </a:p>
        </p:txBody>
      </p:sp>
      <p:sp>
        <p:nvSpPr>
          <p:cNvPr id="8" name="Text 6"/>
          <p:cNvSpPr txBox="1"/>
          <p:nvPr/>
        </p:nvSpPr>
        <p:spPr>
          <a:xfrm>
            <a:off x="6299200" y="1716967"/>
            <a:ext cx="431800" cy="304800"/>
          </a:xfrm>
          <a:prstGeom prst="rect">
            <a:avLst/>
          </a:prstGeom>
          <a:noFill/>
          <a:ln/>
        </p:spPr>
        <p:txBody>
          <a:bodyPr wrap="square" lIns="0" tIns="0" rIns="0" bIns="0" rtlCol="0" anchor="ctr"/>
          <a:lstStyle/>
          <a:p>
            <a:pPr marL="0" indent="0" algn="l">
              <a:buNone/>
            </a:pPr>
            <a:r>
              <a:rPr lang="en-US" sz="2400" b="1" dirty="0">
                <a:solidFill>
                  <a:srgbClr val="6A9A4A"/>
                </a:solidFill>
                <a:latin typeface="Calibri" pitchFamily="34" charset="0"/>
                <a:ea typeface="Calibri" pitchFamily="34" charset="-122"/>
                <a:cs typeface="Calibri" pitchFamily="34" charset="-120"/>
              </a:rPr>
              <a:t>02</a:t>
            </a:r>
            <a:endParaRPr lang="en-US" sz="2400" b="1" dirty="0"/>
          </a:p>
        </p:txBody>
      </p:sp>
      <p:sp>
        <p:nvSpPr>
          <p:cNvPr id="9" name="Text 7"/>
          <p:cNvSpPr txBox="1"/>
          <p:nvPr/>
        </p:nvSpPr>
        <p:spPr>
          <a:xfrm>
            <a:off x="6756400" y="1691567"/>
            <a:ext cx="4876800" cy="1168400"/>
          </a:xfrm>
          <a:prstGeom prst="rect">
            <a:avLst/>
          </a:prstGeom>
          <a:noFill/>
          <a:ln/>
        </p:spPr>
        <p:txBody>
          <a:bodyPr wrap="square" lIns="0" tIns="0" rIns="0" bIns="0" rtlCol="0" anchor="t"/>
          <a:lstStyle/>
          <a:p>
            <a:pPr marL="0" indent="0" algn="l">
              <a:lnSpc>
                <a:spcPct val="125000"/>
              </a:lnSpc>
              <a:buNone/>
            </a:pPr>
            <a:r>
              <a:rPr lang="en-US" sz="1400" b="1" dirty="0">
                <a:solidFill>
                  <a:srgbClr val="2C5F2D"/>
                </a:solidFill>
                <a:latin typeface="Calibri" pitchFamily="34" charset="0"/>
                <a:ea typeface="Calibri" pitchFamily="34" charset="-122"/>
                <a:cs typeface="Calibri" pitchFamily="34" charset="-120"/>
              </a:rPr>
              <a:t>Ilusión de los ingresos corrientes. </a:t>
            </a:r>
            <a:r>
              <a:rPr lang="en-US" sz="1400" b="1" dirty="0">
                <a:solidFill>
                  <a:srgbClr val="2B2B24"/>
                </a:solidFill>
                <a:latin typeface="Calibri" pitchFamily="34" charset="0"/>
                <a:ea typeface="Calibri" pitchFamily="34" charset="-122"/>
                <a:cs typeface="Calibri" pitchFamily="34" charset="-120"/>
              </a:rPr>
              <a:t>El valor nominal sube por inflación y oculta la pérdida de valor real, que debe ser tomada como factor de comparación.</a:t>
            </a:r>
            <a:endParaRPr lang="en-US" sz="1400" b="1" dirty="0"/>
          </a:p>
        </p:txBody>
      </p:sp>
      <p:sp>
        <p:nvSpPr>
          <p:cNvPr id="10" name="Text 8"/>
          <p:cNvSpPr txBox="1"/>
          <p:nvPr/>
        </p:nvSpPr>
        <p:spPr>
          <a:xfrm>
            <a:off x="609600" y="3037767"/>
            <a:ext cx="431800" cy="304800"/>
          </a:xfrm>
          <a:prstGeom prst="rect">
            <a:avLst/>
          </a:prstGeom>
          <a:noFill/>
          <a:ln/>
        </p:spPr>
        <p:txBody>
          <a:bodyPr wrap="square" lIns="0" tIns="0" rIns="0" bIns="0" rtlCol="0" anchor="ctr"/>
          <a:lstStyle/>
          <a:p>
            <a:pPr marL="0" indent="0" algn="l">
              <a:buNone/>
            </a:pPr>
            <a:r>
              <a:rPr lang="en-US" sz="2400" b="1" dirty="0">
                <a:solidFill>
                  <a:srgbClr val="6A9A4A"/>
                </a:solidFill>
                <a:latin typeface="Calibri" pitchFamily="34" charset="0"/>
                <a:ea typeface="Calibri" pitchFamily="34" charset="-122"/>
                <a:cs typeface="Calibri" pitchFamily="34" charset="-120"/>
              </a:rPr>
              <a:t>03</a:t>
            </a:r>
            <a:endParaRPr lang="en-US" sz="2400" b="1" dirty="0"/>
          </a:p>
        </p:txBody>
      </p:sp>
      <p:sp>
        <p:nvSpPr>
          <p:cNvPr id="11" name="Text 9"/>
          <p:cNvSpPr txBox="1"/>
          <p:nvPr/>
        </p:nvSpPr>
        <p:spPr>
          <a:xfrm>
            <a:off x="1066800" y="3012367"/>
            <a:ext cx="4876800" cy="1168400"/>
          </a:xfrm>
          <a:prstGeom prst="rect">
            <a:avLst/>
          </a:prstGeom>
          <a:noFill/>
          <a:ln/>
        </p:spPr>
        <p:txBody>
          <a:bodyPr wrap="square" lIns="0" tIns="0" rIns="0" bIns="0" rtlCol="0" anchor="t"/>
          <a:lstStyle/>
          <a:p>
            <a:pPr marL="0" indent="0" algn="l">
              <a:lnSpc>
                <a:spcPct val="125000"/>
              </a:lnSpc>
              <a:buNone/>
            </a:pPr>
            <a:r>
              <a:rPr lang="en-US" sz="1400" b="1" dirty="0">
                <a:solidFill>
                  <a:srgbClr val="2C5F2D"/>
                </a:solidFill>
                <a:latin typeface="Calibri" pitchFamily="34" charset="0"/>
                <a:ea typeface="Calibri" pitchFamily="34" charset="-122"/>
                <a:cs typeface="Calibri" pitchFamily="34" charset="-120"/>
              </a:rPr>
              <a:t>La evolución en dólares no indica mejora. </a:t>
            </a:r>
            <a:r>
              <a:rPr lang="en-US" sz="1400" b="1" dirty="0">
                <a:solidFill>
                  <a:srgbClr val="2B2B24"/>
                </a:solidFill>
                <a:latin typeface="Calibri" pitchFamily="34" charset="0"/>
                <a:ea typeface="Calibri" pitchFamily="34" charset="-122"/>
                <a:cs typeface="Calibri" pitchFamily="34" charset="-120"/>
              </a:rPr>
              <a:t>Responde a la apreciación real del peso, en especial cuando se comparan los extremos de la serie temporal.</a:t>
            </a:r>
            <a:endParaRPr lang="en-US" sz="1400" b="1" dirty="0"/>
          </a:p>
        </p:txBody>
      </p:sp>
      <p:sp>
        <p:nvSpPr>
          <p:cNvPr id="12" name="Text 10"/>
          <p:cNvSpPr txBox="1"/>
          <p:nvPr/>
        </p:nvSpPr>
        <p:spPr>
          <a:xfrm>
            <a:off x="6299200" y="3037767"/>
            <a:ext cx="431800" cy="304800"/>
          </a:xfrm>
          <a:prstGeom prst="rect">
            <a:avLst/>
          </a:prstGeom>
          <a:noFill/>
          <a:ln/>
        </p:spPr>
        <p:txBody>
          <a:bodyPr wrap="square" lIns="0" tIns="0" rIns="0" bIns="0" rtlCol="0" anchor="ctr"/>
          <a:lstStyle/>
          <a:p>
            <a:pPr marL="0" indent="0" algn="l">
              <a:buNone/>
            </a:pPr>
            <a:r>
              <a:rPr lang="en-US" sz="2400" b="1" dirty="0">
                <a:solidFill>
                  <a:srgbClr val="6A9A4A"/>
                </a:solidFill>
                <a:latin typeface="Calibri" pitchFamily="34" charset="0"/>
                <a:ea typeface="Calibri" pitchFamily="34" charset="-122"/>
                <a:cs typeface="Calibri" pitchFamily="34" charset="-120"/>
              </a:rPr>
              <a:t>04</a:t>
            </a:r>
            <a:endParaRPr lang="en-US" sz="2400" b="1" dirty="0"/>
          </a:p>
        </p:txBody>
      </p:sp>
      <p:sp>
        <p:nvSpPr>
          <p:cNvPr id="13" name="Text 11"/>
          <p:cNvSpPr txBox="1"/>
          <p:nvPr/>
        </p:nvSpPr>
        <p:spPr>
          <a:xfrm>
            <a:off x="6756400" y="3012367"/>
            <a:ext cx="4876800" cy="1168400"/>
          </a:xfrm>
          <a:prstGeom prst="rect">
            <a:avLst/>
          </a:prstGeom>
          <a:noFill/>
          <a:ln/>
        </p:spPr>
        <p:txBody>
          <a:bodyPr wrap="square" lIns="0" tIns="0" rIns="0" bIns="0" rtlCol="0" anchor="t"/>
          <a:lstStyle/>
          <a:p>
            <a:pPr marL="0" indent="0" algn="l">
              <a:lnSpc>
                <a:spcPct val="125000"/>
              </a:lnSpc>
              <a:buNone/>
            </a:pPr>
            <a:r>
              <a:rPr lang="en-US" sz="1400" b="1" dirty="0">
                <a:solidFill>
                  <a:srgbClr val="2C5F2D"/>
                </a:solidFill>
                <a:latin typeface="Calibri" pitchFamily="34" charset="0"/>
                <a:ea typeface="Calibri" pitchFamily="34" charset="-122"/>
                <a:cs typeface="Calibri" pitchFamily="34" charset="-120"/>
              </a:rPr>
              <a:t>Alta exposición a jugadores concentrados. </a:t>
            </a:r>
            <a:r>
              <a:rPr lang="en-US" sz="1400" b="1" dirty="0">
                <a:solidFill>
                  <a:srgbClr val="2B2B24"/>
                </a:solidFill>
                <a:latin typeface="Calibri" pitchFamily="34" charset="0"/>
                <a:ea typeface="Calibri" pitchFamily="34" charset="-122"/>
                <a:cs typeface="Calibri" pitchFamily="34" charset="-120"/>
              </a:rPr>
              <a:t>Casi 9 de cada 10 pesos provienen de </a:t>
            </a:r>
            <a:r>
              <a:rPr lang="en-US" sz="1400" b="1" dirty="0" err="1">
                <a:solidFill>
                  <a:srgbClr val="2B2B24"/>
                </a:solidFill>
                <a:latin typeface="Calibri" pitchFamily="34" charset="0"/>
                <a:ea typeface="Calibri" pitchFamily="34" charset="-122"/>
                <a:cs typeface="Calibri" pitchFamily="34" charset="-120"/>
              </a:rPr>
              <a:t>los</a:t>
            </a:r>
            <a:r>
              <a:rPr lang="en-US" sz="1400" b="1" dirty="0">
                <a:solidFill>
                  <a:srgbClr val="2B2B24"/>
                </a:solidFill>
                <a:latin typeface="Calibri" pitchFamily="34" charset="0"/>
                <a:ea typeface="Calibri" pitchFamily="34" charset="-122"/>
                <a:cs typeface="Calibri" pitchFamily="34" charset="-120"/>
              </a:rPr>
              <a:t> diez principales prestadores; la </a:t>
            </a:r>
            <a:r>
              <a:rPr lang="en-US" sz="1400" b="1" dirty="0" err="1">
                <a:solidFill>
                  <a:srgbClr val="2B2B24"/>
                </a:solidFill>
                <a:latin typeface="Calibri" pitchFamily="34" charset="0"/>
                <a:ea typeface="Calibri" pitchFamily="34" charset="-122"/>
                <a:cs typeface="Calibri" pitchFamily="34" charset="-120"/>
              </a:rPr>
              <a:t>misma</a:t>
            </a:r>
            <a:r>
              <a:rPr lang="en-US" sz="1400" b="1" dirty="0">
                <a:solidFill>
                  <a:srgbClr val="2B2B24"/>
                </a:solidFill>
                <a:latin typeface="Calibri" pitchFamily="34" charset="0"/>
                <a:ea typeface="Calibri" pitchFamily="34" charset="-122"/>
                <a:cs typeface="Calibri" pitchFamily="34" charset="-120"/>
              </a:rPr>
              <a:t> </a:t>
            </a:r>
            <a:r>
              <a:rPr lang="en-US" sz="1400" b="1" dirty="0" err="1">
                <a:solidFill>
                  <a:srgbClr val="2B2B24"/>
                </a:solidFill>
                <a:latin typeface="Calibri" pitchFamily="34" charset="0"/>
                <a:ea typeface="Calibri" pitchFamily="34" charset="-122"/>
                <a:cs typeface="Calibri" pitchFamily="34" charset="-120"/>
              </a:rPr>
              <a:t>concentración</a:t>
            </a:r>
            <a:r>
              <a:rPr lang="en-US" sz="1400" b="1" dirty="0">
                <a:solidFill>
                  <a:srgbClr val="2B2B24"/>
                </a:solidFill>
                <a:latin typeface="Calibri" pitchFamily="34" charset="0"/>
                <a:ea typeface="Calibri" pitchFamily="34" charset="-122"/>
                <a:cs typeface="Calibri" pitchFamily="34" charset="-120"/>
              </a:rPr>
              <a:t> </a:t>
            </a:r>
            <a:r>
              <a:rPr lang="en-US" sz="1400" b="1" dirty="0" err="1">
                <a:solidFill>
                  <a:srgbClr val="2B2B24"/>
                </a:solidFill>
                <a:latin typeface="Calibri" pitchFamily="34" charset="0"/>
                <a:ea typeface="Calibri" pitchFamily="34" charset="-122"/>
                <a:cs typeface="Calibri" pitchFamily="34" charset="-120"/>
              </a:rPr>
              <a:t>existe</a:t>
            </a:r>
            <a:r>
              <a:rPr lang="en-US" sz="1400" b="1" dirty="0">
                <a:solidFill>
                  <a:srgbClr val="2B2B24"/>
                </a:solidFill>
                <a:latin typeface="Calibri" pitchFamily="34" charset="0"/>
                <a:ea typeface="Calibri" pitchFamily="34" charset="-122"/>
                <a:cs typeface="Calibri" pitchFamily="34" charset="-120"/>
              </a:rPr>
              <a:t> entre los tres parques de mayores ingresos.</a:t>
            </a:r>
            <a:endParaRPr lang="en-US" sz="1400" b="1" dirty="0"/>
          </a:p>
        </p:txBody>
      </p:sp>
      <p:sp>
        <p:nvSpPr>
          <p:cNvPr id="14" name="Text 12"/>
          <p:cNvSpPr txBox="1"/>
          <p:nvPr/>
        </p:nvSpPr>
        <p:spPr>
          <a:xfrm>
            <a:off x="609600" y="4358567"/>
            <a:ext cx="431800" cy="304800"/>
          </a:xfrm>
          <a:prstGeom prst="rect">
            <a:avLst/>
          </a:prstGeom>
          <a:noFill/>
          <a:ln/>
        </p:spPr>
        <p:txBody>
          <a:bodyPr wrap="square" lIns="0" tIns="0" rIns="0" bIns="0" rtlCol="0" anchor="ctr"/>
          <a:lstStyle/>
          <a:p>
            <a:pPr marL="0" indent="0" algn="l">
              <a:buNone/>
            </a:pPr>
            <a:r>
              <a:rPr lang="en-US" sz="2400" b="1" dirty="0">
                <a:solidFill>
                  <a:srgbClr val="6A9A4A"/>
                </a:solidFill>
                <a:latin typeface="Calibri" pitchFamily="34" charset="0"/>
                <a:ea typeface="Calibri" pitchFamily="34" charset="-122"/>
                <a:cs typeface="Calibri" pitchFamily="34" charset="-120"/>
              </a:rPr>
              <a:t>05</a:t>
            </a:r>
            <a:endParaRPr lang="en-US" sz="2400" b="1" dirty="0"/>
          </a:p>
        </p:txBody>
      </p:sp>
      <p:sp>
        <p:nvSpPr>
          <p:cNvPr id="15" name="Text 13"/>
          <p:cNvSpPr txBox="1"/>
          <p:nvPr/>
        </p:nvSpPr>
        <p:spPr>
          <a:xfrm>
            <a:off x="1066800" y="4333167"/>
            <a:ext cx="4876800" cy="1168400"/>
          </a:xfrm>
          <a:prstGeom prst="rect">
            <a:avLst/>
          </a:prstGeom>
          <a:noFill/>
          <a:ln/>
        </p:spPr>
        <p:txBody>
          <a:bodyPr wrap="square" lIns="0" tIns="0" rIns="0" bIns="0" rtlCol="0" anchor="t"/>
          <a:lstStyle/>
          <a:p>
            <a:pPr marL="0" indent="0" algn="l">
              <a:lnSpc>
                <a:spcPct val="125000"/>
              </a:lnSpc>
              <a:buNone/>
            </a:pPr>
            <a:r>
              <a:rPr lang="en-US" sz="1400" b="1" dirty="0">
                <a:solidFill>
                  <a:srgbClr val="2C5F2D"/>
                </a:solidFill>
                <a:latin typeface="Calibri" pitchFamily="34" charset="0"/>
                <a:ea typeface="Calibri" pitchFamily="34" charset="-122"/>
                <a:cs typeface="Calibri" pitchFamily="34" charset="-120"/>
              </a:rPr>
              <a:t>Correlación negativa entre ingresos y deuda. </a:t>
            </a:r>
            <a:r>
              <a:rPr lang="en-US" sz="1400" b="1" dirty="0">
                <a:solidFill>
                  <a:srgbClr val="2B2B24"/>
                </a:solidFill>
                <a:latin typeface="Calibri" pitchFamily="34" charset="0"/>
                <a:ea typeface="Calibri" pitchFamily="34" charset="-122"/>
                <a:cs typeface="Calibri" pitchFamily="34" charset="-120"/>
              </a:rPr>
              <a:t>La deuda de prestadores activos equivale a 1,8% de la cobranza anual, pero se concentra en Nahuel Huapi, que reúne 54,9% de ese pasivo.</a:t>
            </a:r>
            <a:endParaRPr lang="en-US" sz="1400" b="1" dirty="0"/>
          </a:p>
        </p:txBody>
      </p:sp>
      <p:sp>
        <p:nvSpPr>
          <p:cNvPr id="16" name="Text 14"/>
          <p:cNvSpPr txBox="1"/>
          <p:nvPr/>
        </p:nvSpPr>
        <p:spPr>
          <a:xfrm>
            <a:off x="6299200" y="4358567"/>
            <a:ext cx="431800" cy="304800"/>
          </a:xfrm>
          <a:prstGeom prst="rect">
            <a:avLst/>
          </a:prstGeom>
          <a:noFill/>
          <a:ln/>
        </p:spPr>
        <p:txBody>
          <a:bodyPr wrap="square" lIns="0" tIns="0" rIns="0" bIns="0" rtlCol="0" anchor="ctr"/>
          <a:lstStyle/>
          <a:p>
            <a:pPr marL="0" indent="0" algn="l">
              <a:buNone/>
            </a:pPr>
            <a:r>
              <a:rPr lang="en-US" sz="2400" b="1" dirty="0">
                <a:solidFill>
                  <a:srgbClr val="6A9A4A"/>
                </a:solidFill>
                <a:latin typeface="Calibri" pitchFamily="34" charset="0"/>
                <a:ea typeface="Calibri" pitchFamily="34" charset="-122"/>
                <a:cs typeface="Calibri" pitchFamily="34" charset="-120"/>
              </a:rPr>
              <a:t>06</a:t>
            </a:r>
            <a:endParaRPr lang="en-US" sz="2400" b="1" dirty="0"/>
          </a:p>
        </p:txBody>
      </p:sp>
      <p:sp>
        <p:nvSpPr>
          <p:cNvPr id="17" name="Text 15"/>
          <p:cNvSpPr txBox="1"/>
          <p:nvPr/>
        </p:nvSpPr>
        <p:spPr>
          <a:xfrm>
            <a:off x="6756400" y="4333167"/>
            <a:ext cx="4876800" cy="1168400"/>
          </a:xfrm>
          <a:prstGeom prst="rect">
            <a:avLst/>
          </a:prstGeom>
          <a:noFill/>
          <a:ln/>
        </p:spPr>
        <p:txBody>
          <a:bodyPr wrap="square" lIns="0" tIns="0" rIns="0" bIns="0" rtlCol="0" anchor="t"/>
          <a:lstStyle/>
          <a:p>
            <a:pPr marL="0" indent="0" algn="l">
              <a:lnSpc>
                <a:spcPct val="125000"/>
              </a:lnSpc>
              <a:buNone/>
            </a:pPr>
            <a:r>
              <a:rPr lang="en-US" sz="1400" b="1" dirty="0">
                <a:solidFill>
                  <a:srgbClr val="2C5F2D"/>
                </a:solidFill>
                <a:latin typeface="Calibri" pitchFamily="34" charset="0"/>
                <a:ea typeface="Calibri" pitchFamily="34" charset="-122"/>
                <a:cs typeface="Calibri" pitchFamily="34" charset="-120"/>
              </a:rPr>
              <a:t>Foco de atención. </a:t>
            </a:r>
            <a:r>
              <a:rPr lang="en-US" sz="1400" b="1" dirty="0">
                <a:solidFill>
                  <a:srgbClr val="2B2B24"/>
                </a:solidFill>
                <a:latin typeface="Calibri" pitchFamily="34" charset="0"/>
                <a:ea typeface="Calibri" pitchFamily="34" charset="-122"/>
                <a:cs typeface="Calibri" pitchFamily="34" charset="-120"/>
              </a:rPr>
              <a:t>Tranex Turismo se destaca negativamente entre los principales operadores —cae 39% en el último ciclo— e impacta sobre la performance del PN Tierra del Fuego.</a:t>
            </a:r>
            <a:endParaRPr lang="en-US" sz="14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2381</Words>
  <Application>Microsoft Office PowerPoint</Application>
  <PresentationFormat>Panorámica</PresentationFormat>
  <Paragraphs>597</Paragraphs>
  <Slides>14</Slides>
  <Notes>14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14</vt:i4>
      </vt:variant>
    </vt:vector>
  </HeadingPairs>
  <TitlesOfParts>
    <vt:vector size="1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 de cobranzas — agosto 2023 a septiembre 2026</dc:title>
  <dc:subject>PptxGenJS Presentation</dc:subject>
  <dc:creator>Fernando Fascie</dc:creator>
  <cp:lastModifiedBy>Fernando Fascie</cp:lastModifiedBy>
  <cp:revision>8</cp:revision>
  <dcterms:created xsi:type="dcterms:W3CDTF">2026-09-10T18:07:47Z</dcterms:created>
  <dcterms:modified xsi:type="dcterms:W3CDTF">2026-09-10T19:05:41Z</dcterms:modified>
</cp:coreProperties>
</file>